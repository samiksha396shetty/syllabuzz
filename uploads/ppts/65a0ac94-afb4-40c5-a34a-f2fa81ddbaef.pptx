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Chapter</a:t>
            </a:r>
            <a:r>
              <a:rPr lang="en-IN" spc="-50"/>
              <a:t> </a:t>
            </a:r>
            <a:r>
              <a:rPr lang="en-IN"/>
              <a:t>24 Quality</a:t>
            </a:r>
            <a:r>
              <a:rPr lang="en-IN" spc="-20"/>
              <a:t> </a:t>
            </a:r>
            <a:r>
              <a:rPr lang="en-IN" spc="-10"/>
              <a:t>management</a:t>
            </a:r>
            <a:endParaRPr lang="en-IN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063151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Chapter</a:t>
            </a:r>
            <a:r>
              <a:rPr lang="en-IN" spc="-50"/>
              <a:t> </a:t>
            </a:r>
            <a:r>
              <a:rPr lang="en-IN"/>
              <a:t>24 Quality</a:t>
            </a:r>
            <a:r>
              <a:rPr lang="en-IN" spc="-20"/>
              <a:t> </a:t>
            </a:r>
            <a:r>
              <a:rPr lang="en-IN" spc="-10"/>
              <a:t>management</a:t>
            </a:r>
            <a:endParaRPr lang="en-IN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586538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Chapter</a:t>
            </a:r>
            <a:r>
              <a:rPr lang="en-IN" spc="-50"/>
              <a:t> </a:t>
            </a:r>
            <a:r>
              <a:rPr lang="en-IN"/>
              <a:t>24 Quality</a:t>
            </a:r>
            <a:r>
              <a:rPr lang="en-IN" spc="-20"/>
              <a:t> </a:t>
            </a:r>
            <a:r>
              <a:rPr lang="en-IN" spc="-10"/>
              <a:t>management</a:t>
            </a:r>
            <a:endParaRPr lang="en-IN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170850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Chapter</a:t>
            </a:r>
            <a:r>
              <a:rPr lang="en-IN" spc="-50"/>
              <a:t> </a:t>
            </a:r>
            <a:r>
              <a:rPr lang="en-IN"/>
              <a:t>24 Quality</a:t>
            </a:r>
            <a:r>
              <a:rPr lang="en-IN" spc="-20"/>
              <a:t> </a:t>
            </a:r>
            <a:r>
              <a:rPr lang="en-IN" spc="-10"/>
              <a:t>management</a:t>
            </a:r>
            <a:endParaRPr lang="en-IN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784127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Chapter</a:t>
            </a:r>
            <a:r>
              <a:rPr lang="en-IN" spc="-50"/>
              <a:t> </a:t>
            </a:r>
            <a:r>
              <a:rPr lang="en-IN"/>
              <a:t>24 Quality</a:t>
            </a:r>
            <a:r>
              <a:rPr lang="en-IN" spc="-20"/>
              <a:t> </a:t>
            </a:r>
            <a:r>
              <a:rPr lang="en-IN" spc="-10"/>
              <a:t>management</a:t>
            </a:r>
            <a:endParaRPr lang="en-IN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4073593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Chapter</a:t>
            </a:r>
            <a:r>
              <a:rPr lang="en-IN" spc="-50"/>
              <a:t> </a:t>
            </a:r>
            <a:r>
              <a:rPr lang="en-IN"/>
              <a:t>24 Quality</a:t>
            </a:r>
            <a:r>
              <a:rPr lang="en-IN" spc="-20"/>
              <a:t> </a:t>
            </a:r>
            <a:r>
              <a:rPr lang="en-IN" spc="-10"/>
              <a:t>management</a:t>
            </a:r>
            <a:endParaRPr lang="en-IN" spc="-1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699551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Chapter</a:t>
            </a:r>
            <a:r>
              <a:rPr lang="en-IN" spc="-50"/>
              <a:t> </a:t>
            </a:r>
            <a:r>
              <a:rPr lang="en-IN"/>
              <a:t>24 Quality</a:t>
            </a:r>
            <a:r>
              <a:rPr lang="en-IN" spc="-20"/>
              <a:t> </a:t>
            </a:r>
            <a:r>
              <a:rPr lang="en-IN" spc="-10"/>
              <a:t>management</a:t>
            </a:r>
            <a:endParaRPr lang="en-IN" spc="-1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534487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Chapter</a:t>
            </a:r>
            <a:r>
              <a:rPr lang="en-IN" spc="-50"/>
              <a:t> </a:t>
            </a:r>
            <a:r>
              <a:rPr lang="en-IN"/>
              <a:t>24 Quality</a:t>
            </a:r>
            <a:r>
              <a:rPr lang="en-IN" spc="-20"/>
              <a:t> </a:t>
            </a:r>
            <a:r>
              <a:rPr lang="en-IN" spc="-10"/>
              <a:t>management</a:t>
            </a:r>
            <a:endParaRPr lang="en-IN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706673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Chapter</a:t>
            </a:r>
            <a:r>
              <a:rPr lang="en-IN" spc="-50"/>
              <a:t> </a:t>
            </a:r>
            <a:r>
              <a:rPr lang="en-IN"/>
              <a:t>24 Quality</a:t>
            </a:r>
            <a:r>
              <a:rPr lang="en-IN" spc="-20"/>
              <a:t> </a:t>
            </a:r>
            <a:r>
              <a:rPr lang="en-IN" spc="-10"/>
              <a:t>management</a:t>
            </a:r>
            <a:endParaRPr lang="en-IN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269584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Chapter</a:t>
            </a:r>
            <a:r>
              <a:rPr lang="en-IN" spc="-50"/>
              <a:t> </a:t>
            </a:r>
            <a:r>
              <a:rPr lang="en-IN"/>
              <a:t>24 Quality</a:t>
            </a:r>
            <a:r>
              <a:rPr lang="en-IN" spc="-20"/>
              <a:t> </a:t>
            </a:r>
            <a:r>
              <a:rPr lang="en-IN" spc="-10"/>
              <a:t>management</a:t>
            </a:r>
            <a:endParaRPr lang="en-IN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226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Chapter</a:t>
            </a:r>
            <a:r>
              <a:rPr lang="en-IN" spc="-50"/>
              <a:t> </a:t>
            </a:r>
            <a:r>
              <a:rPr lang="en-IN"/>
              <a:t>24 Quality</a:t>
            </a:r>
            <a:r>
              <a:rPr lang="en-IN" spc="-20"/>
              <a:t> </a:t>
            </a:r>
            <a:r>
              <a:rPr lang="en-IN" spc="-10"/>
              <a:t>management</a:t>
            </a:r>
            <a:endParaRPr lang="en-IN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197817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/>
              <a:t>Chapter</a:t>
            </a:r>
            <a:r>
              <a:rPr lang="en-IN" spc="-50"/>
              <a:t> </a:t>
            </a:r>
            <a:r>
              <a:rPr lang="en-IN"/>
              <a:t>24 Quality</a:t>
            </a:r>
            <a:r>
              <a:rPr lang="en-IN" spc="-20"/>
              <a:t> </a:t>
            </a:r>
            <a:r>
              <a:rPr lang="en-IN" spc="-10"/>
              <a:t>management</a:t>
            </a:r>
            <a:endParaRPr lang="en-IN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418132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571499" y="1949327"/>
            <a:ext cx="8001000" cy="20903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/>
              <a:t>Module 5</a:t>
            </a:r>
            <a:br>
              <a:rPr lang="en-US"/>
            </a:br>
            <a:r>
              <a:rPr lang="en-US"/>
              <a:t> </a:t>
            </a:r>
            <a:r>
              <a:rPr dirty="0"/>
              <a:t>Quality</a:t>
            </a:r>
            <a:r>
              <a:rPr spc="-70" dirty="0"/>
              <a:t> </a:t>
            </a:r>
            <a:r>
              <a:rPr spc="-10" dirty="0"/>
              <a:t>Management</a:t>
            </a:r>
            <a:r>
              <a:rPr lang="en-US" spc="-10" dirty="0"/>
              <a:t> and Configuration Management</a:t>
            </a: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52" y="3340734"/>
            <a:ext cx="5732895" cy="1765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643254"/>
            <a:ext cx="5181600" cy="2929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46424D"/>
                </a:solidFill>
                <a:latin typeface="Arial"/>
                <a:cs typeface="Arial"/>
              </a:rPr>
              <a:t>Topics</a:t>
            </a:r>
            <a:r>
              <a:rPr sz="2400" b="1" spc="-110" dirty="0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46424D"/>
                </a:solidFill>
                <a:latin typeface="Arial"/>
                <a:cs typeface="Arial"/>
              </a:rPr>
              <a:t>covered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</a:pP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114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Reviews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inspections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measurement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metrics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-304800"/>
            <a:ext cx="7886700" cy="1325563"/>
          </a:xfrm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-70" dirty="0"/>
              <a:t> </a:t>
            </a:r>
            <a:r>
              <a:rPr dirty="0"/>
              <a:t>quality</a:t>
            </a:r>
            <a:r>
              <a:rPr spc="-55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18485" y="1219200"/>
            <a:ext cx="8063230" cy="4591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Concerned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ensuring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sz="24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required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level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endParaRPr sz="2400" dirty="0">
              <a:latin typeface="Arial MT"/>
              <a:cs typeface="Arial MT"/>
            </a:endParaRPr>
          </a:p>
          <a:p>
            <a:pPr marL="355600" algn="just">
              <a:lnSpc>
                <a:spcPct val="100000"/>
              </a:lnSpc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achieved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product.</a:t>
            </a:r>
            <a:endParaRPr sz="2400" dirty="0">
              <a:latin typeface="Arial MT"/>
              <a:cs typeface="Arial MT"/>
            </a:endParaRPr>
          </a:p>
          <a:p>
            <a:pPr marL="354965" indent="-342265" algn="just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Three</a:t>
            </a:r>
            <a:r>
              <a:rPr sz="2400" spc="-1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principal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concerns:</a:t>
            </a:r>
            <a:endParaRPr sz="2400" dirty="0">
              <a:latin typeface="Arial MT"/>
              <a:cs typeface="Arial MT"/>
            </a:endParaRPr>
          </a:p>
          <a:p>
            <a:pPr marL="756285" marR="315595" lvl="1" indent="-287020" algn="just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At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organizational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level,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management</a:t>
            </a:r>
            <a:r>
              <a:rPr sz="20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concerned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establishing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framework</a:t>
            </a:r>
            <a:r>
              <a:rPr sz="20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organizational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processes</a:t>
            </a:r>
            <a:r>
              <a:rPr sz="20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and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will lead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high-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software.</a:t>
            </a:r>
            <a:endParaRPr sz="2000" dirty="0">
              <a:latin typeface="Arial MT"/>
              <a:cs typeface="Arial MT"/>
            </a:endParaRPr>
          </a:p>
          <a:p>
            <a:pPr marL="756285" marR="86995" lvl="1" indent="-287020" algn="just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At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level,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management</a:t>
            </a:r>
            <a:r>
              <a:rPr sz="20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involves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application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specific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processes</a:t>
            </a:r>
            <a:r>
              <a:rPr sz="20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checking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planned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processes</a:t>
            </a:r>
            <a:r>
              <a:rPr sz="20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sz="20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been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followed.</a:t>
            </a:r>
            <a:endParaRPr sz="2000" dirty="0">
              <a:latin typeface="Arial MT"/>
              <a:cs typeface="Arial MT"/>
            </a:endParaRPr>
          </a:p>
          <a:p>
            <a:pPr marL="756285" marR="217804" lvl="1" indent="-287020" algn="just">
              <a:lnSpc>
                <a:spcPct val="100000"/>
              </a:lnSpc>
              <a:spcBef>
                <a:spcPts val="605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At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level,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0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management</a:t>
            </a:r>
            <a:r>
              <a:rPr sz="20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also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concerned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with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establishing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0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plan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project.</a:t>
            </a:r>
            <a:r>
              <a:rPr sz="20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plan</a:t>
            </a:r>
            <a:r>
              <a:rPr sz="20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should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set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out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goals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define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what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processes</a:t>
            </a:r>
            <a:r>
              <a:rPr sz="20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used.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3400" y="-228600"/>
            <a:ext cx="7886700" cy="1325563"/>
          </a:xfrm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Quality</a:t>
            </a:r>
            <a:r>
              <a:rPr spc="-100" dirty="0"/>
              <a:t> </a:t>
            </a:r>
            <a:r>
              <a:rPr dirty="0"/>
              <a:t>management</a:t>
            </a:r>
            <a:r>
              <a:rPr spc="-70" dirty="0"/>
              <a:t> </a:t>
            </a:r>
            <a:r>
              <a:rPr spc="-10" dirty="0"/>
              <a:t>activities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562897" y="1371600"/>
            <a:ext cx="7886700" cy="33316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/>
              <a:t>Quality</a:t>
            </a:r>
            <a:r>
              <a:rPr spc="-85" dirty="0"/>
              <a:t> </a:t>
            </a:r>
            <a:r>
              <a:rPr spc="-10" dirty="0"/>
              <a:t>management</a:t>
            </a:r>
            <a:r>
              <a:rPr spc="-70" dirty="0"/>
              <a:t> </a:t>
            </a:r>
            <a:r>
              <a:rPr dirty="0"/>
              <a:t>provides</a:t>
            </a:r>
            <a:r>
              <a:rPr spc="-60" dirty="0"/>
              <a:t> </a:t>
            </a:r>
            <a:r>
              <a:rPr dirty="0"/>
              <a:t>an</a:t>
            </a:r>
            <a:r>
              <a:rPr spc="-95" dirty="0"/>
              <a:t> </a:t>
            </a:r>
            <a:r>
              <a:rPr dirty="0"/>
              <a:t>independent</a:t>
            </a:r>
            <a:r>
              <a:rPr spc="-50" dirty="0"/>
              <a:t> </a:t>
            </a:r>
            <a:r>
              <a:rPr dirty="0"/>
              <a:t>check</a:t>
            </a:r>
            <a:r>
              <a:rPr spc="-85" dirty="0"/>
              <a:t> </a:t>
            </a:r>
            <a:r>
              <a:rPr spc="-25" dirty="0"/>
              <a:t>on</a:t>
            </a:r>
          </a:p>
          <a:p>
            <a:pPr marL="355600" algn="just">
              <a:lnSpc>
                <a:spcPct val="100000"/>
              </a:lnSpc>
            </a:pPr>
            <a:r>
              <a:rPr dirty="0"/>
              <a:t>the</a:t>
            </a:r>
            <a:r>
              <a:rPr spc="-125" dirty="0"/>
              <a:t> </a:t>
            </a:r>
            <a:r>
              <a:rPr dirty="0"/>
              <a:t>software</a:t>
            </a:r>
            <a:r>
              <a:rPr spc="-114" dirty="0"/>
              <a:t> </a:t>
            </a:r>
            <a:r>
              <a:rPr dirty="0"/>
              <a:t>development</a:t>
            </a:r>
            <a:r>
              <a:rPr spc="-95" dirty="0"/>
              <a:t> </a:t>
            </a:r>
            <a:r>
              <a:rPr spc="-10" dirty="0"/>
              <a:t>process.</a:t>
            </a:r>
          </a:p>
          <a:p>
            <a:pPr marL="355600" marR="499109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/>
              <a:t>The</a:t>
            </a:r>
            <a:r>
              <a:rPr spc="-90" dirty="0"/>
              <a:t> </a:t>
            </a:r>
            <a:r>
              <a:rPr dirty="0"/>
              <a:t>quality</a:t>
            </a:r>
            <a:r>
              <a:rPr spc="-65" dirty="0"/>
              <a:t> </a:t>
            </a:r>
            <a:r>
              <a:rPr dirty="0"/>
              <a:t>management</a:t>
            </a:r>
            <a:r>
              <a:rPr spc="-70" dirty="0"/>
              <a:t> </a:t>
            </a:r>
            <a:r>
              <a:rPr dirty="0"/>
              <a:t>process</a:t>
            </a:r>
            <a:r>
              <a:rPr spc="-70" dirty="0"/>
              <a:t> </a:t>
            </a:r>
            <a:r>
              <a:rPr dirty="0"/>
              <a:t>checks</a:t>
            </a:r>
            <a:r>
              <a:rPr spc="-75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spc="-10" dirty="0"/>
              <a:t>project </a:t>
            </a:r>
            <a:r>
              <a:rPr dirty="0"/>
              <a:t>deliverables</a:t>
            </a:r>
            <a:r>
              <a:rPr spc="-25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ensure</a:t>
            </a:r>
            <a:r>
              <a:rPr spc="-55" dirty="0"/>
              <a:t> </a:t>
            </a:r>
            <a:r>
              <a:rPr dirty="0"/>
              <a:t>that</a:t>
            </a:r>
            <a:r>
              <a:rPr spc="-80" dirty="0"/>
              <a:t> </a:t>
            </a:r>
            <a:r>
              <a:rPr dirty="0"/>
              <a:t>they</a:t>
            </a:r>
            <a:r>
              <a:rPr spc="-80" dirty="0"/>
              <a:t> </a:t>
            </a:r>
            <a:r>
              <a:rPr dirty="0"/>
              <a:t>are</a:t>
            </a:r>
            <a:r>
              <a:rPr spc="-60" dirty="0"/>
              <a:t> </a:t>
            </a:r>
            <a:r>
              <a:rPr dirty="0"/>
              <a:t>consistent</a:t>
            </a:r>
            <a:r>
              <a:rPr spc="-50" dirty="0"/>
              <a:t> </a:t>
            </a:r>
            <a:r>
              <a:rPr spc="-20" dirty="0"/>
              <a:t>with </a:t>
            </a:r>
            <a:r>
              <a:rPr spc="-10" dirty="0"/>
              <a:t>organizational</a:t>
            </a:r>
            <a:r>
              <a:rPr spc="-45" dirty="0"/>
              <a:t> </a:t>
            </a:r>
            <a:r>
              <a:rPr dirty="0"/>
              <a:t>standards</a:t>
            </a:r>
            <a:r>
              <a:rPr spc="-70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spc="-10" dirty="0"/>
              <a:t>goals</a:t>
            </a:r>
          </a:p>
          <a:p>
            <a:pPr marL="355600" marR="429895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/>
              <a:t>The</a:t>
            </a:r>
            <a:r>
              <a:rPr spc="-85" dirty="0"/>
              <a:t> </a:t>
            </a:r>
            <a:r>
              <a:rPr dirty="0"/>
              <a:t>quality</a:t>
            </a:r>
            <a:r>
              <a:rPr spc="-65" dirty="0"/>
              <a:t> </a:t>
            </a:r>
            <a:r>
              <a:rPr dirty="0"/>
              <a:t>team</a:t>
            </a:r>
            <a:r>
              <a:rPr spc="-75" dirty="0"/>
              <a:t> </a:t>
            </a:r>
            <a:r>
              <a:rPr dirty="0"/>
              <a:t>should</a:t>
            </a:r>
            <a:r>
              <a:rPr spc="-60" dirty="0"/>
              <a:t> </a:t>
            </a:r>
            <a:r>
              <a:rPr dirty="0"/>
              <a:t>be</a:t>
            </a:r>
            <a:r>
              <a:rPr spc="-75" dirty="0"/>
              <a:t> </a:t>
            </a:r>
            <a:r>
              <a:rPr dirty="0"/>
              <a:t>independent</a:t>
            </a:r>
            <a:r>
              <a:rPr spc="-30" dirty="0"/>
              <a:t> </a:t>
            </a:r>
            <a:r>
              <a:rPr dirty="0"/>
              <a:t>from</a:t>
            </a:r>
            <a:r>
              <a:rPr spc="-90" dirty="0"/>
              <a:t> </a:t>
            </a:r>
            <a:r>
              <a:rPr spc="-25" dirty="0"/>
              <a:t>the </a:t>
            </a:r>
            <a:r>
              <a:rPr dirty="0"/>
              <a:t>development</a:t>
            </a:r>
            <a:r>
              <a:rPr spc="-10" dirty="0"/>
              <a:t> </a:t>
            </a:r>
            <a:r>
              <a:rPr dirty="0"/>
              <a:t>team</a:t>
            </a:r>
            <a:r>
              <a:rPr spc="-45" dirty="0"/>
              <a:t> </a:t>
            </a:r>
            <a:r>
              <a:rPr dirty="0"/>
              <a:t>so</a:t>
            </a:r>
            <a:r>
              <a:rPr spc="-35" dirty="0"/>
              <a:t> </a:t>
            </a:r>
            <a:r>
              <a:rPr dirty="0"/>
              <a:t>that</a:t>
            </a:r>
            <a:r>
              <a:rPr spc="-50" dirty="0"/>
              <a:t> </a:t>
            </a:r>
            <a:r>
              <a:rPr dirty="0"/>
              <a:t>they</a:t>
            </a:r>
            <a:r>
              <a:rPr spc="-35" dirty="0"/>
              <a:t> </a:t>
            </a:r>
            <a:r>
              <a:rPr dirty="0"/>
              <a:t>can</a:t>
            </a:r>
            <a:r>
              <a:rPr spc="-40" dirty="0"/>
              <a:t> </a:t>
            </a:r>
            <a:r>
              <a:rPr dirty="0"/>
              <a:t>take</a:t>
            </a:r>
            <a:r>
              <a:rPr spc="-55" dirty="0"/>
              <a:t> </a:t>
            </a:r>
            <a:r>
              <a:rPr dirty="0"/>
              <a:t>an</a:t>
            </a:r>
            <a:r>
              <a:rPr spc="-40" dirty="0"/>
              <a:t> </a:t>
            </a:r>
            <a:r>
              <a:rPr spc="-10" dirty="0"/>
              <a:t>objective </a:t>
            </a:r>
            <a:r>
              <a:rPr dirty="0"/>
              <a:t>view</a:t>
            </a:r>
            <a:r>
              <a:rPr spc="-4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software.</a:t>
            </a:r>
            <a:r>
              <a:rPr spc="-80" dirty="0"/>
              <a:t> </a:t>
            </a:r>
            <a:r>
              <a:rPr dirty="0"/>
              <a:t>This</a:t>
            </a:r>
            <a:r>
              <a:rPr spc="-45" dirty="0"/>
              <a:t> </a:t>
            </a:r>
            <a:r>
              <a:rPr dirty="0"/>
              <a:t>allows</a:t>
            </a:r>
            <a:r>
              <a:rPr spc="-25" dirty="0"/>
              <a:t> </a:t>
            </a:r>
            <a:r>
              <a:rPr dirty="0"/>
              <a:t>them</a:t>
            </a:r>
            <a:r>
              <a:rPr spc="-4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report</a:t>
            </a:r>
            <a:r>
              <a:rPr spc="-35" dirty="0"/>
              <a:t> </a:t>
            </a:r>
            <a:r>
              <a:rPr spc="-25" dirty="0"/>
              <a:t>on </a:t>
            </a:r>
            <a:r>
              <a:rPr dirty="0"/>
              <a:t>software</a:t>
            </a:r>
            <a:r>
              <a:rPr spc="-90" dirty="0"/>
              <a:t> </a:t>
            </a:r>
            <a:r>
              <a:rPr dirty="0"/>
              <a:t>quality</a:t>
            </a:r>
            <a:r>
              <a:rPr spc="-60" dirty="0"/>
              <a:t> </a:t>
            </a:r>
            <a:r>
              <a:rPr dirty="0"/>
              <a:t>without</a:t>
            </a:r>
            <a:r>
              <a:rPr spc="-80" dirty="0"/>
              <a:t> </a:t>
            </a:r>
            <a:r>
              <a:rPr dirty="0"/>
              <a:t>being</a:t>
            </a:r>
            <a:r>
              <a:rPr spc="-70" dirty="0"/>
              <a:t> </a:t>
            </a:r>
            <a:r>
              <a:rPr dirty="0"/>
              <a:t>influenced</a:t>
            </a:r>
            <a:r>
              <a:rPr spc="-60" dirty="0"/>
              <a:t> </a:t>
            </a:r>
            <a:r>
              <a:rPr dirty="0"/>
              <a:t>by</a:t>
            </a:r>
            <a:r>
              <a:rPr spc="-85" dirty="0"/>
              <a:t> </a:t>
            </a:r>
            <a:r>
              <a:rPr spc="-10" dirty="0"/>
              <a:t>software </a:t>
            </a:r>
            <a:r>
              <a:rPr dirty="0"/>
              <a:t>development</a:t>
            </a:r>
            <a:r>
              <a:rPr spc="-155" dirty="0"/>
              <a:t> </a:t>
            </a:r>
            <a:r>
              <a:rPr spc="-10" dirty="0"/>
              <a:t>issues.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Quality</a:t>
            </a:r>
            <a:r>
              <a:rPr spc="-65" dirty="0"/>
              <a:t> </a:t>
            </a:r>
            <a:r>
              <a:rPr spc="-10" dirty="0"/>
              <a:t>management</a:t>
            </a:r>
            <a:r>
              <a:rPr spc="-2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software</a:t>
            </a:r>
            <a:r>
              <a:rPr spc="-70" dirty="0"/>
              <a:t> </a:t>
            </a:r>
            <a:r>
              <a:rPr spc="-10" dirty="0"/>
              <a:t>development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0" dirty="0"/>
              <a:t> </a:t>
            </a:r>
            <a:r>
              <a:rPr dirty="0"/>
              <a:t>24 Quality</a:t>
            </a:r>
            <a:r>
              <a:rPr spc="-2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56"/>
            <a:ext cx="9035479" cy="68571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643254"/>
            <a:ext cx="8007984" cy="423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6424D"/>
                </a:solidFill>
                <a:latin typeface="Arial"/>
                <a:cs typeface="Arial"/>
              </a:rPr>
              <a:t>Quality</a:t>
            </a:r>
            <a:r>
              <a:rPr sz="2400" b="1" spc="-50" dirty="0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46424D"/>
                </a:solidFill>
                <a:latin typeface="Arial"/>
                <a:cs typeface="Arial"/>
              </a:rPr>
              <a:t>planning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</a:pP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1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plan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sets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out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desired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product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qualities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and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how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assessed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defines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most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significant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attributes.</a:t>
            </a:r>
            <a:endParaRPr sz="2400">
              <a:latin typeface="Arial MT"/>
              <a:cs typeface="Arial MT"/>
            </a:endParaRPr>
          </a:p>
          <a:p>
            <a:pPr marL="355600" marR="4064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plan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define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assessment process.</a:t>
            </a:r>
            <a:endParaRPr sz="2400">
              <a:latin typeface="Arial MT"/>
              <a:cs typeface="Arial MT"/>
            </a:endParaRPr>
          </a:p>
          <a:p>
            <a:pPr marL="355600" marR="122555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set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out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which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organisational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should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applied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and,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where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necessary,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define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new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standards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used.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Quality</a:t>
            </a:r>
            <a:r>
              <a:rPr spc="-50" dirty="0"/>
              <a:t> </a:t>
            </a:r>
            <a:r>
              <a:rPr spc="-10" dirty="0"/>
              <a:t>plans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88979"/>
            <a:ext cx="7145020" cy="337248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8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plan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structure</a:t>
            </a:r>
            <a:endParaRPr sz="24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Product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introduction;</a:t>
            </a:r>
            <a:endParaRPr sz="20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Product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plans;</a:t>
            </a:r>
            <a:endParaRPr sz="20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descriptions;</a:t>
            </a:r>
            <a:endParaRPr sz="20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goals;</a:t>
            </a:r>
            <a:endParaRPr sz="20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Risks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risk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management.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90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plans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short,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succinct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documents</a:t>
            </a:r>
            <a:endParaRPr sz="24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If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too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long,</a:t>
            </a:r>
            <a:r>
              <a:rPr sz="20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no-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one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will</a:t>
            </a:r>
            <a:r>
              <a:rPr sz="2000" spc="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read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them.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643254"/>
            <a:ext cx="7952740" cy="37600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6424D"/>
                </a:solidFill>
                <a:latin typeface="Arial"/>
                <a:cs typeface="Arial"/>
              </a:rPr>
              <a:t>Scope</a:t>
            </a:r>
            <a:r>
              <a:rPr sz="2400" b="1" spc="-35" dirty="0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6424D"/>
                </a:solidFill>
                <a:latin typeface="Arial"/>
                <a:cs typeface="Arial"/>
              </a:rPr>
              <a:t>of</a:t>
            </a:r>
            <a:r>
              <a:rPr sz="2400" b="1" spc="-20" dirty="0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6424D"/>
                </a:solidFill>
                <a:latin typeface="Arial"/>
                <a:cs typeface="Arial"/>
              </a:rPr>
              <a:t>quality</a:t>
            </a:r>
            <a:r>
              <a:rPr sz="2400" b="1" spc="-55" dirty="0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46424D"/>
                </a:solidFill>
                <a:latin typeface="Arial"/>
                <a:cs typeface="Arial"/>
              </a:rPr>
              <a:t>management</a:t>
            </a:r>
            <a:endParaRPr sz="2400" dirty="0">
              <a:latin typeface="Arial"/>
              <a:cs typeface="Arial"/>
            </a:endParaRPr>
          </a:p>
          <a:p>
            <a:pPr algn="just">
              <a:lnSpc>
                <a:spcPct val="100000"/>
              </a:lnSpc>
              <a:spcBef>
                <a:spcPts val="2100"/>
              </a:spcBef>
            </a:pPr>
            <a:endParaRPr sz="2400" dirty="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management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particularly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important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large,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complex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systems.</a:t>
            </a:r>
            <a:r>
              <a:rPr sz="2400" spc="-1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documentation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record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progress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supports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continuity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as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1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team</a:t>
            </a:r>
            <a:r>
              <a:rPr sz="24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changes.</a:t>
            </a:r>
            <a:endParaRPr sz="2400" dirty="0">
              <a:latin typeface="Arial MT"/>
              <a:cs typeface="Arial MT"/>
            </a:endParaRPr>
          </a:p>
          <a:p>
            <a:pPr marL="355600" marR="405765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smaller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systems,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management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needs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less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documentation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focus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establishing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a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culture.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-60" dirty="0"/>
              <a:t> </a:t>
            </a:r>
            <a:r>
              <a:rPr spc="-10" dirty="0"/>
              <a:t>quality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916545" cy="452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Quality,</a:t>
            </a:r>
            <a:r>
              <a:rPr sz="24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simplistically,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means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sz="2400" spc="-10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product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meet</a:t>
            </a:r>
            <a:endParaRPr sz="2400" dirty="0">
              <a:latin typeface="Arial MT"/>
              <a:cs typeface="Arial MT"/>
            </a:endParaRPr>
          </a:p>
          <a:p>
            <a:pPr marL="355600" algn="just">
              <a:lnSpc>
                <a:spcPct val="100000"/>
              </a:lnSpc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its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specification.</a:t>
            </a:r>
            <a:endParaRPr sz="2400" dirty="0">
              <a:latin typeface="Arial MT"/>
              <a:cs typeface="Arial MT"/>
            </a:endParaRPr>
          </a:p>
          <a:p>
            <a:pPr marL="354965" indent="-342265" algn="just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problematical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systems</a:t>
            </a:r>
            <a:endParaRPr sz="2400" dirty="0">
              <a:latin typeface="Arial MT"/>
              <a:cs typeface="Arial MT"/>
            </a:endParaRPr>
          </a:p>
          <a:p>
            <a:pPr marL="756285" marR="250190" lvl="1" indent="-287020" algn="just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There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tension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between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customer</a:t>
            </a:r>
            <a:r>
              <a:rPr sz="20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requirements (efficiency,</a:t>
            </a:r>
            <a:r>
              <a:rPr sz="20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reliability,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etc.)</a:t>
            </a:r>
            <a:r>
              <a:rPr sz="20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developer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requirements (maintainability,</a:t>
            </a:r>
            <a:r>
              <a:rPr sz="20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reusability,</a:t>
            </a:r>
            <a:r>
              <a:rPr sz="20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etc.);</a:t>
            </a:r>
            <a:endParaRPr sz="2000" dirty="0">
              <a:latin typeface="Arial MT"/>
              <a:cs typeface="Arial MT"/>
            </a:endParaRPr>
          </a:p>
          <a:p>
            <a:pPr marL="756285" marR="1078230" lvl="1" indent="-287020" algn="just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Some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requirements</a:t>
            </a:r>
            <a:r>
              <a:rPr sz="20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difficult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specify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an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unambiguous</a:t>
            </a:r>
            <a:r>
              <a:rPr sz="20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way;</a:t>
            </a:r>
            <a:endParaRPr sz="2000" dirty="0">
              <a:latin typeface="Arial MT"/>
              <a:cs typeface="Arial MT"/>
            </a:endParaRPr>
          </a:p>
          <a:p>
            <a:pPr marL="756285" marR="831215" lvl="1" indent="-287020" algn="just">
              <a:lnSpc>
                <a:spcPct val="100000"/>
              </a:lnSpc>
              <a:spcBef>
                <a:spcPts val="605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specifications</a:t>
            </a:r>
            <a:r>
              <a:rPr sz="20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usually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incomplete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often inconsistent.</a:t>
            </a:r>
            <a:endParaRPr sz="2000" dirty="0">
              <a:latin typeface="Arial MT"/>
              <a:cs typeface="Arial MT"/>
            </a:endParaRPr>
          </a:p>
          <a:p>
            <a:pPr marL="354965" indent="-342265" algn="just">
              <a:lnSpc>
                <a:spcPct val="100000"/>
              </a:lnSpc>
              <a:spcBef>
                <a:spcPts val="90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focus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‘fitness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purpose’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rather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than</a:t>
            </a:r>
            <a:endParaRPr sz="2400" dirty="0">
              <a:latin typeface="Arial MT"/>
              <a:cs typeface="Arial MT"/>
            </a:endParaRPr>
          </a:p>
          <a:p>
            <a:pPr marL="355600" algn="just">
              <a:lnSpc>
                <a:spcPct val="100000"/>
              </a:lnSpc>
            </a:pP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specification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conformance.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-85" dirty="0"/>
              <a:t> </a:t>
            </a:r>
            <a:r>
              <a:rPr dirty="0"/>
              <a:t>fitness</a:t>
            </a:r>
            <a:r>
              <a:rPr spc="-60" dirty="0"/>
              <a:t> </a:t>
            </a:r>
            <a:r>
              <a:rPr dirty="0"/>
              <a:t>for</a:t>
            </a:r>
            <a:r>
              <a:rPr spc="-50" dirty="0"/>
              <a:t> </a:t>
            </a:r>
            <a:r>
              <a:rPr spc="-10" dirty="0"/>
              <a:t>purpose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0" dirty="0"/>
              <a:t> </a:t>
            </a:r>
            <a:r>
              <a:rPr dirty="0"/>
              <a:t>24 Quality</a:t>
            </a:r>
            <a:r>
              <a:rPr spc="-2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8007350" cy="4080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sz="24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programming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documentation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sz="24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been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followed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400" spc="-1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1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process?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Has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been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properly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tested?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sufficiently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dependable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put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into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use?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performance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acceptable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normal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use?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usable?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well-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structured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understandable?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-70" dirty="0"/>
              <a:t> </a:t>
            </a:r>
            <a:r>
              <a:rPr dirty="0"/>
              <a:t>quality</a:t>
            </a:r>
            <a:r>
              <a:rPr spc="-55" dirty="0"/>
              <a:t> </a:t>
            </a:r>
            <a:r>
              <a:rPr spc="-10" dirty="0"/>
              <a:t>attributes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397847"/>
              </p:ext>
            </p:extLst>
          </p:nvPr>
        </p:nvGraphicFramePr>
        <p:xfrm>
          <a:off x="381001" y="1447800"/>
          <a:ext cx="8134350" cy="4343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9505">
                <a:tc>
                  <a:txBody>
                    <a:bodyPr/>
                    <a:lstStyle/>
                    <a:p>
                      <a:pPr marL="415925">
                        <a:lnSpc>
                          <a:spcPts val="1885"/>
                        </a:lnSpc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Safety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85"/>
                        </a:lnSpc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Understandability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16559">
                        <a:lnSpc>
                          <a:spcPts val="1885"/>
                        </a:lnSpc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Portability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3930"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Security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Testability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416559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Usability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018">
                <a:tc>
                  <a:txBody>
                    <a:bodyPr/>
                    <a:lstStyle/>
                    <a:p>
                      <a:pPr marL="415925">
                        <a:lnSpc>
                          <a:spcPts val="1835"/>
                        </a:lnSpc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Reliability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35"/>
                        </a:lnSpc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Adaptability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16559">
                        <a:lnSpc>
                          <a:spcPts val="1835"/>
                        </a:lnSpc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Reusability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9045"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Resilience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Modularity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416559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Efficiency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2901">
                <a:tc>
                  <a:txBody>
                    <a:bodyPr/>
                    <a:lstStyle/>
                    <a:p>
                      <a:pPr marL="415925">
                        <a:lnSpc>
                          <a:spcPts val="1839"/>
                        </a:lnSpc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Robustness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39"/>
                        </a:lnSpc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Complexity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6559">
                        <a:lnSpc>
                          <a:spcPts val="1839"/>
                        </a:lnSpc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Learnability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643254"/>
            <a:ext cx="7940675" cy="50218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6424D"/>
                </a:solidFill>
                <a:latin typeface="Arial"/>
                <a:cs typeface="Arial"/>
              </a:rPr>
              <a:t>Quality</a:t>
            </a:r>
            <a:r>
              <a:rPr sz="2400" b="1" spc="-50" dirty="0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46424D"/>
                </a:solidFill>
                <a:latin typeface="Arial"/>
                <a:cs typeface="Arial"/>
              </a:rPr>
              <a:t>conflicts</a:t>
            </a:r>
            <a:endParaRPr sz="2400" dirty="0">
              <a:latin typeface="Arial"/>
              <a:cs typeface="Arial"/>
            </a:endParaRPr>
          </a:p>
          <a:p>
            <a:pPr algn="just">
              <a:lnSpc>
                <a:spcPct val="100000"/>
              </a:lnSpc>
              <a:spcBef>
                <a:spcPts val="2100"/>
              </a:spcBef>
            </a:pPr>
            <a:endParaRPr sz="2400" dirty="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not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possible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any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optimized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all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of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attributes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–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example,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improving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robustness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lead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loss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performance.</a:t>
            </a:r>
            <a:endParaRPr sz="2400" dirty="0">
              <a:latin typeface="Arial MT"/>
              <a:cs typeface="Arial MT"/>
            </a:endParaRPr>
          </a:p>
          <a:p>
            <a:pPr marL="355600" marR="91440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plan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therefore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define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most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important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attributes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being developed.</a:t>
            </a:r>
            <a:endParaRPr sz="2400" dirty="0">
              <a:latin typeface="Arial MT"/>
              <a:cs typeface="Arial MT"/>
            </a:endParaRPr>
          </a:p>
          <a:p>
            <a:pPr marL="355600" marR="33909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plan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also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include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definition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quality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assessment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process,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agreed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way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assessing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whether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some</a:t>
            </a:r>
            <a:r>
              <a:rPr sz="24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quality,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such</a:t>
            </a:r>
            <a:r>
              <a:rPr sz="24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sz="24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maintainability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or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robustness,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present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product.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Process</a:t>
            </a:r>
            <a:r>
              <a:rPr spc="-4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product</a:t>
            </a:r>
            <a:r>
              <a:rPr spc="-40" dirty="0"/>
              <a:t> </a:t>
            </a:r>
            <a:r>
              <a:rPr spc="-10" dirty="0"/>
              <a:t>quality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8044180" cy="460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developed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product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influenced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by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endParaRPr sz="2400" dirty="0">
              <a:latin typeface="Arial MT"/>
              <a:cs typeface="Arial MT"/>
            </a:endParaRPr>
          </a:p>
          <a:p>
            <a:pPr marL="355600" algn="just">
              <a:lnSpc>
                <a:spcPct val="100000"/>
              </a:lnSpc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production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process.</a:t>
            </a:r>
            <a:endParaRPr sz="2400" dirty="0">
              <a:latin typeface="Arial MT"/>
              <a:cs typeface="Arial MT"/>
            </a:endParaRPr>
          </a:p>
          <a:p>
            <a:pPr marL="355600" marR="816610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important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some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product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attributes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hard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assess.</a:t>
            </a:r>
            <a:endParaRPr sz="2400" dirty="0">
              <a:latin typeface="Arial MT"/>
              <a:cs typeface="Arial MT"/>
            </a:endParaRPr>
          </a:p>
          <a:p>
            <a:pPr marL="355600" marR="7112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However,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there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very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complex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poorly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understood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relationship</a:t>
            </a:r>
            <a:r>
              <a:rPr sz="2400" spc="-1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between</a:t>
            </a:r>
            <a:r>
              <a:rPr sz="2400" spc="-10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1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processes</a:t>
            </a:r>
            <a:r>
              <a:rPr sz="2400" spc="-114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1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product quality.</a:t>
            </a:r>
            <a:endParaRPr sz="2400" dirty="0">
              <a:latin typeface="Arial MT"/>
              <a:cs typeface="Arial MT"/>
            </a:endParaRPr>
          </a:p>
          <a:p>
            <a:pPr marL="756285" marR="158115" lvl="1" indent="-287020" algn="just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application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individual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skills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experience</a:t>
            </a:r>
            <a:r>
              <a:rPr sz="20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particularly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important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0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development;</a:t>
            </a:r>
            <a:endParaRPr sz="2000" dirty="0">
              <a:latin typeface="Arial MT"/>
              <a:cs typeface="Arial MT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External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factors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such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novelty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application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need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accelerated</a:t>
            </a:r>
            <a:r>
              <a:rPr sz="20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schedule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impair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product quality.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Process-</a:t>
            </a:r>
            <a:r>
              <a:rPr dirty="0"/>
              <a:t>based</a:t>
            </a:r>
            <a:r>
              <a:rPr spc="15" dirty="0"/>
              <a:t> </a:t>
            </a:r>
            <a:r>
              <a:rPr spc="-10" dirty="0"/>
              <a:t>quality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0" dirty="0"/>
              <a:t> </a:t>
            </a:r>
            <a:r>
              <a:rPr dirty="0"/>
              <a:t>24 Quality</a:t>
            </a:r>
            <a:r>
              <a:rPr spc="-2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-60" dirty="0"/>
              <a:t> </a:t>
            </a:r>
            <a:r>
              <a:rPr spc="-10" dirty="0"/>
              <a:t>standards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8009890" cy="414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41935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define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required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attributes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product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or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process.</a:t>
            </a:r>
            <a:r>
              <a:rPr sz="24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play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important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role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quality management.</a:t>
            </a:r>
            <a:endParaRPr sz="2400">
              <a:latin typeface="Arial MT"/>
              <a:cs typeface="Arial MT"/>
            </a:endParaRPr>
          </a:p>
          <a:p>
            <a:pPr marL="355600" marR="123189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international,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national,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organizational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standards.</a:t>
            </a:r>
            <a:endParaRPr sz="2400">
              <a:latin typeface="Arial MT"/>
              <a:cs typeface="Arial MT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Product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define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characteristics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sz="24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all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software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components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exhibit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e.g.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common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programming style.</a:t>
            </a:r>
            <a:endParaRPr sz="2400">
              <a:latin typeface="Arial MT"/>
              <a:cs typeface="Arial MT"/>
            </a:endParaRPr>
          </a:p>
          <a:p>
            <a:pPr marL="355600" marR="665480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define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how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process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enacted.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Importance</a:t>
            </a:r>
            <a:r>
              <a:rPr spc="-85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10" dirty="0"/>
              <a:t>standards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963534" cy="2891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Encapsulation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best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practice-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avoids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repetition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past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mistakes.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framework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defining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what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means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in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particular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setting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i.e.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organization’s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view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quality.</a:t>
            </a:r>
            <a:endParaRPr sz="2400">
              <a:latin typeface="Arial MT"/>
              <a:cs typeface="Arial MT"/>
            </a:endParaRPr>
          </a:p>
          <a:p>
            <a:pPr marL="355600" marR="284480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provide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continuity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-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new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staff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understand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organisation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by</a:t>
            </a:r>
            <a:r>
              <a:rPr sz="24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understanding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10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sz="24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sz="2400" spc="-1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are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used.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Product</a:t>
            </a:r>
            <a:r>
              <a:rPr spc="-5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process</a:t>
            </a:r>
            <a:r>
              <a:rPr spc="-40" dirty="0"/>
              <a:t> </a:t>
            </a:r>
            <a:r>
              <a:rPr spc="-10" dirty="0"/>
              <a:t>standards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0850" y="1966086"/>
          <a:ext cx="8229600" cy="2747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415925">
                        <a:lnSpc>
                          <a:spcPts val="1885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Product</a:t>
                      </a:r>
                      <a:r>
                        <a:rPr sz="16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standards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416559">
                        <a:lnSpc>
                          <a:spcPts val="1885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16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standards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415925">
                        <a:lnSpc>
                          <a:spcPts val="1885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Design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review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form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416559">
                        <a:lnSpc>
                          <a:spcPts val="1885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Design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review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conduct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415925">
                        <a:lnSpc>
                          <a:spcPts val="1885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Requirements</a:t>
                      </a:r>
                      <a:r>
                        <a:rPr sz="16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document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415925">
                        <a:lnSpc>
                          <a:spcPts val="1855"/>
                        </a:lnSpc>
                        <a:spcBef>
                          <a:spcPts val="30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structure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416559">
                        <a:lnSpc>
                          <a:spcPts val="1885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Submission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new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code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for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416559">
                        <a:lnSpc>
                          <a:spcPts val="1855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system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building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415925">
                        <a:lnSpc>
                          <a:spcPts val="1885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Method</a:t>
                      </a:r>
                      <a:r>
                        <a:rPr sz="16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header</a:t>
                      </a:r>
                      <a:r>
                        <a:rPr sz="16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416559">
                        <a:lnSpc>
                          <a:spcPts val="1885"/>
                        </a:lnSpc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Version</a:t>
                      </a:r>
                      <a:r>
                        <a:rPr sz="16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release</a:t>
                      </a:r>
                      <a:r>
                        <a:rPr sz="16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process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415925">
                        <a:lnSpc>
                          <a:spcPts val="1885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Java</a:t>
                      </a:r>
                      <a:r>
                        <a:rPr sz="16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programming</a:t>
                      </a:r>
                      <a:r>
                        <a:rPr sz="16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style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416559">
                        <a:lnSpc>
                          <a:spcPts val="1885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plan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approval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process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15925">
                        <a:lnSpc>
                          <a:spcPts val="1885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plan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416559">
                        <a:lnSpc>
                          <a:spcPts val="1885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Change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control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process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415925">
                        <a:lnSpc>
                          <a:spcPts val="1889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Change</a:t>
                      </a:r>
                      <a:r>
                        <a:rPr sz="16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request</a:t>
                      </a:r>
                      <a:r>
                        <a:rPr sz="16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form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416559">
                        <a:lnSpc>
                          <a:spcPts val="1889"/>
                        </a:lnSpc>
                      </a:pPr>
                      <a:r>
                        <a:rPr sz="1600" spc="-30" dirty="0">
                          <a:latin typeface="Arial MT"/>
                          <a:cs typeface="Arial MT"/>
                        </a:rPr>
                        <a:t>Test</a:t>
                      </a:r>
                      <a:r>
                        <a:rPr sz="16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recording</a:t>
                      </a:r>
                      <a:r>
                        <a:rPr sz="16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process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Problems</a:t>
            </a:r>
            <a:r>
              <a:rPr spc="-30" dirty="0"/>
              <a:t> </a:t>
            </a:r>
            <a:r>
              <a:rPr dirty="0"/>
              <a:t>with</a:t>
            </a:r>
            <a:r>
              <a:rPr spc="-70" dirty="0"/>
              <a:t> </a:t>
            </a:r>
            <a:r>
              <a:rPr spc="-10" dirty="0"/>
              <a:t>standards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721600" cy="2525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not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seen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relevant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up-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to-date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by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1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engineers.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often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involve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too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much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bureaucratic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form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filling.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If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unsupported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by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tools,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tedious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form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filling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work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often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involved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maintain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documentation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associated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standards.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Standards</a:t>
            </a:r>
            <a:r>
              <a:rPr spc="-80" dirty="0"/>
              <a:t> </a:t>
            </a:r>
            <a:r>
              <a:rPr spc="-10" dirty="0"/>
              <a:t>development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757795" cy="3677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Involve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practitioners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development.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Engineers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endParaRPr sz="2400" dirty="0">
              <a:latin typeface="Arial MT"/>
              <a:cs typeface="Arial MT"/>
            </a:endParaRPr>
          </a:p>
          <a:p>
            <a:pPr marL="355600" algn="just">
              <a:lnSpc>
                <a:spcPct val="100000"/>
              </a:lnSpc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understand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rationale</a:t>
            </a:r>
            <a:r>
              <a:rPr sz="2400" spc="5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underlying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standard.</a:t>
            </a:r>
            <a:endParaRPr sz="2400" dirty="0">
              <a:latin typeface="Arial MT"/>
              <a:cs typeface="Arial MT"/>
            </a:endParaRPr>
          </a:p>
          <a:p>
            <a:pPr marL="355600" marR="817244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Review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their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usage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regularly.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sz="24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quickly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become</a:t>
            </a:r>
            <a:r>
              <a:rPr sz="24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outdated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this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reduces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their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credibility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amongst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practitioners.</a:t>
            </a:r>
            <a:endParaRPr sz="2400" dirty="0">
              <a:latin typeface="Arial MT"/>
              <a:cs typeface="Arial MT"/>
            </a:endParaRPr>
          </a:p>
          <a:p>
            <a:pPr marL="355600" marR="949325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Detailed</a:t>
            </a:r>
            <a:r>
              <a:rPr sz="24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sz="2400" spc="-114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sz="2400" spc="-1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sz="2400" spc="-1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specialized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tool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support.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Excessive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clerical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work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most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significant</a:t>
            </a:r>
            <a:r>
              <a:rPr sz="2400" spc="-1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complaint</a:t>
            </a:r>
            <a:r>
              <a:rPr sz="2400" spc="-10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against</a:t>
            </a:r>
            <a:r>
              <a:rPr sz="2400" spc="-1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standards.</a:t>
            </a:r>
            <a:endParaRPr sz="2400" dirty="0">
              <a:latin typeface="Arial MT"/>
              <a:cs typeface="Arial MT"/>
            </a:endParaRPr>
          </a:p>
          <a:p>
            <a:pPr marL="756285" lvl="1" indent="-286385" algn="just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Web-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based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forms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not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good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enough.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ISO</a:t>
            </a:r>
            <a:r>
              <a:rPr spc="-95" dirty="0"/>
              <a:t> </a:t>
            </a:r>
            <a:r>
              <a:rPr dirty="0"/>
              <a:t>9001</a:t>
            </a:r>
            <a:r>
              <a:rPr spc="-70" dirty="0"/>
              <a:t> </a:t>
            </a:r>
            <a:r>
              <a:rPr dirty="0"/>
              <a:t>standards</a:t>
            </a:r>
            <a:r>
              <a:rPr spc="-75" dirty="0"/>
              <a:t> </a:t>
            </a:r>
            <a:r>
              <a:rPr spc="-10" dirty="0"/>
              <a:t>framework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8067040" cy="4225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international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set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used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endParaRPr sz="2400" dirty="0">
              <a:latin typeface="Arial MT"/>
              <a:cs typeface="Arial MT"/>
            </a:endParaRPr>
          </a:p>
          <a:p>
            <a:pPr marL="355600" algn="just">
              <a:lnSpc>
                <a:spcPct val="100000"/>
              </a:lnSpc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basis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400" spc="-10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developing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management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systems.</a:t>
            </a:r>
            <a:endParaRPr sz="2400" dirty="0">
              <a:latin typeface="Arial MT"/>
              <a:cs typeface="Arial MT"/>
            </a:endParaRPr>
          </a:p>
          <a:p>
            <a:pPr marL="355600" marR="252095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ISO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9001,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most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general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standards,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applies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organizations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design,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develop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maintain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products,</a:t>
            </a:r>
            <a:r>
              <a:rPr sz="2400" spc="-1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including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software.</a:t>
            </a:r>
            <a:endParaRPr sz="2400" dirty="0">
              <a:latin typeface="Arial MT"/>
              <a:cs typeface="Arial MT"/>
            </a:endParaRPr>
          </a:p>
          <a:p>
            <a:pPr marL="355600" marR="474345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ISO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9001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standard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framework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developing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standards.</a:t>
            </a:r>
            <a:endParaRPr sz="2400" dirty="0">
              <a:latin typeface="Arial MT"/>
              <a:cs typeface="Arial MT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826135" algn="l"/>
              </a:tabLst>
            </a:pPr>
            <a:r>
              <a:rPr sz="2000" dirty="0">
                <a:solidFill>
                  <a:srgbClr val="46424D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sets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out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general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principles,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describes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processes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general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lays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out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organizational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sz="20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and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procedures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defined.</a:t>
            </a:r>
            <a:r>
              <a:rPr sz="20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be</a:t>
            </a:r>
            <a:r>
              <a:rPr sz="2000" spc="5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documented</a:t>
            </a:r>
            <a:r>
              <a:rPr sz="20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organizational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manual.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ISO</a:t>
            </a:r>
            <a:r>
              <a:rPr spc="-65" dirty="0"/>
              <a:t> </a:t>
            </a:r>
            <a:r>
              <a:rPr dirty="0"/>
              <a:t>9001</a:t>
            </a:r>
            <a:r>
              <a:rPr spc="-35" dirty="0"/>
              <a:t> </a:t>
            </a:r>
            <a:r>
              <a:rPr dirty="0"/>
              <a:t>core</a:t>
            </a:r>
            <a:r>
              <a:rPr spc="-45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0" dirty="0"/>
              <a:t> </a:t>
            </a:r>
            <a:r>
              <a:rPr dirty="0"/>
              <a:t>24 Quality</a:t>
            </a:r>
            <a:r>
              <a:rPr spc="-2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56"/>
            <a:ext cx="9111414" cy="685714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ISO</a:t>
            </a:r>
            <a:r>
              <a:rPr spc="-40" dirty="0"/>
              <a:t> </a:t>
            </a:r>
            <a:r>
              <a:rPr dirty="0"/>
              <a:t>9001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quality</a:t>
            </a:r>
            <a:r>
              <a:rPr spc="-55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0" dirty="0"/>
              <a:t> </a:t>
            </a:r>
            <a:r>
              <a:rPr dirty="0"/>
              <a:t>24 Quality</a:t>
            </a:r>
            <a:r>
              <a:rPr spc="-2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pic>
        <p:nvPicPr>
          <p:cNvPr id="3" name="object 3" descr="24.6 IS0-9001-QM.ep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797" y="1600136"/>
            <a:ext cx="7558405" cy="452602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" y="427"/>
            <a:ext cx="9143428" cy="685757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ISO</a:t>
            </a:r>
            <a:r>
              <a:rPr spc="-55" dirty="0"/>
              <a:t> </a:t>
            </a:r>
            <a:r>
              <a:rPr dirty="0"/>
              <a:t>9001</a:t>
            </a:r>
            <a:r>
              <a:rPr spc="-25" dirty="0"/>
              <a:t> </a:t>
            </a:r>
            <a:r>
              <a:rPr spc="-10" dirty="0"/>
              <a:t>certification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186295" cy="2891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procedures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endParaRPr sz="2400" dirty="0">
              <a:latin typeface="Arial MT"/>
              <a:cs typeface="Arial MT"/>
            </a:endParaRPr>
          </a:p>
          <a:p>
            <a:pPr marL="355600" algn="just">
              <a:lnSpc>
                <a:spcPct val="100000"/>
              </a:lnSpc>
            </a:pP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documented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organisational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manual.</a:t>
            </a:r>
            <a:endParaRPr sz="2400" dirty="0">
              <a:latin typeface="Arial MT"/>
              <a:cs typeface="Arial MT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external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body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certify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organisation’s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manual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conforms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ISO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9000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standards.</a:t>
            </a:r>
            <a:endParaRPr sz="2400" dirty="0">
              <a:latin typeface="Arial MT"/>
              <a:cs typeface="Arial MT"/>
            </a:endParaRPr>
          </a:p>
          <a:p>
            <a:pPr marL="355600" marR="62865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Some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customers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require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suppliers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ISO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9000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certified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although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need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flexibility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here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is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increasingly</a:t>
            </a:r>
            <a:r>
              <a:rPr sz="2400" spc="-1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recognised.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50" dirty="0"/>
              <a:t> </a:t>
            </a:r>
            <a:r>
              <a:rPr spc="-10" dirty="0"/>
              <a:t>points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999730" cy="4506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715" indent="-342900" algn="just">
              <a:lnSpc>
                <a:spcPct val="100000"/>
              </a:lnSpc>
              <a:spcBef>
                <a:spcPts val="95"/>
              </a:spcBef>
              <a:buFont typeface="Wingdings"/>
              <a:buChar char=""/>
              <a:tabLst>
                <a:tab pos="355600" algn="l"/>
              </a:tabLst>
            </a:pP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2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2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management</a:t>
            </a:r>
            <a:r>
              <a:rPr sz="22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2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concerned</a:t>
            </a:r>
            <a:r>
              <a:rPr sz="22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sz="22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ensuring</a:t>
            </a:r>
            <a:r>
              <a:rPr sz="22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46424D"/>
                </a:solidFill>
                <a:latin typeface="Arial MT"/>
                <a:cs typeface="Arial MT"/>
              </a:rPr>
              <a:t>that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2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has</a:t>
            </a:r>
            <a:r>
              <a:rPr sz="22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2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low</a:t>
            </a:r>
            <a:r>
              <a:rPr sz="22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number</a:t>
            </a:r>
            <a:r>
              <a:rPr sz="22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2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defects</a:t>
            </a:r>
            <a:r>
              <a:rPr sz="22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2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sz="22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sz="22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reaches</a:t>
            </a:r>
            <a:r>
              <a:rPr sz="22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required</a:t>
            </a:r>
            <a:r>
              <a:rPr sz="22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sz="22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2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46424D"/>
                </a:solidFill>
                <a:latin typeface="Arial MT"/>
                <a:cs typeface="Arial MT"/>
              </a:rPr>
              <a:t>maintainability,</a:t>
            </a:r>
            <a:r>
              <a:rPr sz="22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46424D"/>
                </a:solidFill>
                <a:latin typeface="Arial MT"/>
                <a:cs typeface="Arial MT"/>
              </a:rPr>
              <a:t>reliability,</a:t>
            </a:r>
            <a:r>
              <a:rPr sz="22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portability</a:t>
            </a:r>
            <a:r>
              <a:rPr sz="22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46424D"/>
                </a:solidFill>
                <a:latin typeface="Arial MT"/>
                <a:cs typeface="Arial MT"/>
              </a:rPr>
              <a:t>and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so</a:t>
            </a:r>
            <a:r>
              <a:rPr sz="2200" spc="-25" dirty="0">
                <a:solidFill>
                  <a:srgbClr val="46424D"/>
                </a:solidFill>
                <a:latin typeface="Arial MT"/>
                <a:cs typeface="Arial MT"/>
              </a:rPr>
              <a:t> on.</a:t>
            </a:r>
            <a:endParaRPr sz="2200" dirty="0">
              <a:latin typeface="Arial MT"/>
              <a:cs typeface="Arial MT"/>
            </a:endParaRPr>
          </a:p>
          <a:p>
            <a:pPr marL="355600" marR="86995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SQM</a:t>
            </a:r>
            <a:r>
              <a:rPr sz="22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includes</a:t>
            </a:r>
            <a:r>
              <a:rPr sz="22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defining</a:t>
            </a:r>
            <a:r>
              <a:rPr sz="22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sz="22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2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processes</a:t>
            </a:r>
            <a:r>
              <a:rPr sz="22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2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6424D"/>
                </a:solidFill>
                <a:latin typeface="Arial MT"/>
                <a:cs typeface="Arial MT"/>
              </a:rPr>
              <a:t>products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2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establishing</a:t>
            </a:r>
            <a:r>
              <a:rPr sz="22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processes</a:t>
            </a:r>
            <a:r>
              <a:rPr sz="22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2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check</a:t>
            </a:r>
            <a:r>
              <a:rPr sz="22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sz="22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sz="22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6424D"/>
                </a:solidFill>
                <a:latin typeface="Arial MT"/>
                <a:cs typeface="Arial MT"/>
              </a:rPr>
              <a:t>standards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sz="22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been</a:t>
            </a:r>
            <a:r>
              <a:rPr sz="22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6424D"/>
                </a:solidFill>
                <a:latin typeface="Arial MT"/>
                <a:cs typeface="Arial MT"/>
              </a:rPr>
              <a:t>followed.</a:t>
            </a:r>
            <a:endParaRPr sz="2200" dirty="0">
              <a:latin typeface="Arial MT"/>
              <a:cs typeface="Arial MT"/>
            </a:endParaRPr>
          </a:p>
          <a:p>
            <a:pPr marL="354965" indent="-342265" algn="just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2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sz="22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2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important</a:t>
            </a:r>
            <a:r>
              <a:rPr sz="22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2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2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assurance</a:t>
            </a:r>
            <a:r>
              <a:rPr sz="22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endParaRPr sz="2200" dirty="0">
              <a:latin typeface="Arial MT"/>
              <a:cs typeface="Arial MT"/>
            </a:endParaRPr>
          </a:p>
          <a:p>
            <a:pPr marL="355600" algn="just">
              <a:lnSpc>
                <a:spcPct val="100000"/>
              </a:lnSpc>
            </a:pP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r>
              <a:rPr sz="22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represent</a:t>
            </a:r>
            <a:r>
              <a:rPr sz="22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sz="22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identification</a:t>
            </a:r>
            <a:r>
              <a:rPr sz="22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2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‘best</a:t>
            </a:r>
            <a:r>
              <a:rPr sz="22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6424D"/>
                </a:solidFill>
                <a:latin typeface="Arial MT"/>
                <a:cs typeface="Arial MT"/>
              </a:rPr>
              <a:t>practice’.</a:t>
            </a:r>
            <a:endParaRPr sz="2200" dirty="0">
              <a:latin typeface="Arial MT"/>
              <a:cs typeface="Arial MT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2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management</a:t>
            </a:r>
            <a:r>
              <a:rPr sz="22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procedures</a:t>
            </a:r>
            <a:r>
              <a:rPr sz="22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sz="22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2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documented</a:t>
            </a:r>
            <a:r>
              <a:rPr sz="22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2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46424D"/>
                </a:solidFill>
                <a:latin typeface="Arial MT"/>
                <a:cs typeface="Arial MT"/>
              </a:rPr>
              <a:t>an </a:t>
            </a:r>
            <a:r>
              <a:rPr sz="2200" spc="-10" dirty="0">
                <a:solidFill>
                  <a:srgbClr val="46424D"/>
                </a:solidFill>
                <a:latin typeface="Arial MT"/>
                <a:cs typeface="Arial MT"/>
              </a:rPr>
              <a:t>organizational</a:t>
            </a:r>
            <a:r>
              <a:rPr sz="22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2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manual,</a:t>
            </a:r>
            <a:r>
              <a:rPr sz="22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based</a:t>
            </a:r>
            <a:r>
              <a:rPr sz="22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sz="22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2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generic</a:t>
            </a:r>
            <a:r>
              <a:rPr sz="22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model</a:t>
            </a:r>
            <a:r>
              <a:rPr sz="22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46424D"/>
                </a:solidFill>
                <a:latin typeface="Arial MT"/>
                <a:cs typeface="Arial MT"/>
              </a:rPr>
              <a:t>for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2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2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manual</a:t>
            </a:r>
            <a:r>
              <a:rPr sz="22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suggested</a:t>
            </a:r>
            <a:r>
              <a:rPr sz="22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2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2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ISO</a:t>
            </a:r>
            <a:r>
              <a:rPr sz="22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9001</a:t>
            </a:r>
            <a:r>
              <a:rPr sz="22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6424D"/>
                </a:solidFill>
                <a:latin typeface="Arial MT"/>
                <a:cs typeface="Arial MT"/>
              </a:rPr>
              <a:t>standard.</a:t>
            </a:r>
            <a:endParaRPr sz="2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Reviews</a:t>
            </a:r>
            <a:r>
              <a:rPr spc="-4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inspections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/>
              <a:t>A</a:t>
            </a:r>
            <a:r>
              <a:rPr spc="-170" dirty="0"/>
              <a:t> </a:t>
            </a:r>
            <a:r>
              <a:rPr dirty="0"/>
              <a:t>group</a:t>
            </a:r>
            <a:r>
              <a:rPr spc="-55" dirty="0"/>
              <a:t> </a:t>
            </a:r>
            <a:r>
              <a:rPr dirty="0"/>
              <a:t>examines</a:t>
            </a:r>
            <a:r>
              <a:rPr spc="-20" dirty="0"/>
              <a:t> </a:t>
            </a:r>
            <a:r>
              <a:rPr dirty="0"/>
              <a:t>part</a:t>
            </a:r>
            <a:r>
              <a:rPr spc="-45" dirty="0"/>
              <a:t> </a:t>
            </a:r>
            <a:r>
              <a:rPr dirty="0"/>
              <a:t>or</a:t>
            </a:r>
            <a:r>
              <a:rPr spc="-50" dirty="0"/>
              <a:t> </a:t>
            </a:r>
            <a:r>
              <a:rPr dirty="0"/>
              <a:t>all</a:t>
            </a:r>
            <a:r>
              <a:rPr spc="-4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process</a:t>
            </a:r>
            <a:r>
              <a:rPr spc="-40" dirty="0"/>
              <a:t> </a:t>
            </a:r>
            <a:r>
              <a:rPr dirty="0"/>
              <a:t>or</a:t>
            </a:r>
            <a:r>
              <a:rPr spc="-40" dirty="0"/>
              <a:t> </a:t>
            </a:r>
            <a:r>
              <a:rPr dirty="0"/>
              <a:t>system</a:t>
            </a:r>
            <a:r>
              <a:rPr spc="-40" dirty="0"/>
              <a:t> </a:t>
            </a:r>
            <a:r>
              <a:rPr spc="-25" dirty="0"/>
              <a:t>and</a:t>
            </a:r>
          </a:p>
          <a:p>
            <a:pPr marL="355600">
              <a:lnSpc>
                <a:spcPct val="100000"/>
              </a:lnSpc>
            </a:pPr>
            <a:r>
              <a:rPr dirty="0"/>
              <a:t>its</a:t>
            </a:r>
            <a:r>
              <a:rPr spc="-70" dirty="0"/>
              <a:t> </a:t>
            </a:r>
            <a:r>
              <a:rPr spc="-10" dirty="0"/>
              <a:t>documentation</a:t>
            </a:r>
            <a:r>
              <a:rPr spc="-4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find</a:t>
            </a:r>
            <a:r>
              <a:rPr spc="-55" dirty="0"/>
              <a:t> </a:t>
            </a:r>
            <a:r>
              <a:rPr dirty="0"/>
              <a:t>potential</a:t>
            </a:r>
            <a:r>
              <a:rPr spc="-60" dirty="0"/>
              <a:t> </a:t>
            </a:r>
            <a:r>
              <a:rPr spc="-10" dirty="0"/>
              <a:t>problems.</a:t>
            </a:r>
          </a:p>
          <a:p>
            <a:pPr marL="355600" marR="121539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/>
              <a:t>Software</a:t>
            </a:r>
            <a:r>
              <a:rPr spc="-65" dirty="0"/>
              <a:t> </a:t>
            </a:r>
            <a:r>
              <a:rPr dirty="0"/>
              <a:t>or</a:t>
            </a:r>
            <a:r>
              <a:rPr spc="-65" dirty="0"/>
              <a:t> </a:t>
            </a:r>
            <a:r>
              <a:rPr dirty="0"/>
              <a:t>documents</a:t>
            </a:r>
            <a:r>
              <a:rPr spc="-55" dirty="0"/>
              <a:t> </a:t>
            </a:r>
            <a:r>
              <a:rPr dirty="0"/>
              <a:t>may</a:t>
            </a:r>
            <a:r>
              <a:rPr spc="-65" dirty="0"/>
              <a:t> </a:t>
            </a:r>
            <a:r>
              <a:rPr dirty="0"/>
              <a:t>be</a:t>
            </a:r>
            <a:r>
              <a:rPr spc="-70" dirty="0"/>
              <a:t> </a:t>
            </a:r>
            <a:r>
              <a:rPr dirty="0"/>
              <a:t>'signed</a:t>
            </a:r>
            <a:r>
              <a:rPr spc="-50" dirty="0"/>
              <a:t> </a:t>
            </a:r>
            <a:r>
              <a:rPr dirty="0"/>
              <a:t>off'</a:t>
            </a:r>
            <a:r>
              <a:rPr spc="-65" dirty="0"/>
              <a:t> </a:t>
            </a:r>
            <a:r>
              <a:rPr dirty="0"/>
              <a:t>at</a:t>
            </a:r>
            <a:r>
              <a:rPr spc="-65" dirty="0"/>
              <a:t> </a:t>
            </a:r>
            <a:r>
              <a:rPr spc="-50" dirty="0"/>
              <a:t>a </a:t>
            </a:r>
            <a:r>
              <a:rPr dirty="0"/>
              <a:t>review</a:t>
            </a:r>
            <a:r>
              <a:rPr spc="-55" dirty="0"/>
              <a:t> </a:t>
            </a:r>
            <a:r>
              <a:rPr dirty="0"/>
              <a:t>which</a:t>
            </a:r>
            <a:r>
              <a:rPr spc="-40" dirty="0"/>
              <a:t> </a:t>
            </a:r>
            <a:r>
              <a:rPr dirty="0"/>
              <a:t>signifies</a:t>
            </a:r>
            <a:r>
              <a:rPr spc="-35" dirty="0"/>
              <a:t> </a:t>
            </a:r>
            <a:r>
              <a:rPr dirty="0"/>
              <a:t>that</a:t>
            </a:r>
            <a:r>
              <a:rPr spc="-55" dirty="0"/>
              <a:t> </a:t>
            </a:r>
            <a:r>
              <a:rPr dirty="0"/>
              <a:t>progress</a:t>
            </a:r>
            <a:r>
              <a:rPr spc="-60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spc="-20" dirty="0"/>
              <a:t>next </a:t>
            </a:r>
            <a:r>
              <a:rPr dirty="0"/>
              <a:t>development</a:t>
            </a:r>
            <a:r>
              <a:rPr spc="-80" dirty="0"/>
              <a:t> </a:t>
            </a:r>
            <a:r>
              <a:rPr dirty="0"/>
              <a:t>stage</a:t>
            </a:r>
            <a:r>
              <a:rPr spc="-100" dirty="0"/>
              <a:t> </a:t>
            </a:r>
            <a:r>
              <a:rPr dirty="0"/>
              <a:t>has</a:t>
            </a:r>
            <a:r>
              <a:rPr spc="-100" dirty="0"/>
              <a:t> </a:t>
            </a:r>
            <a:r>
              <a:rPr dirty="0"/>
              <a:t>been</a:t>
            </a:r>
            <a:r>
              <a:rPr spc="-95" dirty="0"/>
              <a:t> </a:t>
            </a:r>
            <a:r>
              <a:rPr dirty="0"/>
              <a:t>approved</a:t>
            </a:r>
            <a:r>
              <a:rPr spc="-80" dirty="0"/>
              <a:t> </a:t>
            </a:r>
            <a:r>
              <a:rPr spc="-25" dirty="0"/>
              <a:t>by </a:t>
            </a:r>
            <a:r>
              <a:rPr spc="-10" dirty="0"/>
              <a:t>management.</a:t>
            </a: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/>
              <a:t>There</a:t>
            </a:r>
            <a:r>
              <a:rPr spc="-55" dirty="0"/>
              <a:t> </a:t>
            </a:r>
            <a:r>
              <a:rPr dirty="0"/>
              <a:t>are</a:t>
            </a:r>
            <a:r>
              <a:rPr spc="-55" dirty="0"/>
              <a:t> </a:t>
            </a:r>
            <a:r>
              <a:rPr dirty="0"/>
              <a:t>different</a:t>
            </a:r>
            <a:r>
              <a:rPr spc="-55" dirty="0"/>
              <a:t> </a:t>
            </a:r>
            <a:r>
              <a:rPr dirty="0"/>
              <a:t>types</a:t>
            </a:r>
            <a:r>
              <a:rPr spc="-6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review</a:t>
            </a:r>
            <a:r>
              <a:rPr spc="-45" dirty="0"/>
              <a:t> </a:t>
            </a:r>
            <a:r>
              <a:rPr dirty="0"/>
              <a:t>with</a:t>
            </a:r>
            <a:r>
              <a:rPr spc="-55" dirty="0"/>
              <a:t> </a:t>
            </a:r>
            <a:r>
              <a:rPr spc="-10" dirty="0"/>
              <a:t>different</a:t>
            </a:r>
          </a:p>
          <a:p>
            <a:pPr marL="355600">
              <a:lnSpc>
                <a:spcPct val="100000"/>
              </a:lnSpc>
            </a:pPr>
            <a:r>
              <a:rPr spc="-10" dirty="0"/>
              <a:t>objectives</a:t>
            </a:r>
          </a:p>
          <a:p>
            <a:pPr marL="756285" lvl="1" indent="-286385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Inspections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defect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removal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(product);</a:t>
            </a:r>
            <a:endParaRPr sz="20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Reviews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progress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assessment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(product</a:t>
            </a:r>
            <a:r>
              <a:rPr sz="20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process);</a:t>
            </a:r>
            <a:endParaRPr sz="20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reviews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(product</a:t>
            </a:r>
            <a:r>
              <a:rPr sz="20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standards).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643254"/>
            <a:ext cx="6697345" cy="4605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6424D"/>
                </a:solidFill>
                <a:latin typeface="Arial"/>
                <a:cs typeface="Arial"/>
              </a:rPr>
              <a:t>Quality</a:t>
            </a:r>
            <a:r>
              <a:rPr sz="2400" b="1" spc="-50" dirty="0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46424D"/>
                </a:solidFill>
                <a:latin typeface="Arial"/>
                <a:cs typeface="Arial"/>
              </a:rPr>
              <a:t>reviews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</a:pPr>
            <a:endParaRPr sz="2400">
              <a:latin typeface="Arial"/>
              <a:cs typeface="Arial"/>
            </a:endParaRPr>
          </a:p>
          <a:p>
            <a:pPr marL="355600" marR="131445" indent="-342900">
              <a:lnSpc>
                <a:spcPct val="100000"/>
              </a:lnSpc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1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group</a:t>
            </a:r>
            <a:r>
              <a:rPr sz="24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people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carefully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examine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part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all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its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associated documentation.</a:t>
            </a:r>
            <a:endParaRPr sz="2400">
              <a:latin typeface="Arial MT"/>
              <a:cs typeface="Arial MT"/>
            </a:endParaRPr>
          </a:p>
          <a:p>
            <a:pPr marL="355600" marR="828675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Code,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designs,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specifications,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test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plans,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standards,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etc.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all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reviewed.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documents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'signed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off'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at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a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review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which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signifies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progress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next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stage</a:t>
            </a:r>
            <a:r>
              <a:rPr sz="2400" spc="-1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has</a:t>
            </a:r>
            <a:r>
              <a:rPr sz="2400" spc="-1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been</a:t>
            </a:r>
            <a:r>
              <a:rPr sz="24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approved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by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management.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45" dirty="0"/>
              <a:t> </a:t>
            </a:r>
            <a:r>
              <a:rPr dirty="0"/>
              <a:t>software</a:t>
            </a:r>
            <a:r>
              <a:rPr spc="-60" dirty="0"/>
              <a:t> </a:t>
            </a:r>
            <a:r>
              <a:rPr dirty="0"/>
              <a:t>review</a:t>
            </a:r>
            <a:r>
              <a:rPr spc="-40" dirty="0"/>
              <a:t> </a:t>
            </a:r>
            <a:r>
              <a:rPr spc="-10" dirty="0"/>
              <a:t>process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0" dirty="0"/>
              <a:t> </a:t>
            </a:r>
            <a:r>
              <a:rPr dirty="0"/>
              <a:t>24 Quality</a:t>
            </a:r>
            <a:r>
              <a:rPr spc="-2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pic>
        <p:nvPicPr>
          <p:cNvPr id="3" name="object 3" descr="24.7 Review-process.ep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961513"/>
            <a:ext cx="8229600" cy="174121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" y="427"/>
            <a:ext cx="9143428" cy="685757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Reviews</a:t>
            </a:r>
            <a:r>
              <a:rPr spc="-4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agile</a:t>
            </a:r>
            <a:r>
              <a:rPr spc="-40" dirty="0"/>
              <a:t> </a:t>
            </a:r>
            <a:r>
              <a:rPr spc="-10" dirty="0"/>
              <a:t>methods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8011795" cy="4613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review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agile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usually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informal.</a:t>
            </a:r>
            <a:endParaRPr sz="2400">
              <a:latin typeface="Arial MT"/>
              <a:cs typeface="Arial MT"/>
            </a:endParaRPr>
          </a:p>
          <a:p>
            <a:pPr marL="756285" marR="311150" lvl="1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Scrum,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example,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there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review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meeting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after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each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iteration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has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been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completed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(a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sprint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review),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where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issues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problems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discussed.</a:t>
            </a:r>
            <a:endParaRPr sz="20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9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4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extreme</a:t>
            </a:r>
            <a:r>
              <a:rPr sz="24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programming,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pair</a:t>
            </a:r>
            <a:r>
              <a:rPr sz="24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programming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ensures</a:t>
            </a:r>
            <a:r>
              <a:rPr sz="24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that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code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constantly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being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examined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reviewed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by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another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team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member.</a:t>
            </a:r>
            <a:endParaRPr sz="2400">
              <a:latin typeface="Arial MT"/>
              <a:cs typeface="Arial MT"/>
            </a:endParaRPr>
          </a:p>
          <a:p>
            <a:pPr marL="355600" marR="19685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XP</a:t>
            </a:r>
            <a:r>
              <a:rPr sz="2400" spc="-1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relies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individuals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taking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initiative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improve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refactor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code.</a:t>
            </a:r>
            <a:r>
              <a:rPr sz="2400" spc="-1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Agile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approaches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not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usually standards-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driven,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issues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compliance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are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not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usually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considered.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643254"/>
            <a:ext cx="8044180" cy="4758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6424D"/>
                </a:solidFill>
                <a:latin typeface="Arial"/>
                <a:cs typeface="Arial"/>
              </a:rPr>
              <a:t>Program</a:t>
            </a:r>
            <a:r>
              <a:rPr sz="2400" b="1" spc="-65" dirty="0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46424D"/>
                </a:solidFill>
                <a:latin typeface="Arial"/>
                <a:cs typeface="Arial"/>
              </a:rPr>
              <a:t>inspections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</a:pPr>
            <a:endParaRPr sz="2400">
              <a:latin typeface="Arial"/>
              <a:cs typeface="Arial"/>
            </a:endParaRPr>
          </a:p>
          <a:p>
            <a:pPr marL="355600" marR="403225" indent="-342900">
              <a:lnSpc>
                <a:spcPct val="100000"/>
              </a:lnSpc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sz="2400" spc="-1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4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peer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reviews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where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engineers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examine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source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aim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discovering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anomalies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10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defects.</a:t>
            </a:r>
            <a:endParaRPr sz="2400">
              <a:latin typeface="Arial MT"/>
              <a:cs typeface="Arial MT"/>
            </a:endParaRPr>
          </a:p>
          <a:p>
            <a:pPr marL="355600" marR="7112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Inspections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do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not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require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execution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may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used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before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implementation.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applied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any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representation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system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(requirements,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design,configuration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 data,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test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data,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etc.).</a:t>
            </a:r>
            <a:endParaRPr sz="2400">
              <a:latin typeface="Arial MT"/>
              <a:cs typeface="Arial MT"/>
            </a:endParaRPr>
          </a:p>
          <a:p>
            <a:pPr marL="355600" marR="280670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been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shown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effective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technique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for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discovering</a:t>
            </a:r>
            <a:r>
              <a:rPr sz="2400" spc="-1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program</a:t>
            </a:r>
            <a:r>
              <a:rPr sz="2400" spc="-1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errors.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Inspection</a:t>
            </a:r>
            <a:r>
              <a:rPr spc="-55" dirty="0"/>
              <a:t> </a:t>
            </a:r>
            <a:r>
              <a:rPr spc="-10" dirty="0"/>
              <a:t>checklists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13589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/>
              <a:t>Checklist</a:t>
            </a:r>
            <a:r>
              <a:rPr spc="-4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common</a:t>
            </a:r>
            <a:r>
              <a:rPr spc="-75" dirty="0"/>
              <a:t> </a:t>
            </a:r>
            <a:r>
              <a:rPr dirty="0"/>
              <a:t>errors</a:t>
            </a:r>
            <a:r>
              <a:rPr spc="-70" dirty="0"/>
              <a:t> </a:t>
            </a:r>
            <a:r>
              <a:rPr dirty="0"/>
              <a:t>should</a:t>
            </a:r>
            <a:r>
              <a:rPr spc="-70" dirty="0"/>
              <a:t> </a:t>
            </a:r>
            <a:r>
              <a:rPr dirty="0"/>
              <a:t>be</a:t>
            </a:r>
            <a:r>
              <a:rPr spc="-65" dirty="0"/>
              <a:t> </a:t>
            </a:r>
            <a:r>
              <a:rPr dirty="0"/>
              <a:t>used</a:t>
            </a:r>
            <a:r>
              <a:rPr spc="-80" dirty="0"/>
              <a:t> </a:t>
            </a:r>
            <a:r>
              <a:rPr spc="-25" dirty="0"/>
              <a:t>to </a:t>
            </a:r>
            <a:r>
              <a:rPr dirty="0"/>
              <a:t>drive</a:t>
            </a:r>
            <a:r>
              <a:rPr spc="-55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spc="-10" dirty="0"/>
              <a:t>inspection.</a:t>
            </a:r>
          </a:p>
          <a:p>
            <a:pPr marL="354965" marR="227965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/>
              <a:t>Error</a:t>
            </a:r>
            <a:r>
              <a:rPr spc="-60" dirty="0"/>
              <a:t> </a:t>
            </a:r>
            <a:r>
              <a:rPr dirty="0"/>
              <a:t>checklists</a:t>
            </a:r>
            <a:r>
              <a:rPr spc="-45" dirty="0"/>
              <a:t> </a:t>
            </a:r>
            <a:r>
              <a:rPr dirty="0"/>
              <a:t>are</a:t>
            </a:r>
            <a:r>
              <a:rPr spc="-55" dirty="0"/>
              <a:t> </a:t>
            </a:r>
            <a:r>
              <a:rPr spc="-10" dirty="0"/>
              <a:t>programming</a:t>
            </a:r>
            <a:r>
              <a:rPr spc="-45" dirty="0"/>
              <a:t> </a:t>
            </a:r>
            <a:r>
              <a:rPr spc="-10" dirty="0"/>
              <a:t>language</a:t>
            </a:r>
            <a:r>
              <a:rPr spc="600" dirty="0"/>
              <a:t> </a:t>
            </a:r>
            <a:r>
              <a:rPr dirty="0"/>
              <a:t>dependent</a:t>
            </a:r>
            <a:r>
              <a:rPr spc="-65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dirty="0"/>
              <a:t>reflect</a:t>
            </a:r>
            <a:r>
              <a:rPr spc="-85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dirty="0"/>
              <a:t>characteristic</a:t>
            </a:r>
            <a:r>
              <a:rPr spc="-85" dirty="0"/>
              <a:t> </a:t>
            </a:r>
            <a:r>
              <a:rPr dirty="0"/>
              <a:t>errors</a:t>
            </a:r>
            <a:r>
              <a:rPr spc="-80" dirty="0"/>
              <a:t> </a:t>
            </a:r>
            <a:r>
              <a:rPr dirty="0"/>
              <a:t>that</a:t>
            </a:r>
            <a:r>
              <a:rPr spc="-100" dirty="0"/>
              <a:t> </a:t>
            </a:r>
            <a:r>
              <a:rPr spc="-25" dirty="0"/>
              <a:t>are </a:t>
            </a:r>
            <a:r>
              <a:rPr dirty="0"/>
              <a:t>likely</a:t>
            </a:r>
            <a:r>
              <a:rPr spc="-2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arise</a:t>
            </a:r>
            <a:r>
              <a:rPr spc="-35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10" dirty="0"/>
              <a:t>language.</a:t>
            </a:r>
          </a:p>
          <a:p>
            <a:pPr marL="354330" indent="-342265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4330" algn="l"/>
              </a:tabLst>
            </a:pPr>
            <a:r>
              <a:rPr dirty="0"/>
              <a:t>In</a:t>
            </a:r>
            <a:r>
              <a:rPr spc="-70" dirty="0"/>
              <a:t> </a:t>
            </a:r>
            <a:r>
              <a:rPr dirty="0"/>
              <a:t>general,</a:t>
            </a:r>
            <a:r>
              <a:rPr spc="-55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'weaker'</a:t>
            </a:r>
            <a:r>
              <a:rPr spc="-30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type</a:t>
            </a:r>
            <a:r>
              <a:rPr spc="-70" dirty="0"/>
              <a:t> </a:t>
            </a:r>
            <a:r>
              <a:rPr dirty="0"/>
              <a:t>checking,</a:t>
            </a:r>
            <a:r>
              <a:rPr spc="-4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larger</a:t>
            </a:r>
            <a:r>
              <a:rPr spc="-55" dirty="0"/>
              <a:t> </a:t>
            </a:r>
            <a:r>
              <a:rPr spc="-25" dirty="0"/>
              <a:t>the</a:t>
            </a:r>
          </a:p>
          <a:p>
            <a:pPr marL="354965">
              <a:lnSpc>
                <a:spcPct val="100000"/>
              </a:lnSpc>
            </a:pPr>
            <a:r>
              <a:rPr spc="-10" dirty="0"/>
              <a:t>checklist.</a:t>
            </a:r>
          </a:p>
          <a:p>
            <a:pPr marL="354965" marR="123952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/>
              <a:t>Examples:</a:t>
            </a:r>
            <a:r>
              <a:rPr spc="-60" dirty="0"/>
              <a:t> </a:t>
            </a:r>
            <a:r>
              <a:rPr spc="-10" dirty="0"/>
              <a:t>Initialisation,</a:t>
            </a:r>
            <a:r>
              <a:rPr spc="-50" dirty="0"/>
              <a:t> </a:t>
            </a:r>
            <a:r>
              <a:rPr dirty="0"/>
              <a:t>Constant</a:t>
            </a:r>
            <a:r>
              <a:rPr spc="-70" dirty="0"/>
              <a:t> </a:t>
            </a:r>
            <a:r>
              <a:rPr dirty="0"/>
              <a:t>naming,</a:t>
            </a:r>
            <a:r>
              <a:rPr spc="-60" dirty="0"/>
              <a:t> </a:t>
            </a:r>
            <a:r>
              <a:rPr spc="-20" dirty="0"/>
              <a:t>loop </a:t>
            </a:r>
            <a:r>
              <a:rPr dirty="0"/>
              <a:t>termination,</a:t>
            </a:r>
            <a:r>
              <a:rPr spc="-100" dirty="0"/>
              <a:t> </a:t>
            </a:r>
            <a:r>
              <a:rPr dirty="0"/>
              <a:t>array</a:t>
            </a:r>
            <a:r>
              <a:rPr spc="-105" dirty="0"/>
              <a:t> </a:t>
            </a:r>
            <a:r>
              <a:rPr dirty="0"/>
              <a:t>bounds,</a:t>
            </a:r>
            <a:r>
              <a:rPr spc="-100" dirty="0"/>
              <a:t> </a:t>
            </a:r>
            <a:r>
              <a:rPr spc="-20" dirty="0"/>
              <a:t>etc.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</a:t>
            </a:r>
            <a:r>
              <a:rPr spc="-65" dirty="0"/>
              <a:t> </a:t>
            </a:r>
            <a:r>
              <a:rPr dirty="0"/>
              <a:t>inspection</a:t>
            </a:r>
            <a:r>
              <a:rPr spc="-80" dirty="0"/>
              <a:t> </a:t>
            </a:r>
            <a:r>
              <a:rPr dirty="0"/>
              <a:t>checklist</a:t>
            </a:r>
            <a:r>
              <a:rPr spc="-60" dirty="0"/>
              <a:t> </a:t>
            </a:r>
            <a:r>
              <a:rPr spc="-25" dirty="0"/>
              <a:t>(a)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0850" y="2035810"/>
          <a:ext cx="8229600" cy="43580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084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Fault</a:t>
                      </a:r>
                      <a:r>
                        <a:rPr sz="16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class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Inspection</a:t>
                      </a:r>
                      <a:r>
                        <a:rPr sz="16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check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marL="53975">
                        <a:lnSpc>
                          <a:spcPts val="1885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faults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97510" indent="-342900">
                        <a:lnSpc>
                          <a:spcPts val="1885"/>
                        </a:lnSpc>
                        <a:buFont typeface="Symbol"/>
                        <a:buChar char=""/>
                        <a:tabLst>
                          <a:tab pos="397510" algn="l"/>
                        </a:tabLst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all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program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variables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initialized</a:t>
                      </a:r>
                      <a:r>
                        <a:rPr sz="16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before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their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values</a:t>
                      </a:r>
                      <a:r>
                        <a:rPr sz="16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used?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97510" indent="-342900">
                        <a:lnSpc>
                          <a:spcPct val="100000"/>
                        </a:lnSpc>
                        <a:buFont typeface="Symbol"/>
                        <a:buChar char=""/>
                        <a:tabLst>
                          <a:tab pos="397510" algn="l"/>
                        </a:tabLst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Have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all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constants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been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named?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97510" indent="-342900">
                        <a:lnSpc>
                          <a:spcPct val="100000"/>
                        </a:lnSpc>
                        <a:buFont typeface="Symbol"/>
                        <a:buChar char=""/>
                        <a:tabLst>
                          <a:tab pos="397510" algn="l"/>
                        </a:tabLst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Should</a:t>
                      </a:r>
                      <a:r>
                        <a:rPr sz="1600" spc="2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29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upper</a:t>
                      </a:r>
                      <a:r>
                        <a:rPr sz="1600" spc="2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bound</a:t>
                      </a:r>
                      <a:r>
                        <a:rPr sz="1600" spc="29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3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arrays</a:t>
                      </a:r>
                      <a:r>
                        <a:rPr sz="1600" spc="3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1600" spc="2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equal</a:t>
                      </a:r>
                      <a:r>
                        <a:rPr sz="1600" spc="3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600" spc="2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29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size</a:t>
                      </a:r>
                      <a:r>
                        <a:rPr sz="1600" spc="2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29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the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9751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array or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Size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-1?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97510" indent="-342900">
                        <a:lnSpc>
                          <a:spcPct val="100000"/>
                        </a:lnSpc>
                        <a:buFont typeface="Symbol"/>
                        <a:buChar char=""/>
                        <a:tabLst>
                          <a:tab pos="397510" algn="l"/>
                        </a:tabLst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If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character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strings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used,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delimiter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explicitly</a:t>
                      </a:r>
                      <a:r>
                        <a:rPr sz="16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assigned?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97510" indent="-342900">
                        <a:lnSpc>
                          <a:spcPct val="100000"/>
                        </a:lnSpc>
                        <a:buFont typeface="Symbol"/>
                        <a:buChar char=""/>
                        <a:tabLst>
                          <a:tab pos="397510" algn="l"/>
                        </a:tabLst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there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any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possibility</a:t>
                      </a:r>
                      <a:r>
                        <a:rPr sz="16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buffer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overflow?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marL="53975">
                        <a:lnSpc>
                          <a:spcPts val="1885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Control</a:t>
                      </a:r>
                      <a:r>
                        <a:rPr sz="16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faults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397510" indent="-342900">
                        <a:lnSpc>
                          <a:spcPts val="1885"/>
                        </a:lnSpc>
                        <a:buFont typeface="Symbol"/>
                        <a:buChar char=""/>
                        <a:tabLst>
                          <a:tab pos="397510" algn="l"/>
                        </a:tabLst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each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conditional</a:t>
                      </a:r>
                      <a:r>
                        <a:rPr sz="16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statement, is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condition</a:t>
                      </a:r>
                      <a:r>
                        <a:rPr sz="16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correct?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97510" indent="-342900">
                        <a:lnSpc>
                          <a:spcPct val="100000"/>
                        </a:lnSpc>
                        <a:buFont typeface="Symbol"/>
                        <a:buChar char=""/>
                        <a:tabLst>
                          <a:tab pos="397510" algn="l"/>
                        </a:tabLst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each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loop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certain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terminate?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97510" indent="-342900">
                        <a:lnSpc>
                          <a:spcPct val="100000"/>
                        </a:lnSpc>
                        <a:buFont typeface="Symbol"/>
                        <a:buChar char=""/>
                        <a:tabLst>
                          <a:tab pos="397510" algn="l"/>
                        </a:tabLst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16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compound</a:t>
                      </a:r>
                      <a:r>
                        <a:rPr sz="16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statements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correctly</a:t>
                      </a:r>
                      <a:r>
                        <a:rPr sz="16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bracketed?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97510" indent="-342900">
                        <a:lnSpc>
                          <a:spcPct val="100000"/>
                        </a:lnSpc>
                        <a:buFont typeface="Symbol"/>
                        <a:buChar char=""/>
                        <a:tabLst>
                          <a:tab pos="397510" algn="l"/>
                        </a:tabLst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case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statements,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all</a:t>
                      </a:r>
                      <a:r>
                        <a:rPr sz="16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possible</a:t>
                      </a:r>
                      <a:r>
                        <a:rPr sz="16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cases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accounted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for?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97510" marR="46990" indent="-343535">
                        <a:lnSpc>
                          <a:spcPct val="100000"/>
                        </a:lnSpc>
                        <a:buFont typeface="Symbol"/>
                        <a:buChar char=""/>
                        <a:tabLst>
                          <a:tab pos="397510" algn="l"/>
                        </a:tabLst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If</a:t>
                      </a:r>
                      <a:r>
                        <a:rPr sz="1600" spc="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600" spc="1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break</a:t>
                      </a:r>
                      <a:r>
                        <a:rPr sz="1600" spc="11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600" spc="11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required</a:t>
                      </a:r>
                      <a:r>
                        <a:rPr sz="1600" spc="11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after</a:t>
                      </a:r>
                      <a:r>
                        <a:rPr sz="1600" spc="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each</a:t>
                      </a:r>
                      <a:r>
                        <a:rPr sz="1600" spc="1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case</a:t>
                      </a:r>
                      <a:r>
                        <a:rPr sz="1600" spc="11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600" spc="1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case</a:t>
                      </a:r>
                      <a:r>
                        <a:rPr sz="1600" spc="11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statements,</a:t>
                      </a:r>
                      <a:r>
                        <a:rPr sz="1600" spc="1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has</a:t>
                      </a:r>
                      <a:r>
                        <a:rPr sz="1600" spc="11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it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been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included?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53975">
                        <a:lnSpc>
                          <a:spcPts val="1889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Input/output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faults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97510" indent="-342900">
                        <a:lnSpc>
                          <a:spcPts val="1889"/>
                        </a:lnSpc>
                        <a:buFont typeface="Symbol"/>
                        <a:buChar char=""/>
                        <a:tabLst>
                          <a:tab pos="397510" algn="l"/>
                        </a:tabLst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all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input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variables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used?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397510" indent="-342900">
                        <a:lnSpc>
                          <a:spcPct val="100000"/>
                        </a:lnSpc>
                        <a:buFont typeface="Symbol"/>
                        <a:buChar char=""/>
                        <a:tabLst>
                          <a:tab pos="397510" algn="l"/>
                        </a:tabLst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all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output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variables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assigned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value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before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they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output?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397510" indent="-342900">
                        <a:lnSpc>
                          <a:spcPct val="100000"/>
                        </a:lnSpc>
                        <a:buFont typeface="Symbol"/>
                        <a:buChar char=""/>
                        <a:tabLst>
                          <a:tab pos="397510" algn="l"/>
                        </a:tabLst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Can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unexpected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inputs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cause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corruption?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</a:t>
            </a:r>
            <a:r>
              <a:rPr spc="-65" dirty="0"/>
              <a:t> </a:t>
            </a:r>
            <a:r>
              <a:rPr dirty="0"/>
              <a:t>inspection</a:t>
            </a:r>
            <a:r>
              <a:rPr spc="-80" dirty="0"/>
              <a:t> </a:t>
            </a:r>
            <a:r>
              <a:rPr dirty="0"/>
              <a:t>checklist</a:t>
            </a:r>
            <a:r>
              <a:rPr spc="-60" dirty="0"/>
              <a:t> </a:t>
            </a:r>
            <a:r>
              <a:rPr spc="-25" dirty="0"/>
              <a:t>(b)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4650" y="1822450"/>
          <a:ext cx="8229600" cy="4083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2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7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Fault</a:t>
                      </a:r>
                      <a:r>
                        <a:rPr sz="14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class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Inspection</a:t>
                      </a:r>
                      <a:r>
                        <a:rPr sz="1400" b="1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check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marL="53975">
                        <a:lnSpc>
                          <a:spcPts val="1885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Interface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faults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97510" marR="48260" indent="-342900">
                        <a:lnSpc>
                          <a:spcPts val="1920"/>
                        </a:lnSpc>
                        <a:spcBef>
                          <a:spcPts val="30"/>
                        </a:spcBef>
                        <a:buFont typeface="Symbol"/>
                        <a:buChar char=""/>
                        <a:tabLst>
                          <a:tab pos="397510" algn="l"/>
                        </a:tabLst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Do</a:t>
                      </a:r>
                      <a:r>
                        <a:rPr sz="1600" spc="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all</a:t>
                      </a:r>
                      <a:r>
                        <a:rPr sz="1600" spc="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function</a:t>
                      </a:r>
                      <a:r>
                        <a:rPr sz="1600" spc="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600" spc="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method</a:t>
                      </a:r>
                      <a:r>
                        <a:rPr sz="1600" spc="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calls</a:t>
                      </a:r>
                      <a:r>
                        <a:rPr sz="1600" spc="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have</a:t>
                      </a:r>
                      <a:r>
                        <a:rPr sz="1600" spc="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correct</a:t>
                      </a:r>
                      <a:r>
                        <a:rPr sz="1600" spc="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number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parameters?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97510" indent="-342900">
                        <a:lnSpc>
                          <a:spcPts val="1855"/>
                        </a:lnSpc>
                        <a:buFont typeface="Symbol"/>
                        <a:buChar char=""/>
                        <a:tabLst>
                          <a:tab pos="397510" algn="l"/>
                        </a:tabLst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Do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formal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actual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parameter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types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match?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97510" indent="-342900">
                        <a:lnSpc>
                          <a:spcPct val="100000"/>
                        </a:lnSpc>
                        <a:buFont typeface="Symbol"/>
                        <a:buChar char=""/>
                        <a:tabLst>
                          <a:tab pos="397510" algn="l"/>
                        </a:tabLst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parameters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right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order?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97510" marR="46990" indent="-342900">
                        <a:lnSpc>
                          <a:spcPct val="100000"/>
                        </a:lnSpc>
                        <a:buFont typeface="Symbol"/>
                        <a:buChar char=""/>
                        <a:tabLst>
                          <a:tab pos="397510" algn="l"/>
                        </a:tabLst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If</a:t>
                      </a:r>
                      <a:r>
                        <a:rPr sz="1600" spc="1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components</a:t>
                      </a:r>
                      <a:r>
                        <a:rPr sz="1600" spc="1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access</a:t>
                      </a:r>
                      <a:r>
                        <a:rPr sz="1600" spc="1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shared</a:t>
                      </a:r>
                      <a:r>
                        <a:rPr sz="1600" spc="1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memory,</a:t>
                      </a:r>
                      <a:r>
                        <a:rPr sz="1600" spc="1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do</a:t>
                      </a:r>
                      <a:r>
                        <a:rPr sz="1600" spc="1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they</a:t>
                      </a:r>
                      <a:r>
                        <a:rPr sz="1600" spc="1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have</a:t>
                      </a:r>
                      <a:r>
                        <a:rPr sz="1600" spc="1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the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same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model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shared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memory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structure?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marL="53975" marR="49530">
                        <a:lnSpc>
                          <a:spcPts val="1920"/>
                        </a:lnSpc>
                        <a:spcBef>
                          <a:spcPts val="30"/>
                        </a:spcBef>
                        <a:tabLst>
                          <a:tab pos="1299845" algn="l"/>
                        </a:tabLst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Storage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management faults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397510" marR="46990" indent="-342900">
                        <a:lnSpc>
                          <a:spcPts val="1920"/>
                        </a:lnSpc>
                        <a:spcBef>
                          <a:spcPts val="30"/>
                        </a:spcBef>
                        <a:buFont typeface="Symbol"/>
                        <a:buChar char=""/>
                        <a:tabLst>
                          <a:tab pos="397510" algn="l"/>
                        </a:tabLst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If</a:t>
                      </a:r>
                      <a:r>
                        <a:rPr sz="1600" spc="7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600" spc="75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linked</a:t>
                      </a:r>
                      <a:r>
                        <a:rPr sz="1600" spc="7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structure</a:t>
                      </a:r>
                      <a:r>
                        <a:rPr sz="1600" spc="75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600" spc="7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modified,</a:t>
                      </a:r>
                      <a:r>
                        <a:rPr sz="1600" spc="7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have</a:t>
                      </a:r>
                      <a:r>
                        <a:rPr sz="1600" spc="75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all</a:t>
                      </a:r>
                      <a:r>
                        <a:rPr sz="1600" spc="7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links</a:t>
                      </a:r>
                      <a:r>
                        <a:rPr sz="1600" spc="7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been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correctly</a:t>
                      </a:r>
                      <a:r>
                        <a:rPr sz="16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reassigned?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97510" indent="-342900">
                        <a:lnSpc>
                          <a:spcPts val="1860"/>
                        </a:lnSpc>
                        <a:buFont typeface="Symbol"/>
                        <a:buChar char=""/>
                        <a:tabLst>
                          <a:tab pos="397510" algn="l"/>
                        </a:tabLst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If</a:t>
                      </a:r>
                      <a:r>
                        <a:rPr sz="1600" spc="4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dynamic</a:t>
                      </a:r>
                      <a:r>
                        <a:rPr sz="1600" spc="4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storage</a:t>
                      </a:r>
                      <a:r>
                        <a:rPr sz="1600" spc="4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600" spc="4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used,</a:t>
                      </a:r>
                      <a:r>
                        <a:rPr sz="1600" spc="4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has</a:t>
                      </a:r>
                      <a:r>
                        <a:rPr sz="1600" spc="4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space</a:t>
                      </a:r>
                      <a:r>
                        <a:rPr sz="1600" spc="4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been</a:t>
                      </a:r>
                      <a:r>
                        <a:rPr sz="1600" spc="43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allocated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97510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correctly?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97510" marR="46990" indent="-342900">
                        <a:lnSpc>
                          <a:spcPct val="100000"/>
                        </a:lnSpc>
                        <a:buFont typeface="Symbol"/>
                        <a:buChar char=""/>
                        <a:tabLst>
                          <a:tab pos="397510" algn="l"/>
                          <a:tab pos="716280" algn="l"/>
                          <a:tab pos="1419225" algn="l"/>
                          <a:tab pos="2343785" algn="l"/>
                          <a:tab pos="3542029" algn="l"/>
                          <a:tab pos="4110990" algn="l"/>
                          <a:tab pos="4372610" algn="l"/>
                          <a:tab pos="4680585" algn="l"/>
                          <a:tab pos="5067935" algn="l"/>
                        </a:tabLst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space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explicitly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deallocated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after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it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no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longer required?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485">
                <a:tc>
                  <a:txBody>
                    <a:bodyPr/>
                    <a:lstStyle/>
                    <a:p>
                      <a:pPr marL="53975" marR="49530">
                        <a:lnSpc>
                          <a:spcPts val="1920"/>
                        </a:lnSpc>
                        <a:spcBef>
                          <a:spcPts val="30"/>
                        </a:spcBef>
                        <a:tabLst>
                          <a:tab pos="1301115" algn="l"/>
                        </a:tabLst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Exception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management faults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97510" marR="46990" indent="-342900">
                        <a:lnSpc>
                          <a:spcPts val="1920"/>
                        </a:lnSpc>
                        <a:spcBef>
                          <a:spcPts val="30"/>
                        </a:spcBef>
                        <a:buFont typeface="Symbol"/>
                        <a:buChar char=""/>
                        <a:tabLst>
                          <a:tab pos="397510" algn="l"/>
                          <a:tab pos="1042035" algn="l"/>
                          <a:tab pos="1416050" algn="l"/>
                          <a:tab pos="2330450" algn="l"/>
                          <a:tab pos="2929255" algn="l"/>
                          <a:tab pos="4016375" algn="l"/>
                          <a:tab pos="4638040" algn="l"/>
                          <a:tab pos="5305425" algn="l"/>
                        </a:tabLst>
                      </a:pPr>
                      <a:r>
                        <a:rPr sz="1600" spc="-20" dirty="0">
                          <a:latin typeface="Arial MT"/>
                          <a:cs typeface="Arial MT"/>
                        </a:rPr>
                        <a:t>Have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all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possible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error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conditions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been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taken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into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account?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330" y="643254"/>
            <a:ext cx="8063230" cy="5488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6424D"/>
                </a:solidFill>
                <a:latin typeface="Arial"/>
                <a:cs typeface="Arial"/>
              </a:rPr>
              <a:t>Agile</a:t>
            </a:r>
            <a:r>
              <a:rPr sz="2400" b="1" spc="-30" dirty="0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6424D"/>
                </a:solidFill>
                <a:latin typeface="Arial"/>
                <a:cs typeface="Arial"/>
              </a:rPr>
              <a:t>methods</a:t>
            </a:r>
            <a:r>
              <a:rPr sz="2400" b="1" spc="-30" dirty="0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6424D"/>
                </a:solidFill>
                <a:latin typeface="Arial"/>
                <a:cs typeface="Arial"/>
              </a:rPr>
              <a:t>and</a:t>
            </a:r>
            <a:r>
              <a:rPr sz="2400" b="1" spc="-25" dirty="0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46424D"/>
                </a:solidFill>
                <a:latin typeface="Arial"/>
                <a:cs typeface="Arial"/>
              </a:rPr>
              <a:t>inspections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90"/>
              </a:spcBef>
            </a:pPr>
            <a:endParaRPr sz="2400">
              <a:latin typeface="Arial"/>
              <a:cs typeface="Arial"/>
            </a:endParaRPr>
          </a:p>
          <a:p>
            <a:pPr marL="355600" marR="682625" indent="-342900">
              <a:lnSpc>
                <a:spcPct val="100000"/>
              </a:lnSpc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Agile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processes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rarely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use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formal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inspection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peer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review</a:t>
            </a:r>
            <a:r>
              <a:rPr sz="24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processes.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Rather,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rely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team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members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cooperating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check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each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other’s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code,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informal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guidelines,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such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as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‘check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before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check-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in’,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which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suggest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programmers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check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their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own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code.</a:t>
            </a:r>
            <a:endParaRPr sz="2400">
              <a:latin typeface="Arial MT"/>
              <a:cs typeface="Arial MT"/>
            </a:endParaRPr>
          </a:p>
          <a:p>
            <a:pPr marL="355600" marR="266065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Extreme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programming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practitioners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argue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pair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programming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effective</a:t>
            </a:r>
            <a:r>
              <a:rPr sz="24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substitute</a:t>
            </a:r>
            <a:r>
              <a:rPr sz="24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inspection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as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is,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effect,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continual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inspection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process.</a:t>
            </a:r>
            <a:endParaRPr sz="2400">
              <a:latin typeface="Arial MT"/>
              <a:cs typeface="Arial MT"/>
            </a:endParaRPr>
          </a:p>
          <a:p>
            <a:pPr marL="355600" marR="22225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Two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people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look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at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every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line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code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check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before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accepted.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-100" dirty="0"/>
              <a:t> </a:t>
            </a:r>
            <a:r>
              <a:rPr dirty="0"/>
              <a:t>measurement</a:t>
            </a:r>
            <a:r>
              <a:rPr spc="-45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spc="-10" dirty="0"/>
              <a:t>metrics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8028940" cy="3775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31165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measurement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concerned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deriving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a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numeric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value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attribute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product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or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process.</a:t>
            </a:r>
            <a:endParaRPr sz="2400">
              <a:latin typeface="Arial MT"/>
              <a:cs typeface="Arial MT"/>
            </a:endParaRPr>
          </a:p>
          <a:p>
            <a:pPr marL="355600" marR="1377315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allows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4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objective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comparisons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between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techniques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processes.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Although</a:t>
            </a:r>
            <a:r>
              <a:rPr sz="24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some</a:t>
            </a:r>
            <a:r>
              <a:rPr sz="2400" spc="-10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companies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sz="2400" spc="-1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introduced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measurement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programmes,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most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organisations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still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don’t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make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systematic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use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measurement.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There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few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established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area.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-60" dirty="0"/>
              <a:t> </a:t>
            </a:r>
            <a:r>
              <a:rPr spc="-10" dirty="0"/>
              <a:t>metric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8028305" cy="4095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Any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type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measurement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which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relates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system,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related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documentation</a:t>
            </a:r>
            <a:endParaRPr sz="2400">
              <a:latin typeface="Arial MT"/>
              <a:cs typeface="Arial MT"/>
            </a:endParaRPr>
          </a:p>
          <a:p>
            <a:pPr marL="756285" marR="365760" lvl="1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Lines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code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in a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program,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Fog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index,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number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person-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days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required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develop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component.</a:t>
            </a:r>
            <a:endParaRPr sz="2000">
              <a:latin typeface="Arial MT"/>
              <a:cs typeface="Arial MT"/>
            </a:endParaRPr>
          </a:p>
          <a:p>
            <a:pPr marL="355600" marR="1361440" indent="-342900">
              <a:lnSpc>
                <a:spcPct val="100000"/>
              </a:lnSpc>
              <a:spcBef>
                <a:spcPts val="9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Allow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to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quantified.</a:t>
            </a:r>
            <a:endParaRPr sz="2400">
              <a:latin typeface="Arial MT"/>
              <a:cs typeface="Arial MT"/>
            </a:endParaRPr>
          </a:p>
          <a:p>
            <a:pPr marL="355600" marR="4495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used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predict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product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attributes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control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process.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Product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metrics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used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general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predictions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to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identify</a:t>
            </a:r>
            <a:r>
              <a:rPr sz="2400" spc="-10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anomalous</a:t>
            </a:r>
            <a:r>
              <a:rPr sz="24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components.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Predictor</a:t>
            </a:r>
            <a:r>
              <a:rPr spc="-3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control</a:t>
            </a:r>
            <a:r>
              <a:rPr spc="-40" dirty="0"/>
              <a:t> </a:t>
            </a:r>
            <a:r>
              <a:rPr spc="-10" dirty="0"/>
              <a:t>measurements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0" dirty="0"/>
              <a:t> </a:t>
            </a:r>
            <a:r>
              <a:rPr dirty="0"/>
              <a:t>24 Quality</a:t>
            </a:r>
            <a:r>
              <a:rPr spc="-2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pic>
        <p:nvPicPr>
          <p:cNvPr id="3" name="object 3" descr="24.9 PredControlMetrics.ep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3654" y="1600200"/>
            <a:ext cx="5362321" cy="35829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" y="427"/>
            <a:ext cx="9143428" cy="685757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Use</a:t>
            </a:r>
            <a:r>
              <a:rPr spc="-2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10" dirty="0"/>
              <a:t>measurements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88979"/>
            <a:ext cx="8054975" cy="434784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8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spc="-14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assign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value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attributes</a:t>
            </a:r>
            <a:endParaRPr sz="2400">
              <a:latin typeface="Arial MT"/>
              <a:cs typeface="Arial MT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By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measuring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characteristics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components,</a:t>
            </a:r>
            <a:r>
              <a:rPr sz="20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such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as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their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cyclomatic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complexity,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then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aggregating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these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measurements,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you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assess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attributes,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such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maintainability.</a:t>
            </a:r>
            <a:endParaRPr sz="2000">
              <a:latin typeface="Arial MT"/>
              <a:cs typeface="Arial MT"/>
            </a:endParaRPr>
          </a:p>
          <a:p>
            <a:pPr marL="355600" marR="99695" indent="-342900">
              <a:lnSpc>
                <a:spcPct val="100000"/>
              </a:lnSpc>
              <a:spcBef>
                <a:spcPts val="894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spc="-135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identify</a:t>
            </a:r>
            <a:r>
              <a:rPr sz="24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components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whose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sub-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standard</a:t>
            </a:r>
            <a:endParaRPr sz="2400">
              <a:latin typeface="Arial MT"/>
              <a:cs typeface="Arial MT"/>
            </a:endParaRPr>
          </a:p>
          <a:p>
            <a:pPr marL="756285" marR="59690" lvl="1" indent="-287020">
              <a:lnSpc>
                <a:spcPct val="100000"/>
              </a:lnSpc>
              <a:spcBef>
                <a:spcPts val="910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Measurements</a:t>
            </a:r>
            <a:r>
              <a:rPr sz="20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identify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individual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components</a:t>
            </a:r>
            <a:r>
              <a:rPr sz="20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with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characteristics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deviate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from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norm.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example,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you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can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measure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components</a:t>
            </a:r>
            <a:r>
              <a:rPr sz="20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discover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those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highest complexity.</a:t>
            </a:r>
            <a:r>
              <a:rPr sz="20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most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likely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contain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bugs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because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complexity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makes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them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harder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understand.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Metrics</a:t>
            </a:r>
            <a:r>
              <a:rPr spc="-100" dirty="0"/>
              <a:t> </a:t>
            </a:r>
            <a:r>
              <a:rPr spc="-10" dirty="0"/>
              <a:t>assumptions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73438"/>
            <a:ext cx="7978140" cy="392811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1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property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measured.</a:t>
            </a:r>
            <a:endParaRPr sz="2400">
              <a:latin typeface="Arial MT"/>
              <a:cs typeface="Arial MT"/>
            </a:endParaRPr>
          </a:p>
          <a:p>
            <a:pPr marL="355600" marR="946785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relationship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exists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between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what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we</a:t>
            </a:r>
            <a:r>
              <a:rPr sz="24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can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measure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what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we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want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know.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We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only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measure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internal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attributes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but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often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more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interested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400" spc="-1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external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attributes.</a:t>
            </a:r>
            <a:endParaRPr sz="2400">
              <a:latin typeface="Arial MT"/>
              <a:cs typeface="Arial MT"/>
            </a:endParaRPr>
          </a:p>
          <a:p>
            <a:pPr marL="355600" marR="19685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sz="24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relationship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has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been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formalised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and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validated.</a:t>
            </a:r>
            <a:endParaRPr sz="2400">
              <a:latin typeface="Arial MT"/>
              <a:cs typeface="Arial MT"/>
            </a:endParaRPr>
          </a:p>
          <a:p>
            <a:pPr marL="355600" marR="640715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difficult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relate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what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measured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to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desirable</a:t>
            </a:r>
            <a:r>
              <a:rPr sz="24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external</a:t>
            </a:r>
            <a:r>
              <a:rPr sz="2400" spc="-10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4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attributes.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Relationships</a:t>
            </a:r>
            <a:r>
              <a:rPr spc="-40" dirty="0"/>
              <a:t> </a:t>
            </a:r>
            <a:r>
              <a:rPr dirty="0"/>
              <a:t>between</a:t>
            </a:r>
            <a:r>
              <a:rPr spc="-65" dirty="0"/>
              <a:t> </a:t>
            </a:r>
            <a:r>
              <a:rPr dirty="0"/>
              <a:t>internal</a:t>
            </a:r>
            <a:r>
              <a:rPr spc="-5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external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software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0" dirty="0"/>
              <a:t> </a:t>
            </a:r>
            <a:r>
              <a:rPr dirty="0"/>
              <a:t>24 Quality</a:t>
            </a:r>
            <a:r>
              <a:rPr spc="-2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pic>
        <p:nvPicPr>
          <p:cNvPr id="3" name="object 3" descr="24.10 IntExtAttributes.ep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2318" y="1622542"/>
            <a:ext cx="6744226" cy="450361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" y="427"/>
            <a:ext cx="9143428" cy="685757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Problems</a:t>
            </a:r>
            <a:r>
              <a:rPr spc="-60" dirty="0"/>
              <a:t> </a:t>
            </a:r>
            <a:r>
              <a:rPr dirty="0"/>
              <a:t>with</a:t>
            </a:r>
            <a:r>
              <a:rPr spc="-100" dirty="0"/>
              <a:t> </a:t>
            </a:r>
            <a:r>
              <a:rPr dirty="0"/>
              <a:t>measurement</a:t>
            </a:r>
            <a:r>
              <a:rPr spc="-40" dirty="0"/>
              <a:t> </a:t>
            </a:r>
            <a:r>
              <a:rPr dirty="0"/>
              <a:t>in</a:t>
            </a:r>
            <a:r>
              <a:rPr spc="-75" dirty="0"/>
              <a:t> </a:t>
            </a:r>
            <a:r>
              <a:rPr spc="-10" dirty="0"/>
              <a:t>industry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981315" cy="4658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"/>
              <a:tabLst>
                <a:tab pos="354965" algn="l"/>
              </a:tabLst>
            </a:pP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sz="22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2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impossible</a:t>
            </a:r>
            <a:r>
              <a:rPr sz="22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2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quantify</a:t>
            </a:r>
            <a:r>
              <a:rPr sz="22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2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return</a:t>
            </a:r>
            <a:r>
              <a:rPr sz="22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sz="22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investment</a:t>
            </a:r>
            <a:r>
              <a:rPr sz="22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endParaRPr sz="22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introducing</a:t>
            </a:r>
            <a:r>
              <a:rPr sz="22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sz="22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6424D"/>
                </a:solidFill>
                <a:latin typeface="Arial MT"/>
                <a:cs typeface="Arial MT"/>
              </a:rPr>
              <a:t>organizational</a:t>
            </a:r>
            <a:r>
              <a:rPr sz="22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metrics</a:t>
            </a:r>
            <a:r>
              <a:rPr sz="22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6424D"/>
                </a:solidFill>
                <a:latin typeface="Arial MT"/>
                <a:cs typeface="Arial MT"/>
              </a:rPr>
              <a:t>program.</a:t>
            </a:r>
            <a:endParaRPr sz="2200">
              <a:latin typeface="Arial MT"/>
              <a:cs typeface="Arial MT"/>
            </a:endParaRPr>
          </a:p>
          <a:p>
            <a:pPr marL="355600" marR="188595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There</a:t>
            </a:r>
            <a:r>
              <a:rPr sz="22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2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no</a:t>
            </a:r>
            <a:r>
              <a:rPr sz="22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sz="22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2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2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metrics</a:t>
            </a:r>
            <a:r>
              <a:rPr sz="22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sz="22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6424D"/>
                </a:solidFill>
                <a:latin typeface="Arial MT"/>
                <a:cs typeface="Arial MT"/>
              </a:rPr>
              <a:t>standardized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processes</a:t>
            </a:r>
            <a:r>
              <a:rPr sz="22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2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measurement</a:t>
            </a:r>
            <a:r>
              <a:rPr sz="22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2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6424D"/>
                </a:solidFill>
                <a:latin typeface="Arial MT"/>
                <a:cs typeface="Arial MT"/>
              </a:rPr>
              <a:t>analysis.</a:t>
            </a:r>
            <a:endParaRPr sz="22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2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many</a:t>
            </a:r>
            <a:r>
              <a:rPr sz="22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companies,</a:t>
            </a:r>
            <a:r>
              <a:rPr sz="22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2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processes</a:t>
            </a:r>
            <a:r>
              <a:rPr sz="22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2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not</a:t>
            </a:r>
            <a:r>
              <a:rPr sz="22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6424D"/>
                </a:solidFill>
                <a:latin typeface="Arial MT"/>
                <a:cs typeface="Arial MT"/>
              </a:rPr>
              <a:t>standardized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2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2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poorly</a:t>
            </a:r>
            <a:r>
              <a:rPr sz="22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defined</a:t>
            </a:r>
            <a:r>
              <a:rPr sz="22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2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6424D"/>
                </a:solidFill>
                <a:latin typeface="Arial MT"/>
                <a:cs typeface="Arial MT"/>
              </a:rPr>
              <a:t>controlled.</a:t>
            </a:r>
            <a:endParaRPr sz="2200">
              <a:latin typeface="Arial MT"/>
              <a:cs typeface="Arial MT"/>
            </a:endParaRPr>
          </a:p>
          <a:p>
            <a:pPr marL="355600" marR="27686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Most</a:t>
            </a:r>
            <a:r>
              <a:rPr sz="22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work</a:t>
            </a:r>
            <a:r>
              <a:rPr sz="22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sz="22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2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measurement</a:t>
            </a:r>
            <a:r>
              <a:rPr sz="22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has</a:t>
            </a:r>
            <a:r>
              <a:rPr sz="22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focused</a:t>
            </a:r>
            <a:r>
              <a:rPr sz="22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sz="22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6424D"/>
                </a:solidFill>
                <a:latin typeface="Arial MT"/>
                <a:cs typeface="Arial MT"/>
              </a:rPr>
              <a:t>code-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based</a:t>
            </a:r>
            <a:r>
              <a:rPr sz="22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metrics</a:t>
            </a:r>
            <a:r>
              <a:rPr sz="22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2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6424D"/>
                </a:solidFill>
                <a:latin typeface="Arial MT"/>
                <a:cs typeface="Arial MT"/>
              </a:rPr>
              <a:t>plan-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driven</a:t>
            </a:r>
            <a:r>
              <a:rPr sz="22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sz="22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6424D"/>
                </a:solidFill>
                <a:latin typeface="Arial MT"/>
                <a:cs typeface="Arial MT"/>
              </a:rPr>
              <a:t>processes. However,</a:t>
            </a:r>
            <a:r>
              <a:rPr sz="22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more</a:t>
            </a:r>
            <a:r>
              <a:rPr sz="22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2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more</a:t>
            </a:r>
            <a:r>
              <a:rPr sz="22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2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2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now</a:t>
            </a:r>
            <a:r>
              <a:rPr sz="22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developed</a:t>
            </a:r>
            <a:r>
              <a:rPr sz="22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46424D"/>
                </a:solidFill>
                <a:latin typeface="Arial MT"/>
                <a:cs typeface="Arial MT"/>
              </a:rPr>
              <a:t>by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configuring</a:t>
            </a:r>
            <a:r>
              <a:rPr sz="22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ERP</a:t>
            </a:r>
            <a:r>
              <a:rPr sz="22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systems</a:t>
            </a:r>
            <a:r>
              <a:rPr sz="22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sz="22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6424D"/>
                </a:solidFill>
                <a:latin typeface="Arial MT"/>
                <a:cs typeface="Arial MT"/>
              </a:rPr>
              <a:t>COTS.</a:t>
            </a: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4965" algn="l"/>
              </a:tabLst>
            </a:pP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Introducing</a:t>
            </a:r>
            <a:r>
              <a:rPr sz="22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measurement</a:t>
            </a:r>
            <a:r>
              <a:rPr sz="22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adds</a:t>
            </a:r>
            <a:r>
              <a:rPr sz="22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additional</a:t>
            </a:r>
            <a:r>
              <a:rPr sz="22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24D"/>
                </a:solidFill>
                <a:latin typeface="Arial MT"/>
                <a:cs typeface="Arial MT"/>
              </a:rPr>
              <a:t>overhead</a:t>
            </a:r>
            <a:r>
              <a:rPr sz="22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endParaRPr sz="22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200" spc="-10" dirty="0">
                <a:solidFill>
                  <a:srgbClr val="46424D"/>
                </a:solidFill>
                <a:latin typeface="Arial MT"/>
                <a:cs typeface="Arial MT"/>
              </a:rPr>
              <a:t>processes.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Product</a:t>
            </a:r>
            <a:r>
              <a:rPr spc="-20" dirty="0"/>
              <a:t> </a:t>
            </a:r>
            <a:r>
              <a:rPr spc="-10" dirty="0"/>
              <a:t>metrics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73438"/>
            <a:ext cx="8015605" cy="354012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1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metric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predictor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product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quality.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Classes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product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metric</a:t>
            </a:r>
            <a:endParaRPr sz="24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Dynamic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metrics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which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collected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by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measurements</a:t>
            </a:r>
            <a:r>
              <a:rPr sz="20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made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endParaRPr sz="2000">
              <a:latin typeface="Arial MT"/>
              <a:cs typeface="Arial MT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program</a:t>
            </a:r>
            <a:r>
              <a:rPr sz="20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execution;</a:t>
            </a:r>
            <a:endParaRPr sz="2000">
              <a:latin typeface="Arial MT"/>
              <a:cs typeface="Arial MT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Static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metrics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which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collected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by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measurements</a:t>
            </a:r>
            <a:r>
              <a:rPr sz="20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made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representations;</a:t>
            </a:r>
            <a:endParaRPr sz="20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Dynamic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metrics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help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assess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efficiency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reliability</a:t>
            </a:r>
            <a:endParaRPr sz="2000">
              <a:latin typeface="Arial MT"/>
              <a:cs typeface="Arial MT"/>
            </a:endParaRPr>
          </a:p>
          <a:p>
            <a:pPr marL="756285" marR="508634" lvl="1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Static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metrics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help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assess</a:t>
            </a:r>
            <a:r>
              <a:rPr sz="20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complexity,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understandability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and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maintainability.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-45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dirty="0"/>
              <a:t>static</a:t>
            </a:r>
            <a:r>
              <a:rPr spc="-70" dirty="0"/>
              <a:t> </a:t>
            </a:r>
            <a:r>
              <a:rPr spc="-10" dirty="0"/>
              <a:t>metrics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/>
              <a:t>Dynamic</a:t>
            </a:r>
            <a:r>
              <a:rPr spc="-45" dirty="0"/>
              <a:t> </a:t>
            </a:r>
            <a:r>
              <a:rPr dirty="0"/>
              <a:t>metrics</a:t>
            </a:r>
            <a:r>
              <a:rPr spc="-65" dirty="0"/>
              <a:t> </a:t>
            </a:r>
            <a:r>
              <a:rPr dirty="0"/>
              <a:t>are</a:t>
            </a:r>
            <a:r>
              <a:rPr spc="-55" dirty="0"/>
              <a:t> </a:t>
            </a:r>
            <a:r>
              <a:rPr dirty="0"/>
              <a:t>closely</a:t>
            </a:r>
            <a:r>
              <a:rPr spc="-30" dirty="0"/>
              <a:t> </a:t>
            </a:r>
            <a:r>
              <a:rPr dirty="0"/>
              <a:t>related</a:t>
            </a:r>
            <a:r>
              <a:rPr spc="-45" dirty="0"/>
              <a:t> </a:t>
            </a:r>
            <a:r>
              <a:rPr dirty="0"/>
              <a:t>to</a:t>
            </a:r>
            <a:r>
              <a:rPr spc="-75" dirty="0"/>
              <a:t> </a:t>
            </a:r>
            <a:r>
              <a:rPr dirty="0"/>
              <a:t>software</a:t>
            </a:r>
            <a:r>
              <a:rPr spc="-50" dirty="0"/>
              <a:t> </a:t>
            </a:r>
            <a:r>
              <a:rPr spc="-10" dirty="0"/>
              <a:t>quality</a:t>
            </a:r>
          </a:p>
          <a:p>
            <a:pPr marL="355600">
              <a:lnSpc>
                <a:spcPct val="100000"/>
              </a:lnSpc>
            </a:pPr>
            <a:r>
              <a:rPr spc="-10" dirty="0"/>
              <a:t>attributes</a:t>
            </a:r>
          </a:p>
          <a:p>
            <a:pPr marL="756285" marR="282575" lvl="1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0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relatively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easy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measure</a:t>
            </a:r>
            <a:r>
              <a:rPr sz="20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response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time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system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(performance</a:t>
            </a:r>
            <a:r>
              <a:rPr sz="20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attribute)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number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failures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(reliability attribute).</a:t>
            </a:r>
            <a:endParaRPr sz="2000">
              <a:latin typeface="Arial MT"/>
              <a:cs typeface="Arial MT"/>
            </a:endParaRPr>
          </a:p>
          <a:p>
            <a:pPr marL="355600" marR="244475" indent="-342900">
              <a:lnSpc>
                <a:spcPct val="100000"/>
              </a:lnSpc>
              <a:spcBef>
                <a:spcPts val="9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/>
              <a:t>Static</a:t>
            </a:r>
            <a:r>
              <a:rPr spc="-75" dirty="0"/>
              <a:t> </a:t>
            </a:r>
            <a:r>
              <a:rPr dirty="0"/>
              <a:t>metrics</a:t>
            </a:r>
            <a:r>
              <a:rPr spc="-75" dirty="0"/>
              <a:t> </a:t>
            </a:r>
            <a:r>
              <a:rPr dirty="0"/>
              <a:t>have</a:t>
            </a:r>
            <a:r>
              <a:rPr spc="-60" dirty="0"/>
              <a:t> </a:t>
            </a:r>
            <a:r>
              <a:rPr dirty="0"/>
              <a:t>an</a:t>
            </a:r>
            <a:r>
              <a:rPr spc="-65" dirty="0"/>
              <a:t> </a:t>
            </a:r>
            <a:r>
              <a:rPr dirty="0"/>
              <a:t>indirect</a:t>
            </a:r>
            <a:r>
              <a:rPr spc="-50" dirty="0"/>
              <a:t> </a:t>
            </a:r>
            <a:r>
              <a:rPr dirty="0"/>
              <a:t>relationship</a:t>
            </a:r>
            <a:r>
              <a:rPr spc="-30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spc="-10" dirty="0"/>
              <a:t>quality attributes</a:t>
            </a:r>
          </a:p>
          <a:p>
            <a:pPr marL="756285" marR="5080" lvl="1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You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need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try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derive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relationship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between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metrics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properties</a:t>
            </a:r>
            <a:r>
              <a:rPr sz="20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such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complexity,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understandability</a:t>
            </a:r>
            <a:r>
              <a:rPr sz="20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and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maintainability.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983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dirty="0"/>
              <a:t>Static</a:t>
            </a:r>
            <a:r>
              <a:rPr spc="-30" dirty="0"/>
              <a:t> </a:t>
            </a:r>
            <a:r>
              <a:rPr dirty="0"/>
              <a:t>software</a:t>
            </a:r>
            <a:r>
              <a:rPr spc="-55" dirty="0"/>
              <a:t> </a:t>
            </a:r>
            <a:r>
              <a:rPr dirty="0"/>
              <a:t>product</a:t>
            </a:r>
            <a:r>
              <a:rPr spc="-25" dirty="0"/>
              <a:t> </a:t>
            </a:r>
            <a:r>
              <a:rPr spc="-10" dirty="0"/>
              <a:t>metrics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55650" y="1852929"/>
          <a:ext cx="7543800" cy="426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1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1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Software</a:t>
                      </a:r>
                      <a:r>
                        <a:rPr sz="16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metric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Description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54610">
                        <a:lnSpc>
                          <a:spcPts val="1885"/>
                        </a:lnSpc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Fan-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in/Fan-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out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54610" marR="45720" algn="just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Fan-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600" spc="12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600" spc="125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600" spc="12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measure</a:t>
                      </a:r>
                      <a:r>
                        <a:rPr sz="1600" spc="125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13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125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600" spc="13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13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functions</a:t>
                      </a:r>
                      <a:r>
                        <a:rPr sz="1600" spc="125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or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methods</a:t>
                      </a:r>
                      <a:r>
                        <a:rPr sz="1600" spc="43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that</a:t>
                      </a:r>
                      <a:r>
                        <a:rPr sz="1600" spc="4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call</a:t>
                      </a:r>
                      <a:r>
                        <a:rPr sz="1600" spc="4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another</a:t>
                      </a:r>
                      <a:r>
                        <a:rPr sz="1600" spc="4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function</a:t>
                      </a:r>
                      <a:r>
                        <a:rPr sz="1600" spc="4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1600" spc="4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method</a:t>
                      </a:r>
                      <a:r>
                        <a:rPr sz="1600" spc="4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(say</a:t>
                      </a:r>
                      <a:r>
                        <a:rPr sz="1600" spc="4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X).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Fan-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out</a:t>
                      </a:r>
                      <a:r>
                        <a:rPr sz="1600" spc="4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600" spc="4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48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600" spc="4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4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functions</a:t>
                      </a:r>
                      <a:r>
                        <a:rPr sz="1600" spc="4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that</a:t>
                      </a:r>
                      <a:r>
                        <a:rPr sz="1600" spc="4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1600" spc="4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called</a:t>
                      </a:r>
                      <a:r>
                        <a:rPr sz="1600" spc="4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by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54610" marR="45720" algn="just">
                        <a:lnSpc>
                          <a:spcPts val="192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function</a:t>
                      </a:r>
                      <a:r>
                        <a:rPr sz="1600" spc="1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X.</a:t>
                      </a:r>
                      <a:r>
                        <a:rPr sz="1600" spc="1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600" spc="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high</a:t>
                      </a:r>
                      <a:r>
                        <a:rPr sz="1600" spc="1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value</a:t>
                      </a:r>
                      <a:r>
                        <a:rPr sz="1600" spc="1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600" spc="1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fan-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600" spc="1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means</a:t>
                      </a:r>
                      <a:r>
                        <a:rPr sz="1600" spc="1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that</a:t>
                      </a:r>
                      <a:r>
                        <a:rPr sz="1600" spc="1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600" spc="1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600" spc="1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tightly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coupled</a:t>
                      </a:r>
                      <a:r>
                        <a:rPr sz="1600" spc="2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600" spc="2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2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rest</a:t>
                      </a:r>
                      <a:r>
                        <a:rPr sz="1600" spc="2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2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2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design</a:t>
                      </a:r>
                      <a:r>
                        <a:rPr sz="1600" spc="2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600" spc="2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changes</a:t>
                      </a:r>
                      <a:r>
                        <a:rPr sz="1600" spc="2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600" spc="2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600" spc="2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will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have</a:t>
                      </a:r>
                      <a:r>
                        <a:rPr sz="1600" spc="1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extensive</a:t>
                      </a:r>
                      <a:r>
                        <a:rPr sz="1600" spc="1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knock-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on</a:t>
                      </a:r>
                      <a:r>
                        <a:rPr sz="1600" spc="1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effects.</a:t>
                      </a:r>
                      <a:r>
                        <a:rPr sz="1600" spc="1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600" spc="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high</a:t>
                      </a:r>
                      <a:r>
                        <a:rPr sz="1600" spc="1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value</a:t>
                      </a:r>
                      <a:r>
                        <a:rPr sz="1600" spc="1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600" spc="1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fan-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out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suggests</a:t>
                      </a:r>
                      <a:r>
                        <a:rPr sz="1600" spc="3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that</a:t>
                      </a:r>
                      <a:r>
                        <a:rPr sz="1600" spc="3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3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overall</a:t>
                      </a:r>
                      <a:r>
                        <a:rPr sz="1600" spc="3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complexity</a:t>
                      </a:r>
                      <a:r>
                        <a:rPr sz="1600" spc="3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3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600" spc="3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may</a:t>
                      </a:r>
                      <a:r>
                        <a:rPr sz="1600" spc="3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1600" spc="3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high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because</a:t>
                      </a:r>
                      <a:r>
                        <a:rPr sz="1600" spc="1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1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19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complexity</a:t>
                      </a:r>
                      <a:r>
                        <a:rPr sz="1600" spc="1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1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1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control</a:t>
                      </a:r>
                      <a:r>
                        <a:rPr sz="1600" spc="1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logic</a:t>
                      </a:r>
                      <a:r>
                        <a:rPr sz="1600" spc="1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needed</a:t>
                      </a:r>
                      <a:r>
                        <a:rPr sz="1600" spc="1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to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54610" algn="just">
                        <a:lnSpc>
                          <a:spcPts val="1860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coordinate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called</a:t>
                      </a:r>
                      <a:r>
                        <a:rPr sz="16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components.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marL="54610">
                        <a:lnSpc>
                          <a:spcPts val="1889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Length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code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54610" marR="48260" algn="just">
                        <a:lnSpc>
                          <a:spcPts val="1920"/>
                        </a:lnSpc>
                        <a:spcBef>
                          <a:spcPts val="3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This</a:t>
                      </a:r>
                      <a:r>
                        <a:rPr sz="16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60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6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measure</a:t>
                      </a:r>
                      <a:r>
                        <a:rPr sz="160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size</a:t>
                      </a:r>
                      <a:r>
                        <a:rPr sz="16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600" spc="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program.</a:t>
                      </a:r>
                      <a:r>
                        <a:rPr sz="1600" spc="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Generally,</a:t>
                      </a:r>
                      <a:r>
                        <a:rPr sz="1600" spc="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the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larger</a:t>
                      </a:r>
                      <a:r>
                        <a:rPr sz="1600" spc="4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4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size</a:t>
                      </a:r>
                      <a:r>
                        <a:rPr sz="1600" spc="4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4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4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code</a:t>
                      </a:r>
                      <a:r>
                        <a:rPr sz="1600" spc="4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4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600" spc="4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component,</a:t>
                      </a:r>
                      <a:r>
                        <a:rPr sz="1600" spc="4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409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more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complex</a:t>
                      </a:r>
                      <a:r>
                        <a:rPr sz="1600" spc="25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600" spc="25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error-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prone</a:t>
                      </a:r>
                      <a:r>
                        <a:rPr sz="1600" spc="2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that</a:t>
                      </a:r>
                      <a:r>
                        <a:rPr sz="1600" spc="2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component</a:t>
                      </a:r>
                      <a:r>
                        <a:rPr sz="1600" spc="2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600" spc="2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likely</a:t>
                      </a:r>
                      <a:r>
                        <a:rPr sz="1600" spc="25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600" spc="2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be.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Length</a:t>
                      </a:r>
                      <a:r>
                        <a:rPr sz="1600" spc="2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2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code</a:t>
                      </a:r>
                      <a:r>
                        <a:rPr sz="1600" spc="2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has</a:t>
                      </a:r>
                      <a:r>
                        <a:rPr sz="1600" spc="2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been</a:t>
                      </a:r>
                      <a:r>
                        <a:rPr sz="1600" spc="2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shown</a:t>
                      </a:r>
                      <a:r>
                        <a:rPr sz="1600" spc="2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600" spc="2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1600" spc="2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one</a:t>
                      </a:r>
                      <a:r>
                        <a:rPr sz="1600" spc="2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2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2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most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54610" marR="43815" algn="just">
                        <a:lnSpc>
                          <a:spcPts val="192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reliable</a:t>
                      </a:r>
                      <a:r>
                        <a:rPr sz="1600" spc="495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metrics</a:t>
                      </a:r>
                      <a:r>
                        <a:rPr sz="1600" spc="185" dirty="0">
                          <a:latin typeface="Arial MT"/>
                          <a:cs typeface="Arial MT"/>
                        </a:rPr>
                        <a:t> 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600" spc="180" dirty="0">
                          <a:latin typeface="Arial MT"/>
                          <a:cs typeface="Arial MT"/>
                        </a:rPr>
                        <a:t> 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predicting</a:t>
                      </a:r>
                      <a:r>
                        <a:rPr sz="1600" spc="185" dirty="0">
                          <a:latin typeface="Arial MT"/>
                          <a:cs typeface="Arial MT"/>
                        </a:rPr>
                        <a:t>  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error-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proneness</a:t>
                      </a:r>
                      <a:r>
                        <a:rPr sz="1600" spc="185" dirty="0">
                          <a:latin typeface="Arial MT"/>
                          <a:cs typeface="Arial MT"/>
                        </a:rPr>
                        <a:t>  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in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components.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dirty="0"/>
              <a:t>Static</a:t>
            </a:r>
            <a:r>
              <a:rPr spc="-30" dirty="0"/>
              <a:t> </a:t>
            </a:r>
            <a:r>
              <a:rPr dirty="0"/>
              <a:t>software</a:t>
            </a:r>
            <a:r>
              <a:rPr spc="-55" dirty="0"/>
              <a:t> </a:t>
            </a:r>
            <a:r>
              <a:rPr dirty="0"/>
              <a:t>product</a:t>
            </a:r>
            <a:r>
              <a:rPr spc="-25" dirty="0"/>
              <a:t> </a:t>
            </a:r>
            <a:r>
              <a:rPr spc="-10" dirty="0"/>
              <a:t>metrics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08050" y="1670050"/>
          <a:ext cx="7392034" cy="4693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8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3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Software</a:t>
                      </a:r>
                      <a:r>
                        <a:rPr sz="1600" b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metric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Description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54610">
                        <a:lnSpc>
                          <a:spcPts val="1885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Cyclomatic</a:t>
                      </a:r>
                      <a:r>
                        <a:rPr sz="16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complexity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54610" marR="46990" algn="just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This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measure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control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complexity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 a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program.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This</a:t>
                      </a:r>
                      <a:r>
                        <a:rPr sz="1600" spc="12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control</a:t>
                      </a:r>
                      <a:r>
                        <a:rPr sz="1600" spc="125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complexity</a:t>
                      </a:r>
                      <a:r>
                        <a:rPr sz="1600" spc="114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may</a:t>
                      </a:r>
                      <a:r>
                        <a:rPr sz="1600" spc="12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1600" spc="12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related</a:t>
                      </a:r>
                      <a:r>
                        <a:rPr sz="1600" spc="125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600" spc="12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program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understandability.</a:t>
                      </a:r>
                      <a:r>
                        <a:rPr sz="1600" spc="11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</a:t>
                      </a:r>
                      <a:r>
                        <a:rPr sz="1600" spc="11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discuss</a:t>
                      </a:r>
                      <a:r>
                        <a:rPr sz="1600" spc="114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cyclomatic</a:t>
                      </a:r>
                      <a:r>
                        <a:rPr sz="1600" spc="12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complexity</a:t>
                      </a:r>
                      <a:r>
                        <a:rPr sz="1600" spc="105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in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Chapter</a:t>
                      </a:r>
                      <a:r>
                        <a:rPr sz="16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8.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0640">
                <a:tc>
                  <a:txBody>
                    <a:bodyPr/>
                    <a:lstStyle/>
                    <a:p>
                      <a:pPr marL="54610">
                        <a:lnSpc>
                          <a:spcPts val="1885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Length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identifiers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54610" marR="45085" algn="just">
                        <a:lnSpc>
                          <a:spcPts val="1920"/>
                        </a:lnSpc>
                        <a:spcBef>
                          <a:spcPts val="3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This</a:t>
                      </a:r>
                      <a:r>
                        <a:rPr sz="1600" spc="3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600" spc="3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600" spc="3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measure</a:t>
                      </a:r>
                      <a:r>
                        <a:rPr sz="1600" spc="3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3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3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average</a:t>
                      </a:r>
                      <a:r>
                        <a:rPr sz="1600" spc="3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length</a:t>
                      </a:r>
                      <a:r>
                        <a:rPr sz="1600" spc="3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3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identifiers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(names</a:t>
                      </a:r>
                      <a:r>
                        <a:rPr sz="1600" spc="165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600" spc="17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variables,</a:t>
                      </a:r>
                      <a:r>
                        <a:rPr sz="1600" spc="17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classes,</a:t>
                      </a:r>
                      <a:r>
                        <a:rPr sz="1600" spc="17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methods,</a:t>
                      </a:r>
                      <a:r>
                        <a:rPr sz="1600" spc="17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etc.)</a:t>
                      </a:r>
                      <a:r>
                        <a:rPr sz="1600" spc="17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600" spc="17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a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program.</a:t>
                      </a:r>
                      <a:r>
                        <a:rPr sz="1600" spc="1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1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longer</a:t>
                      </a:r>
                      <a:r>
                        <a:rPr sz="1600" spc="1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1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identifiers,</a:t>
                      </a:r>
                      <a:r>
                        <a:rPr sz="1600" spc="1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1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more</a:t>
                      </a:r>
                      <a:r>
                        <a:rPr sz="1600" spc="1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likely</a:t>
                      </a:r>
                      <a:r>
                        <a:rPr sz="1600" spc="1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they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1600" spc="229" dirty="0">
                          <a:latin typeface="Arial MT"/>
                          <a:cs typeface="Arial MT"/>
                        </a:rPr>
                        <a:t> 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600" spc="229" dirty="0">
                          <a:latin typeface="Arial MT"/>
                          <a:cs typeface="Arial MT"/>
                        </a:rPr>
                        <a:t> 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1600" spc="235" dirty="0">
                          <a:latin typeface="Arial MT"/>
                          <a:cs typeface="Arial MT"/>
                        </a:rPr>
                        <a:t> 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meaningful</a:t>
                      </a:r>
                      <a:r>
                        <a:rPr sz="1600" spc="235" dirty="0">
                          <a:latin typeface="Arial MT"/>
                          <a:cs typeface="Arial MT"/>
                        </a:rPr>
                        <a:t> 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600" spc="235" dirty="0">
                          <a:latin typeface="Arial MT"/>
                          <a:cs typeface="Arial MT"/>
                        </a:rPr>
                        <a:t> 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hence</a:t>
                      </a:r>
                      <a:r>
                        <a:rPr sz="1600" spc="229" dirty="0">
                          <a:latin typeface="Arial MT"/>
                          <a:cs typeface="Arial MT"/>
                        </a:rPr>
                        <a:t> 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235" dirty="0">
                          <a:latin typeface="Arial MT"/>
                          <a:cs typeface="Arial MT"/>
                        </a:rPr>
                        <a:t>  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more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54610" algn="just">
                        <a:lnSpc>
                          <a:spcPts val="1860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understandable</a:t>
                      </a:r>
                      <a:r>
                        <a:rPr sz="16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program.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marL="54610" marR="278765">
                        <a:lnSpc>
                          <a:spcPts val="1920"/>
                        </a:lnSpc>
                        <a:spcBef>
                          <a:spcPts val="3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Depth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conditional nesting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54610" marR="49530" algn="just">
                        <a:lnSpc>
                          <a:spcPts val="1920"/>
                        </a:lnSpc>
                        <a:spcBef>
                          <a:spcPts val="3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This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is a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measure of</a:t>
                      </a:r>
                      <a:r>
                        <a:rPr sz="16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depth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nesting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if-statements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600" spc="2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600" spc="2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program.</a:t>
                      </a:r>
                      <a:r>
                        <a:rPr sz="1600" spc="2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Deeply</a:t>
                      </a:r>
                      <a:r>
                        <a:rPr sz="1600" spc="2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nested</a:t>
                      </a:r>
                      <a:r>
                        <a:rPr sz="1600" spc="29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if-statements</a:t>
                      </a:r>
                      <a:r>
                        <a:rPr sz="1600" spc="3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1600" spc="3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hard</a:t>
                      </a:r>
                      <a:r>
                        <a:rPr sz="1600" spc="2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to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understand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potentially</a:t>
                      </a:r>
                      <a:r>
                        <a:rPr sz="16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error-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prone.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54610">
                        <a:lnSpc>
                          <a:spcPts val="1889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Fog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index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54610" marR="46355">
                        <a:lnSpc>
                          <a:spcPts val="1920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This</a:t>
                      </a:r>
                      <a:r>
                        <a:rPr sz="1600" spc="2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600" spc="2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600" spc="25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measure</a:t>
                      </a:r>
                      <a:r>
                        <a:rPr sz="1600" spc="2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2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25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average</a:t>
                      </a:r>
                      <a:r>
                        <a:rPr sz="1600" spc="2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length</a:t>
                      </a:r>
                      <a:r>
                        <a:rPr sz="1600" spc="2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2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words</a:t>
                      </a:r>
                      <a:r>
                        <a:rPr sz="1600" spc="2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sentences</a:t>
                      </a:r>
                      <a:r>
                        <a:rPr sz="1600" spc="5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600" spc="5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documents.</a:t>
                      </a:r>
                      <a:r>
                        <a:rPr sz="1600" spc="55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6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higher</a:t>
                      </a:r>
                      <a:r>
                        <a:rPr sz="1600" spc="5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6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value</a:t>
                      </a:r>
                      <a:r>
                        <a:rPr sz="1600" spc="5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55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a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54610" marR="47625">
                        <a:lnSpc>
                          <a:spcPts val="1920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document’s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Fog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index,</a:t>
                      </a:r>
                      <a:r>
                        <a:rPr sz="16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more</a:t>
                      </a:r>
                      <a:r>
                        <a:rPr sz="16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difficult</a:t>
                      </a:r>
                      <a:r>
                        <a:rPr sz="16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document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is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understand.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dirty="0"/>
              <a:t>CK</a:t>
            </a:r>
            <a:r>
              <a:rPr spc="-25" dirty="0"/>
              <a:t> </a:t>
            </a:r>
            <a:r>
              <a:rPr spc="-10" dirty="0"/>
              <a:t>object-</a:t>
            </a:r>
            <a:r>
              <a:rPr dirty="0"/>
              <a:t>oriented</a:t>
            </a:r>
            <a:r>
              <a:rPr spc="-45" dirty="0"/>
              <a:t> </a:t>
            </a:r>
            <a:r>
              <a:rPr dirty="0"/>
              <a:t>metrics</a:t>
            </a:r>
            <a:r>
              <a:rPr spc="-25" dirty="0"/>
              <a:t> </a:t>
            </a:r>
            <a:r>
              <a:rPr spc="-10" dirty="0"/>
              <a:t>suite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4650" y="1822450"/>
          <a:ext cx="8229600" cy="4297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1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7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73025" marR="34036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Object-oriented metric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Description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73025" marR="171450">
                        <a:lnSpc>
                          <a:spcPts val="1680"/>
                        </a:lnSpc>
                        <a:spcBef>
                          <a:spcPts val="1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Weighted</a:t>
                      </a:r>
                      <a:r>
                        <a:rPr sz="14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methods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class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(WMC)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62230" algn="just">
                        <a:lnSpc>
                          <a:spcPts val="1680"/>
                        </a:lnSpc>
                        <a:spcBef>
                          <a:spcPts val="1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This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methods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each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class, weighted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by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complexity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each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method.</a:t>
                      </a:r>
                      <a:r>
                        <a:rPr sz="1400" spc="1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Therefore,</a:t>
                      </a:r>
                      <a:r>
                        <a:rPr sz="1400" spc="1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400" spc="1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simple</a:t>
                      </a:r>
                      <a:r>
                        <a:rPr sz="1400" spc="1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method</a:t>
                      </a:r>
                      <a:r>
                        <a:rPr sz="1400" spc="1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may</a:t>
                      </a:r>
                      <a:r>
                        <a:rPr sz="1400" spc="1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have</a:t>
                      </a:r>
                      <a:r>
                        <a:rPr sz="1400" spc="1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400" spc="1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complexity</a:t>
                      </a:r>
                      <a:r>
                        <a:rPr sz="1400" spc="1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1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1,</a:t>
                      </a:r>
                      <a:r>
                        <a:rPr sz="1400" spc="1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1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400" spc="1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large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9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complex</a:t>
                      </a:r>
                      <a:r>
                        <a:rPr sz="1400" spc="9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method</a:t>
                      </a:r>
                      <a:r>
                        <a:rPr sz="1400" spc="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400" spc="1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much</a:t>
                      </a:r>
                      <a:r>
                        <a:rPr sz="1400" spc="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higher</a:t>
                      </a:r>
                      <a:r>
                        <a:rPr sz="1400" spc="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value.</a:t>
                      </a:r>
                      <a:r>
                        <a:rPr sz="1400" spc="1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400" spc="1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larger</a:t>
                      </a:r>
                      <a:r>
                        <a:rPr sz="1400" spc="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400" spc="1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value</a:t>
                      </a:r>
                      <a:r>
                        <a:rPr sz="1400" spc="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400" spc="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this</a:t>
                      </a:r>
                      <a:r>
                        <a:rPr sz="1400" spc="11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metric,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73025" marR="62230" algn="just">
                        <a:lnSpc>
                          <a:spcPts val="168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more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complex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class.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Complex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objects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more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likely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difficult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400" spc="4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understand.</a:t>
                      </a:r>
                      <a:r>
                        <a:rPr sz="1400" spc="4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They</a:t>
                      </a:r>
                      <a:r>
                        <a:rPr sz="1400" spc="4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may</a:t>
                      </a:r>
                      <a:r>
                        <a:rPr sz="1400" spc="4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not</a:t>
                      </a:r>
                      <a:r>
                        <a:rPr sz="1400" spc="48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1400" spc="4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logically</a:t>
                      </a:r>
                      <a:r>
                        <a:rPr sz="1400" spc="4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cohesive,</a:t>
                      </a:r>
                      <a:r>
                        <a:rPr sz="1400" spc="4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so</a:t>
                      </a:r>
                      <a:r>
                        <a:rPr sz="1400" spc="4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cannot</a:t>
                      </a:r>
                      <a:r>
                        <a:rPr sz="1400" spc="48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1400" spc="4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reused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effectively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as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superclasses</a:t>
                      </a:r>
                      <a:r>
                        <a:rPr sz="1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an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inheritance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tree.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7605">
                <a:tc>
                  <a:txBody>
                    <a:bodyPr/>
                    <a:lstStyle/>
                    <a:p>
                      <a:pPr marL="73025" marR="426720">
                        <a:lnSpc>
                          <a:spcPts val="1680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Depth</a:t>
                      </a:r>
                      <a:r>
                        <a:rPr sz="1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of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inheritance</a:t>
                      </a:r>
                      <a:r>
                        <a:rPr sz="1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tree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73025">
                        <a:lnSpc>
                          <a:spcPts val="1625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(DIT)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62230" algn="just">
                        <a:lnSpc>
                          <a:spcPts val="1680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This</a:t>
                      </a:r>
                      <a:r>
                        <a:rPr sz="1400" spc="3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represents</a:t>
                      </a:r>
                      <a:r>
                        <a:rPr sz="1400" spc="3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400" spc="3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400" spc="3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3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discrete</a:t>
                      </a:r>
                      <a:r>
                        <a:rPr sz="1400" spc="3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levels</a:t>
                      </a:r>
                      <a:r>
                        <a:rPr sz="1400" spc="3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400" spc="3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400" spc="3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inheritance</a:t>
                      </a:r>
                      <a:r>
                        <a:rPr sz="1400" spc="3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tree</a:t>
                      </a:r>
                      <a:r>
                        <a:rPr sz="1400" spc="3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where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subclasses</a:t>
                      </a:r>
                      <a:r>
                        <a:rPr sz="1400" spc="1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inherit</a:t>
                      </a:r>
                      <a:r>
                        <a:rPr sz="1400" spc="1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attributes</a:t>
                      </a:r>
                      <a:r>
                        <a:rPr sz="1400" spc="1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1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operations</a:t>
                      </a:r>
                      <a:r>
                        <a:rPr sz="1400" spc="1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(methods)</a:t>
                      </a:r>
                      <a:r>
                        <a:rPr sz="1400" spc="1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1400" spc="1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superclasses.</a:t>
                      </a:r>
                      <a:r>
                        <a:rPr sz="1400" spc="1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The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73025" marR="62865" algn="just">
                        <a:lnSpc>
                          <a:spcPts val="168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deeper</a:t>
                      </a:r>
                      <a:r>
                        <a:rPr sz="1400" spc="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400" spc="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inheritance</a:t>
                      </a:r>
                      <a:r>
                        <a:rPr sz="1400" spc="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tree,</a:t>
                      </a:r>
                      <a:r>
                        <a:rPr sz="1400" spc="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400" spc="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more</a:t>
                      </a:r>
                      <a:r>
                        <a:rPr sz="1400" spc="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complex</a:t>
                      </a:r>
                      <a:r>
                        <a:rPr sz="1400" spc="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400" spc="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design.</a:t>
                      </a:r>
                      <a:r>
                        <a:rPr sz="1400" spc="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Many</a:t>
                      </a:r>
                      <a:r>
                        <a:rPr sz="1400" spc="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400" spc="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classes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may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have</a:t>
                      </a:r>
                      <a:r>
                        <a:rPr sz="14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understood to</a:t>
                      </a:r>
                      <a:r>
                        <a:rPr sz="14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understand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object classes</a:t>
                      </a:r>
                      <a:r>
                        <a:rPr sz="14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at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leaves</a:t>
                      </a:r>
                      <a:r>
                        <a:rPr sz="14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the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tree.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8240">
                <a:tc>
                  <a:txBody>
                    <a:bodyPr/>
                    <a:lstStyle/>
                    <a:p>
                      <a:pPr marL="73025" marR="149225">
                        <a:lnSpc>
                          <a:spcPts val="1680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children (NOC)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62230" algn="just">
                        <a:lnSpc>
                          <a:spcPts val="1680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This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measure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immediate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subclasses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class.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It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measures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400" spc="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breadth</a:t>
                      </a:r>
                      <a:r>
                        <a:rPr sz="1400" spc="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400" spc="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class</a:t>
                      </a:r>
                      <a:r>
                        <a:rPr sz="1400" spc="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hierarchy,</a:t>
                      </a:r>
                      <a:r>
                        <a:rPr sz="1400" spc="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whereas</a:t>
                      </a:r>
                      <a:r>
                        <a:rPr sz="1400" spc="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DIT</a:t>
                      </a:r>
                      <a:r>
                        <a:rPr sz="1400" spc="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measures</a:t>
                      </a:r>
                      <a:r>
                        <a:rPr sz="1400" spc="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its</a:t>
                      </a:r>
                      <a:r>
                        <a:rPr sz="1400" spc="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depth.</a:t>
                      </a:r>
                      <a:r>
                        <a:rPr sz="1400" spc="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high</a:t>
                      </a:r>
                      <a:r>
                        <a:rPr sz="1400" spc="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value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400" spc="229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NOC</a:t>
                      </a:r>
                      <a:r>
                        <a:rPr sz="1400" spc="2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may</a:t>
                      </a:r>
                      <a:r>
                        <a:rPr sz="1400" spc="2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indicate</a:t>
                      </a:r>
                      <a:r>
                        <a:rPr sz="1400" spc="2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greater</a:t>
                      </a:r>
                      <a:r>
                        <a:rPr sz="1400" spc="20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reuse.</a:t>
                      </a:r>
                      <a:r>
                        <a:rPr sz="1400" spc="2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It</a:t>
                      </a:r>
                      <a:r>
                        <a:rPr sz="1400" spc="2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may</a:t>
                      </a:r>
                      <a:r>
                        <a:rPr sz="1400" spc="2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mean</a:t>
                      </a:r>
                      <a:r>
                        <a:rPr sz="1400" spc="2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that</a:t>
                      </a:r>
                      <a:r>
                        <a:rPr sz="1400" spc="2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more</a:t>
                      </a:r>
                      <a:r>
                        <a:rPr sz="1400" spc="2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effort</a:t>
                      </a:r>
                      <a:r>
                        <a:rPr sz="1400" spc="2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should</a:t>
                      </a:r>
                      <a:r>
                        <a:rPr sz="1400" spc="2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be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73025" marR="64135" algn="just">
                        <a:lnSpc>
                          <a:spcPts val="168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made</a:t>
                      </a:r>
                      <a:r>
                        <a:rPr sz="1400" spc="3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400" spc="3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validating</a:t>
                      </a:r>
                      <a:r>
                        <a:rPr sz="1400" spc="3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base</a:t>
                      </a:r>
                      <a:r>
                        <a:rPr sz="1400" spc="3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classes</a:t>
                      </a:r>
                      <a:r>
                        <a:rPr sz="1400" spc="3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because</a:t>
                      </a:r>
                      <a:r>
                        <a:rPr sz="1400" spc="3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3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400" spc="3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400" spc="3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3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subclasses</a:t>
                      </a:r>
                      <a:r>
                        <a:rPr sz="1400" spc="3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that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depend</a:t>
                      </a:r>
                      <a:r>
                        <a:rPr sz="1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on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them.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dirty="0"/>
              <a:t>CK</a:t>
            </a:r>
            <a:r>
              <a:rPr spc="-25" dirty="0"/>
              <a:t> </a:t>
            </a:r>
            <a:r>
              <a:rPr spc="-10" dirty="0"/>
              <a:t>object-</a:t>
            </a:r>
            <a:r>
              <a:rPr dirty="0"/>
              <a:t>oriented</a:t>
            </a:r>
            <a:r>
              <a:rPr spc="-45" dirty="0"/>
              <a:t> </a:t>
            </a:r>
            <a:r>
              <a:rPr dirty="0"/>
              <a:t>metrics</a:t>
            </a:r>
            <a:r>
              <a:rPr spc="-25" dirty="0"/>
              <a:t> </a:t>
            </a:r>
            <a:r>
              <a:rPr spc="-10" dirty="0"/>
              <a:t>suite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0850" y="1898650"/>
          <a:ext cx="8229600" cy="3870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1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7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73025" marR="34036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Object-oriented metric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Description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7605">
                <a:tc>
                  <a:txBody>
                    <a:bodyPr/>
                    <a:lstStyle/>
                    <a:p>
                      <a:pPr marL="73025" marR="228600">
                        <a:lnSpc>
                          <a:spcPts val="1680"/>
                        </a:lnSpc>
                        <a:spcBef>
                          <a:spcPts val="1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Coupling</a:t>
                      </a:r>
                      <a:r>
                        <a:rPr sz="14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between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classes (CBO)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62230" algn="just">
                        <a:lnSpc>
                          <a:spcPts val="1680"/>
                        </a:lnSpc>
                        <a:spcBef>
                          <a:spcPts val="1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Classes</a:t>
                      </a:r>
                      <a:r>
                        <a:rPr sz="1400" spc="3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1400" spc="3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coupled</a:t>
                      </a:r>
                      <a:r>
                        <a:rPr sz="1400" spc="3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when</a:t>
                      </a:r>
                      <a:r>
                        <a:rPr sz="1400" spc="3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methods</a:t>
                      </a:r>
                      <a:r>
                        <a:rPr sz="1400" spc="3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400" spc="3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one</a:t>
                      </a:r>
                      <a:r>
                        <a:rPr sz="1400" spc="3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class</a:t>
                      </a:r>
                      <a:r>
                        <a:rPr sz="1400" spc="3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use</a:t>
                      </a:r>
                      <a:r>
                        <a:rPr sz="1400" spc="3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methods</a:t>
                      </a:r>
                      <a:r>
                        <a:rPr sz="1400" spc="3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1400" spc="3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instance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variables</a:t>
                      </a:r>
                      <a:r>
                        <a:rPr sz="1400" spc="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defined</a:t>
                      </a:r>
                      <a:r>
                        <a:rPr sz="1400" spc="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400" spc="11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400" spc="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different</a:t>
                      </a:r>
                      <a:r>
                        <a:rPr sz="1400" spc="1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class.</a:t>
                      </a:r>
                      <a:r>
                        <a:rPr sz="1400" spc="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CBO</a:t>
                      </a:r>
                      <a:r>
                        <a:rPr sz="1400" spc="11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400" spc="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400" spc="11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measure</a:t>
                      </a:r>
                      <a:r>
                        <a:rPr sz="1400" spc="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how</a:t>
                      </a:r>
                      <a:r>
                        <a:rPr sz="1400" spc="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much</a:t>
                      </a:r>
                      <a:r>
                        <a:rPr sz="1400" spc="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coupling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exists.</a:t>
                      </a:r>
                      <a:r>
                        <a:rPr sz="1400" spc="2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400" spc="2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high</a:t>
                      </a:r>
                      <a:r>
                        <a:rPr sz="1400" spc="2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value</a:t>
                      </a:r>
                      <a:r>
                        <a:rPr sz="1400" spc="2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400" spc="2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CBO</a:t>
                      </a:r>
                      <a:r>
                        <a:rPr sz="1400" spc="2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means</a:t>
                      </a:r>
                      <a:r>
                        <a:rPr sz="1400" spc="2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that</a:t>
                      </a:r>
                      <a:r>
                        <a:rPr sz="1400" spc="2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classes</a:t>
                      </a:r>
                      <a:r>
                        <a:rPr sz="1400" spc="2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1400" spc="2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highly</a:t>
                      </a:r>
                      <a:r>
                        <a:rPr sz="1400" spc="2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dependent,</a:t>
                      </a:r>
                      <a:r>
                        <a:rPr sz="1400" spc="2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and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73025" marR="62230" algn="just">
                        <a:lnSpc>
                          <a:spcPts val="168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therefore</a:t>
                      </a:r>
                      <a:r>
                        <a:rPr sz="1400" spc="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it</a:t>
                      </a:r>
                      <a:r>
                        <a:rPr sz="1400" spc="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400" spc="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more</a:t>
                      </a:r>
                      <a:r>
                        <a:rPr sz="1400" spc="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likely</a:t>
                      </a:r>
                      <a:r>
                        <a:rPr sz="1400" spc="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that</a:t>
                      </a:r>
                      <a:r>
                        <a:rPr sz="1400" spc="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changing</a:t>
                      </a:r>
                      <a:r>
                        <a:rPr sz="1400" spc="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one</a:t>
                      </a:r>
                      <a:r>
                        <a:rPr sz="1400" spc="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class</a:t>
                      </a:r>
                      <a:r>
                        <a:rPr sz="1400" spc="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will</a:t>
                      </a:r>
                      <a:r>
                        <a:rPr sz="1400" spc="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affect</a:t>
                      </a:r>
                      <a:r>
                        <a:rPr sz="1400" spc="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other</a:t>
                      </a:r>
                      <a:r>
                        <a:rPr sz="1400" spc="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classes</a:t>
                      </a:r>
                      <a:r>
                        <a:rPr sz="1400" spc="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400" spc="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the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program.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pPr marL="73025" marR="448309">
                        <a:lnSpc>
                          <a:spcPts val="1680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Response</a:t>
                      </a:r>
                      <a:r>
                        <a:rPr sz="1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a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class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(RFC)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62865" algn="just">
                        <a:lnSpc>
                          <a:spcPts val="1680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RFC</a:t>
                      </a:r>
                      <a:r>
                        <a:rPr sz="1400" spc="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400" spc="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400" spc="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measure</a:t>
                      </a:r>
                      <a:r>
                        <a:rPr sz="1400" spc="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400" spc="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400" spc="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methods</a:t>
                      </a:r>
                      <a:r>
                        <a:rPr sz="1400" spc="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that</a:t>
                      </a:r>
                      <a:r>
                        <a:rPr sz="1400" spc="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could</a:t>
                      </a:r>
                      <a:r>
                        <a:rPr sz="1400" spc="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potentially</a:t>
                      </a:r>
                      <a:r>
                        <a:rPr sz="1400" spc="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1400" spc="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executed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400" spc="20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response</a:t>
                      </a:r>
                      <a:r>
                        <a:rPr sz="1400" spc="1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400" spc="1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400" spc="1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message</a:t>
                      </a:r>
                      <a:r>
                        <a:rPr sz="1400" spc="19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received</a:t>
                      </a:r>
                      <a:r>
                        <a:rPr sz="1400" spc="19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by</a:t>
                      </a:r>
                      <a:r>
                        <a:rPr sz="1400" spc="1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an</a:t>
                      </a:r>
                      <a:r>
                        <a:rPr sz="1400" spc="20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400" spc="2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19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that</a:t>
                      </a:r>
                      <a:r>
                        <a:rPr sz="1400" spc="20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class.</a:t>
                      </a:r>
                      <a:r>
                        <a:rPr sz="1400" spc="2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Again,</a:t>
                      </a:r>
                      <a:r>
                        <a:rPr sz="1400" spc="2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RFC</a:t>
                      </a:r>
                      <a:r>
                        <a:rPr sz="1400" spc="2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is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related</a:t>
                      </a:r>
                      <a:r>
                        <a:rPr sz="1400" spc="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400" spc="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complexity.</a:t>
                      </a:r>
                      <a:r>
                        <a:rPr sz="1400" spc="1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400" spc="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higher</a:t>
                      </a:r>
                      <a:r>
                        <a:rPr sz="1400" spc="1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400" spc="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value</a:t>
                      </a:r>
                      <a:r>
                        <a:rPr sz="1400" spc="1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400" spc="11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RFC,</a:t>
                      </a:r>
                      <a:r>
                        <a:rPr sz="1400" spc="1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400" spc="11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more</a:t>
                      </a:r>
                      <a:r>
                        <a:rPr sz="1400" spc="11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complex</a:t>
                      </a:r>
                      <a:r>
                        <a:rPr sz="1400" spc="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400" spc="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class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73025" algn="just">
                        <a:lnSpc>
                          <a:spcPts val="162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hence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more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likely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it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that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it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will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include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errors.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8240">
                <a:tc>
                  <a:txBody>
                    <a:bodyPr/>
                    <a:lstStyle/>
                    <a:p>
                      <a:pPr marL="73025" marR="133350">
                        <a:lnSpc>
                          <a:spcPts val="1680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Lack</a:t>
                      </a:r>
                      <a:r>
                        <a:rPr sz="1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cohesion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in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methods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(LCOM)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62230" algn="just">
                        <a:lnSpc>
                          <a:spcPts val="1680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LCOM</a:t>
                      </a:r>
                      <a:r>
                        <a:rPr sz="1400" spc="1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400" spc="1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calculated</a:t>
                      </a:r>
                      <a:r>
                        <a:rPr sz="1400" spc="1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by</a:t>
                      </a:r>
                      <a:r>
                        <a:rPr sz="1400" spc="1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considering</a:t>
                      </a:r>
                      <a:r>
                        <a:rPr sz="1400" spc="1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pairs</a:t>
                      </a:r>
                      <a:r>
                        <a:rPr sz="1400" spc="1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1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methods</a:t>
                      </a:r>
                      <a:r>
                        <a:rPr sz="1400" spc="1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400" spc="1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400" spc="1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class.</a:t>
                      </a:r>
                      <a:r>
                        <a:rPr sz="1400" spc="165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LCOM</a:t>
                      </a:r>
                      <a:r>
                        <a:rPr sz="1400" spc="1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400" spc="1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the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difference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between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method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pairs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without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shared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attributes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the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method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pairs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shared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attributes.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value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this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metric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has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been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widely</a:t>
                      </a:r>
                      <a:r>
                        <a:rPr sz="1400" spc="1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debated</a:t>
                      </a:r>
                      <a:r>
                        <a:rPr sz="1400" spc="1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1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it</a:t>
                      </a:r>
                      <a:r>
                        <a:rPr sz="1400" spc="1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exists</a:t>
                      </a:r>
                      <a:r>
                        <a:rPr sz="1400" spc="1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400" spc="11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several</a:t>
                      </a:r>
                      <a:r>
                        <a:rPr sz="1400" spc="1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variations.</a:t>
                      </a:r>
                      <a:r>
                        <a:rPr sz="1400" spc="1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It</a:t>
                      </a:r>
                      <a:r>
                        <a:rPr sz="1400" spc="1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400" spc="1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not</a:t>
                      </a:r>
                      <a:r>
                        <a:rPr sz="1400" spc="1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clear</a:t>
                      </a:r>
                      <a:r>
                        <a:rPr sz="1400" spc="11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if</a:t>
                      </a:r>
                      <a:r>
                        <a:rPr sz="1400" spc="1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it</a:t>
                      </a:r>
                      <a:r>
                        <a:rPr sz="1400" spc="1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really</a:t>
                      </a:r>
                      <a:r>
                        <a:rPr sz="1400" spc="1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adds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73025" algn="just">
                        <a:lnSpc>
                          <a:spcPts val="162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any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additional,</a:t>
                      </a:r>
                      <a:r>
                        <a:rPr sz="14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useful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information</a:t>
                      </a:r>
                      <a:r>
                        <a:rPr sz="14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over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above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that</a:t>
                      </a:r>
                      <a:r>
                        <a:rPr sz="1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provided</a:t>
                      </a:r>
                      <a:r>
                        <a:rPr sz="1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by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other</a:t>
                      </a:r>
                      <a:r>
                        <a:rPr sz="1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metrics.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-60" dirty="0"/>
              <a:t> </a:t>
            </a:r>
            <a:r>
              <a:rPr dirty="0"/>
              <a:t>component</a:t>
            </a:r>
            <a:r>
              <a:rPr spc="-2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844790" cy="3257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component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sz="24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analyzed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separately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using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range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metrics.</a:t>
            </a:r>
            <a:endParaRPr sz="2400">
              <a:latin typeface="Arial MT"/>
              <a:cs typeface="Arial MT"/>
            </a:endParaRPr>
          </a:p>
          <a:p>
            <a:pPr marL="355600" marR="535305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values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metrics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then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compared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for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different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components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and,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perhaps,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historical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measurement</a:t>
            </a:r>
            <a:r>
              <a:rPr sz="24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data</a:t>
            </a:r>
            <a:r>
              <a:rPr sz="2400" spc="-1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collected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sz="24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previous</a:t>
            </a:r>
            <a:r>
              <a:rPr sz="24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projects.</a:t>
            </a:r>
            <a:endParaRPr sz="2400">
              <a:latin typeface="Arial MT"/>
              <a:cs typeface="Arial MT"/>
            </a:endParaRPr>
          </a:p>
          <a:p>
            <a:pPr marL="355600" marR="178435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Anomalous</a:t>
            </a:r>
            <a:r>
              <a:rPr sz="2400" spc="-1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measurements,</a:t>
            </a:r>
            <a:r>
              <a:rPr sz="2400" spc="-1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which</a:t>
            </a:r>
            <a:r>
              <a:rPr sz="2400" spc="-1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deviate</a:t>
            </a:r>
            <a:r>
              <a:rPr sz="2400" spc="-1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significantly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from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norm,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imply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there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problems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with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components.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55" dirty="0"/>
              <a:t> </a:t>
            </a:r>
            <a:r>
              <a:rPr dirty="0"/>
              <a:t>process</a:t>
            </a:r>
            <a:r>
              <a:rPr spc="-4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product</a:t>
            </a:r>
            <a:r>
              <a:rPr spc="-45" dirty="0"/>
              <a:t> </a:t>
            </a:r>
            <a:r>
              <a:rPr spc="-10" dirty="0"/>
              <a:t>measurement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0" dirty="0"/>
              <a:t> </a:t>
            </a:r>
            <a:r>
              <a:rPr dirty="0"/>
              <a:t>24 Quality</a:t>
            </a:r>
            <a:r>
              <a:rPr spc="-2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  <p:pic>
        <p:nvPicPr>
          <p:cNvPr id="3" name="object 3" descr="24.11 ProductMeasurement.ep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300985"/>
            <a:ext cx="8229600" cy="31244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" y="427"/>
            <a:ext cx="9143428" cy="685757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Measurement</a:t>
            </a:r>
            <a:r>
              <a:rPr spc="-150" dirty="0"/>
              <a:t> </a:t>
            </a:r>
            <a:r>
              <a:rPr spc="-10" dirty="0"/>
              <a:t>surprises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8053705" cy="2778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Reducing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number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faults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program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leads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increased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number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help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desk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calls</a:t>
            </a:r>
            <a:endParaRPr sz="2400">
              <a:latin typeface="Arial MT"/>
              <a:cs typeface="Arial MT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program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now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thought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more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reliable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so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has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a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wider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more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diverse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market.</a:t>
            </a:r>
            <a:r>
              <a:rPr sz="20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percentage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users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who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call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help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desk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decreased</a:t>
            </a:r>
            <a:r>
              <a:rPr sz="20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but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total</a:t>
            </a:r>
            <a:r>
              <a:rPr sz="20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increase;</a:t>
            </a:r>
            <a:endParaRPr sz="2000">
              <a:latin typeface="Arial MT"/>
              <a:cs typeface="Arial MT"/>
            </a:endParaRPr>
          </a:p>
          <a:p>
            <a:pPr marL="756285" marR="201930" lvl="1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000" spc="-1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more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reliable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used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different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way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from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system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where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users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work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around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faults.</a:t>
            </a:r>
            <a:r>
              <a:rPr sz="20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leads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more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help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desk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calls.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50" dirty="0"/>
              <a:t> </a:t>
            </a:r>
            <a:r>
              <a:rPr spc="-10" dirty="0"/>
              <a:t>points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760970" cy="4507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Reviews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deliverables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involve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a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team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people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who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check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are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being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followed.</a:t>
            </a:r>
            <a:endParaRPr sz="2400">
              <a:latin typeface="Arial MT"/>
              <a:cs typeface="Arial MT"/>
            </a:endParaRPr>
          </a:p>
          <a:p>
            <a:pPr marL="355600" marR="100965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program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inspection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peer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review,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small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team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systematically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checks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code.</a:t>
            </a:r>
            <a:r>
              <a:rPr sz="2400" spc="-1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read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code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in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detail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look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possible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errors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omissions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measurement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used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gather</a:t>
            </a:r>
            <a:r>
              <a:rPr sz="24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data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about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7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processes.</a:t>
            </a:r>
            <a:endParaRPr sz="2400">
              <a:latin typeface="Arial MT"/>
              <a:cs typeface="Arial MT"/>
            </a:endParaRPr>
          </a:p>
          <a:p>
            <a:pPr marL="355600" marR="530225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Product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4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metrics</a:t>
            </a:r>
            <a:r>
              <a:rPr sz="24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4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particularly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useful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for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highlighting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anomalous</a:t>
            </a:r>
            <a:r>
              <a:rPr sz="24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components</a:t>
            </a:r>
            <a:r>
              <a:rPr sz="24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sz="2400" spc="-1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sz="2400" spc="-1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have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4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problems.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</TotalTime>
  <Words>3591</Words>
  <Application>Microsoft Office PowerPoint</Application>
  <PresentationFormat>On-screen Show (4:3)</PresentationFormat>
  <Paragraphs>391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Arial</vt:lpstr>
      <vt:lpstr>Arial MT</vt:lpstr>
      <vt:lpstr>Calibri</vt:lpstr>
      <vt:lpstr>Calibri Light</vt:lpstr>
      <vt:lpstr>Symbol</vt:lpstr>
      <vt:lpstr>Times New Roman</vt:lpstr>
      <vt:lpstr>Wingdings</vt:lpstr>
      <vt:lpstr>Office Theme</vt:lpstr>
      <vt:lpstr>Module 5  Quality Management and Configuration Management</vt:lpstr>
      <vt:lpstr>PowerPoint Presentation</vt:lpstr>
      <vt:lpstr>Software quality management</vt:lpstr>
      <vt:lpstr>Quality management activities</vt:lpstr>
      <vt:lpstr>Quality management and software development</vt:lpstr>
      <vt:lpstr>PowerPoint Presentation</vt:lpstr>
      <vt:lpstr>Quality plans</vt:lpstr>
      <vt:lpstr>PowerPoint Presentation</vt:lpstr>
      <vt:lpstr>Software quality</vt:lpstr>
      <vt:lpstr>Software fitness for purpose</vt:lpstr>
      <vt:lpstr>Software quality attributes</vt:lpstr>
      <vt:lpstr>PowerPoint Presentation</vt:lpstr>
      <vt:lpstr>Process and product quality</vt:lpstr>
      <vt:lpstr>Process-based quality</vt:lpstr>
      <vt:lpstr>Software standards</vt:lpstr>
      <vt:lpstr>Importance of standards</vt:lpstr>
      <vt:lpstr>Product and process standards</vt:lpstr>
      <vt:lpstr>Problems with standards</vt:lpstr>
      <vt:lpstr>Standards development</vt:lpstr>
      <vt:lpstr>ISO 9001 standards framework</vt:lpstr>
      <vt:lpstr>ISO 9001 core processes</vt:lpstr>
      <vt:lpstr>ISO 9001 and quality management</vt:lpstr>
      <vt:lpstr>ISO 9001 certification</vt:lpstr>
      <vt:lpstr>Key points</vt:lpstr>
      <vt:lpstr>Reviews and inspections</vt:lpstr>
      <vt:lpstr>PowerPoint Presentation</vt:lpstr>
      <vt:lpstr>The software review process</vt:lpstr>
      <vt:lpstr>Reviews and agile methods</vt:lpstr>
      <vt:lpstr>PowerPoint Presentation</vt:lpstr>
      <vt:lpstr>Inspection checklists</vt:lpstr>
      <vt:lpstr>An inspection checklist (a)</vt:lpstr>
      <vt:lpstr>An inspection checklist (b)</vt:lpstr>
      <vt:lpstr>PowerPoint Presentation</vt:lpstr>
      <vt:lpstr>Software measurement and metrics</vt:lpstr>
      <vt:lpstr>Software metric</vt:lpstr>
      <vt:lpstr>Predictor and control measurements</vt:lpstr>
      <vt:lpstr>Use of measurements</vt:lpstr>
      <vt:lpstr>Metrics assumptions</vt:lpstr>
      <vt:lpstr>Relationships between internal and external software</vt:lpstr>
      <vt:lpstr>Problems with measurement in industry</vt:lpstr>
      <vt:lpstr>Product metrics</vt:lpstr>
      <vt:lpstr>Dynamic and static metrics</vt:lpstr>
      <vt:lpstr>Static software product metrics</vt:lpstr>
      <vt:lpstr>Static software product metrics</vt:lpstr>
      <vt:lpstr>The CK object-oriented metrics suite</vt:lpstr>
      <vt:lpstr>The CK object-oriented metrics suite</vt:lpstr>
      <vt:lpstr>Software component analysis</vt:lpstr>
      <vt:lpstr>The process of product measurement</vt:lpstr>
      <vt:lpstr>Measurement surprises</vt:lpstr>
      <vt:lpstr>Key points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Management</dc:title>
  <dc:creator>Frank</dc:creator>
  <cp:lastModifiedBy>shivani T J</cp:lastModifiedBy>
  <cp:revision>5</cp:revision>
  <dcterms:created xsi:type="dcterms:W3CDTF">2026-06-01T04:53:52Z</dcterms:created>
  <dcterms:modified xsi:type="dcterms:W3CDTF">2026-06-05T03:33:38Z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2013-12-11T00:00:00Z</vt:filetime>
  </property>
  <property fmtid="{D5CDD505-2E9C-101B-9397-08002B2CF9AE}" pid="4" name="Creator">
    <vt:lpwstr>Microsoft® PowerPoint® 2010</vt:lpwstr>
  </property>
  <property fmtid="{D5CDD505-2E9C-101B-9397-08002B2CF9AE}" pid="5" name="LastSaved">
    <vt:filetime>2026-06-01T00:00:00Z</vt:filetime>
  </property>
  <property fmtid="{D5CDD505-2E9C-101B-9397-08002B2CF9AE}" pid="6" name="Producer">
    <vt:lpwstr>Microsoft® PowerPoint® 2010</vt:lpwstr>
  </property>
</Properties>
</file>