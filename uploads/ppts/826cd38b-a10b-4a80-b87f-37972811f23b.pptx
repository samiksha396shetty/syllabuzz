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56" r:id="rId2"/>
    <p:sldId id="257" r:id="rId3"/>
    <p:sldId id="286"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4E9063-585E-4F44-8773-750B05418728}" type="datetimeFigureOut">
              <a:rPr lang="en-IN" smtClean="0"/>
              <a:t>25-05-2026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409B25-C360-4914-A054-79724A03D587}" type="slidenum">
              <a:rPr lang="en-IN" smtClean="0"/>
              <a:t>‹#›</a:t>
            </a:fld>
            <a:endParaRPr lang="en-IN"/>
          </a:p>
        </p:txBody>
      </p:sp>
    </p:spTree>
    <p:extLst>
      <p:ext uri="{BB962C8B-B14F-4D97-AF65-F5344CB8AC3E}">
        <p14:creationId xmlns:p14="http://schemas.microsoft.com/office/powerpoint/2010/main" val="201977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409B25-C360-4914-A054-79724A03D587}" type="slidenum">
              <a:rPr lang="en-IN" smtClean="0"/>
              <a:t>17</a:t>
            </a:fld>
            <a:endParaRPr lang="en-IN"/>
          </a:p>
        </p:txBody>
      </p:sp>
    </p:spTree>
    <p:extLst>
      <p:ext uri="{BB962C8B-B14F-4D97-AF65-F5344CB8AC3E}">
        <p14:creationId xmlns:p14="http://schemas.microsoft.com/office/powerpoint/2010/main" val="477323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6F3C1-EC72-AF40-113A-CC5A205811E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4EFFE0A-F852-BAEC-04B6-990C5EAD9C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D27A6DE-F943-EFCF-EE8D-8262DE890E16}"/>
              </a:ext>
            </a:extLst>
          </p:cNvPr>
          <p:cNvSpPr>
            <a:spLocks noGrp="1"/>
          </p:cNvSpPr>
          <p:nvPr>
            <p:ph type="dt" sz="half" idx="10"/>
          </p:nvPr>
        </p:nvSpPr>
        <p:spPr/>
        <p:txBody>
          <a:bodyPr/>
          <a:lstStyle/>
          <a:p>
            <a:fld id="{A7C7B2F2-CA4E-47F9-BA3D-9C741369C9DC}" type="datetimeFigureOut">
              <a:rPr lang="en-IN" smtClean="0"/>
              <a:t>25-05-2026</a:t>
            </a:fld>
            <a:endParaRPr lang="en-IN"/>
          </a:p>
        </p:txBody>
      </p:sp>
      <p:sp>
        <p:nvSpPr>
          <p:cNvPr id="5" name="Footer Placeholder 4">
            <a:extLst>
              <a:ext uri="{FF2B5EF4-FFF2-40B4-BE49-F238E27FC236}">
                <a16:creationId xmlns:a16="http://schemas.microsoft.com/office/drawing/2014/main" id="{54D30960-9493-4594-CF84-928658DEA9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41D177-84BD-B83E-65CC-99D3D5B98537}"/>
              </a:ext>
            </a:extLst>
          </p:cNvPr>
          <p:cNvSpPr>
            <a:spLocks noGrp="1"/>
          </p:cNvSpPr>
          <p:nvPr>
            <p:ph type="sldNum" sz="quarter" idx="12"/>
          </p:nvPr>
        </p:nvSpPr>
        <p:spPr/>
        <p:txBody>
          <a:bodyPr/>
          <a:lstStyle/>
          <a:p>
            <a:fld id="{639148E3-74FD-4646-8D91-99C1DA73F7BF}" type="slidenum">
              <a:rPr lang="en-IN" smtClean="0"/>
              <a:t>‹#›</a:t>
            </a:fld>
            <a:endParaRPr lang="en-IN"/>
          </a:p>
        </p:txBody>
      </p:sp>
    </p:spTree>
    <p:extLst>
      <p:ext uri="{BB962C8B-B14F-4D97-AF65-F5344CB8AC3E}">
        <p14:creationId xmlns:p14="http://schemas.microsoft.com/office/powerpoint/2010/main" val="1307865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EEB8B-093E-9308-885D-70D098B4875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2264E93-D422-A9C7-D51F-E37C71716E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DEA1C5-9B65-8811-41B3-1721CAEE6ACA}"/>
              </a:ext>
            </a:extLst>
          </p:cNvPr>
          <p:cNvSpPr>
            <a:spLocks noGrp="1"/>
          </p:cNvSpPr>
          <p:nvPr>
            <p:ph type="dt" sz="half" idx="10"/>
          </p:nvPr>
        </p:nvSpPr>
        <p:spPr/>
        <p:txBody>
          <a:bodyPr/>
          <a:lstStyle/>
          <a:p>
            <a:fld id="{A7C7B2F2-CA4E-47F9-BA3D-9C741369C9DC}" type="datetimeFigureOut">
              <a:rPr lang="en-IN" smtClean="0"/>
              <a:t>25-05-2026</a:t>
            </a:fld>
            <a:endParaRPr lang="en-IN"/>
          </a:p>
        </p:txBody>
      </p:sp>
      <p:sp>
        <p:nvSpPr>
          <p:cNvPr id="5" name="Footer Placeholder 4">
            <a:extLst>
              <a:ext uri="{FF2B5EF4-FFF2-40B4-BE49-F238E27FC236}">
                <a16:creationId xmlns:a16="http://schemas.microsoft.com/office/drawing/2014/main" id="{E590EEC1-5966-DB3D-9FBE-76FF38164C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C5ABFB-443C-E6F7-BD71-C9411683FAC0}"/>
              </a:ext>
            </a:extLst>
          </p:cNvPr>
          <p:cNvSpPr>
            <a:spLocks noGrp="1"/>
          </p:cNvSpPr>
          <p:nvPr>
            <p:ph type="sldNum" sz="quarter" idx="12"/>
          </p:nvPr>
        </p:nvSpPr>
        <p:spPr/>
        <p:txBody>
          <a:bodyPr/>
          <a:lstStyle/>
          <a:p>
            <a:fld id="{639148E3-74FD-4646-8D91-99C1DA73F7BF}" type="slidenum">
              <a:rPr lang="en-IN" smtClean="0"/>
              <a:t>‹#›</a:t>
            </a:fld>
            <a:endParaRPr lang="en-IN"/>
          </a:p>
        </p:txBody>
      </p:sp>
    </p:spTree>
    <p:extLst>
      <p:ext uri="{BB962C8B-B14F-4D97-AF65-F5344CB8AC3E}">
        <p14:creationId xmlns:p14="http://schemas.microsoft.com/office/powerpoint/2010/main" val="3168700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85A29-85BB-8D6A-DF8F-4B51D95E5D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C67D796-EED4-0D2F-5755-0B0A4BDEEE4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AC6C0D-AA57-D223-7272-087EBE9D643E}"/>
              </a:ext>
            </a:extLst>
          </p:cNvPr>
          <p:cNvSpPr>
            <a:spLocks noGrp="1"/>
          </p:cNvSpPr>
          <p:nvPr>
            <p:ph type="dt" sz="half" idx="10"/>
          </p:nvPr>
        </p:nvSpPr>
        <p:spPr/>
        <p:txBody>
          <a:bodyPr/>
          <a:lstStyle/>
          <a:p>
            <a:fld id="{A7C7B2F2-CA4E-47F9-BA3D-9C741369C9DC}" type="datetimeFigureOut">
              <a:rPr lang="en-IN" smtClean="0"/>
              <a:t>25-05-2026</a:t>
            </a:fld>
            <a:endParaRPr lang="en-IN"/>
          </a:p>
        </p:txBody>
      </p:sp>
      <p:sp>
        <p:nvSpPr>
          <p:cNvPr id="5" name="Footer Placeholder 4">
            <a:extLst>
              <a:ext uri="{FF2B5EF4-FFF2-40B4-BE49-F238E27FC236}">
                <a16:creationId xmlns:a16="http://schemas.microsoft.com/office/drawing/2014/main" id="{9706896B-F0E2-1105-4F08-38FE43E373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F29019-FFAB-A94E-65CE-3DB516663679}"/>
              </a:ext>
            </a:extLst>
          </p:cNvPr>
          <p:cNvSpPr>
            <a:spLocks noGrp="1"/>
          </p:cNvSpPr>
          <p:nvPr>
            <p:ph type="sldNum" sz="quarter" idx="12"/>
          </p:nvPr>
        </p:nvSpPr>
        <p:spPr/>
        <p:txBody>
          <a:bodyPr/>
          <a:lstStyle/>
          <a:p>
            <a:fld id="{639148E3-74FD-4646-8D91-99C1DA73F7BF}" type="slidenum">
              <a:rPr lang="en-IN" smtClean="0"/>
              <a:t>‹#›</a:t>
            </a:fld>
            <a:endParaRPr lang="en-IN"/>
          </a:p>
        </p:txBody>
      </p:sp>
    </p:spTree>
    <p:extLst>
      <p:ext uri="{BB962C8B-B14F-4D97-AF65-F5344CB8AC3E}">
        <p14:creationId xmlns:p14="http://schemas.microsoft.com/office/powerpoint/2010/main" val="21574565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1A699-10A5-A46D-5749-FE5A978517D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CB60162-6E9D-A381-F9D8-6415BD4619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30DBF83-3A9D-4CEB-BD9B-4BADACE63B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94C70E6-98EF-F27C-3074-1E9FC3D69FDD}"/>
              </a:ext>
            </a:extLst>
          </p:cNvPr>
          <p:cNvSpPr>
            <a:spLocks noGrp="1"/>
          </p:cNvSpPr>
          <p:nvPr>
            <p:ph type="dt" sz="half" idx="10"/>
          </p:nvPr>
        </p:nvSpPr>
        <p:spPr/>
        <p:txBody>
          <a:bodyPr/>
          <a:lstStyle/>
          <a:p>
            <a:fld id="{A7C7B2F2-CA4E-47F9-BA3D-9C741369C9DC}" type="datetimeFigureOut">
              <a:rPr lang="en-IN" smtClean="0"/>
              <a:t>25-05-2026</a:t>
            </a:fld>
            <a:endParaRPr lang="en-IN"/>
          </a:p>
        </p:txBody>
      </p:sp>
      <p:sp>
        <p:nvSpPr>
          <p:cNvPr id="6" name="Footer Placeholder 5">
            <a:extLst>
              <a:ext uri="{FF2B5EF4-FFF2-40B4-BE49-F238E27FC236}">
                <a16:creationId xmlns:a16="http://schemas.microsoft.com/office/drawing/2014/main" id="{B1304286-DBD0-D736-76AA-4C91247D9BE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579A3E1-CCAE-1B19-9A95-4F1971D88DB1}"/>
              </a:ext>
            </a:extLst>
          </p:cNvPr>
          <p:cNvSpPr>
            <a:spLocks noGrp="1"/>
          </p:cNvSpPr>
          <p:nvPr>
            <p:ph type="sldNum" sz="quarter" idx="12"/>
          </p:nvPr>
        </p:nvSpPr>
        <p:spPr/>
        <p:txBody>
          <a:bodyPr/>
          <a:lstStyle/>
          <a:p>
            <a:fld id="{639148E3-74FD-4646-8D91-99C1DA73F7BF}" type="slidenum">
              <a:rPr lang="en-IN" smtClean="0"/>
              <a:t>‹#›</a:t>
            </a:fld>
            <a:endParaRPr lang="en-IN"/>
          </a:p>
        </p:txBody>
      </p:sp>
    </p:spTree>
    <p:extLst>
      <p:ext uri="{BB962C8B-B14F-4D97-AF65-F5344CB8AC3E}">
        <p14:creationId xmlns:p14="http://schemas.microsoft.com/office/powerpoint/2010/main" val="1363383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84648-E400-0A49-AEA3-E1F9987815F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CF10B12-7E33-DB81-6549-3604C95D94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DD95DB5-1ED9-DB25-ECE3-CAEEE256B69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BC7F17B-E9DB-CBA2-03B7-3F660B1584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C724F6D-0829-DD89-7D2A-E3687D332A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F37E357-FA9D-13FD-566E-861789B46D70}"/>
              </a:ext>
            </a:extLst>
          </p:cNvPr>
          <p:cNvSpPr>
            <a:spLocks noGrp="1"/>
          </p:cNvSpPr>
          <p:nvPr>
            <p:ph type="dt" sz="half" idx="10"/>
          </p:nvPr>
        </p:nvSpPr>
        <p:spPr/>
        <p:txBody>
          <a:bodyPr/>
          <a:lstStyle/>
          <a:p>
            <a:fld id="{A7C7B2F2-CA4E-47F9-BA3D-9C741369C9DC}" type="datetimeFigureOut">
              <a:rPr lang="en-IN" smtClean="0"/>
              <a:t>25-05-2026</a:t>
            </a:fld>
            <a:endParaRPr lang="en-IN"/>
          </a:p>
        </p:txBody>
      </p:sp>
      <p:sp>
        <p:nvSpPr>
          <p:cNvPr id="8" name="Footer Placeholder 7">
            <a:extLst>
              <a:ext uri="{FF2B5EF4-FFF2-40B4-BE49-F238E27FC236}">
                <a16:creationId xmlns:a16="http://schemas.microsoft.com/office/drawing/2014/main" id="{0351CDA9-B8CF-8FA9-16F0-18EE09FB59E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3A22538-89CA-560E-A0FC-A90243668445}"/>
              </a:ext>
            </a:extLst>
          </p:cNvPr>
          <p:cNvSpPr>
            <a:spLocks noGrp="1"/>
          </p:cNvSpPr>
          <p:nvPr>
            <p:ph type="sldNum" sz="quarter" idx="12"/>
          </p:nvPr>
        </p:nvSpPr>
        <p:spPr/>
        <p:txBody>
          <a:bodyPr/>
          <a:lstStyle/>
          <a:p>
            <a:fld id="{639148E3-74FD-4646-8D91-99C1DA73F7BF}" type="slidenum">
              <a:rPr lang="en-IN" smtClean="0"/>
              <a:t>‹#›</a:t>
            </a:fld>
            <a:endParaRPr lang="en-IN"/>
          </a:p>
        </p:txBody>
      </p:sp>
    </p:spTree>
    <p:extLst>
      <p:ext uri="{BB962C8B-B14F-4D97-AF65-F5344CB8AC3E}">
        <p14:creationId xmlns:p14="http://schemas.microsoft.com/office/powerpoint/2010/main" val="9779481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91645-CEE1-3E69-7D06-6AC3C1A4AFE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1697B0B-84E4-5361-70A5-0A9C75346829}"/>
              </a:ext>
            </a:extLst>
          </p:cNvPr>
          <p:cNvSpPr>
            <a:spLocks noGrp="1"/>
          </p:cNvSpPr>
          <p:nvPr>
            <p:ph type="dt" sz="half" idx="10"/>
          </p:nvPr>
        </p:nvSpPr>
        <p:spPr/>
        <p:txBody>
          <a:bodyPr/>
          <a:lstStyle/>
          <a:p>
            <a:fld id="{A7C7B2F2-CA4E-47F9-BA3D-9C741369C9DC}" type="datetimeFigureOut">
              <a:rPr lang="en-IN" smtClean="0"/>
              <a:t>25-05-2026</a:t>
            </a:fld>
            <a:endParaRPr lang="en-IN"/>
          </a:p>
        </p:txBody>
      </p:sp>
      <p:sp>
        <p:nvSpPr>
          <p:cNvPr id="4" name="Footer Placeholder 3">
            <a:extLst>
              <a:ext uri="{FF2B5EF4-FFF2-40B4-BE49-F238E27FC236}">
                <a16:creationId xmlns:a16="http://schemas.microsoft.com/office/drawing/2014/main" id="{62C373A7-3DE5-ADF4-BC3F-C0AEE05DE36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D00DDC0-F64C-5B8D-4959-FE075480E2A3}"/>
              </a:ext>
            </a:extLst>
          </p:cNvPr>
          <p:cNvSpPr>
            <a:spLocks noGrp="1"/>
          </p:cNvSpPr>
          <p:nvPr>
            <p:ph type="sldNum" sz="quarter" idx="12"/>
          </p:nvPr>
        </p:nvSpPr>
        <p:spPr/>
        <p:txBody>
          <a:bodyPr/>
          <a:lstStyle/>
          <a:p>
            <a:fld id="{639148E3-74FD-4646-8D91-99C1DA73F7BF}" type="slidenum">
              <a:rPr lang="en-IN" smtClean="0"/>
              <a:t>‹#›</a:t>
            </a:fld>
            <a:endParaRPr lang="en-IN"/>
          </a:p>
        </p:txBody>
      </p:sp>
    </p:spTree>
    <p:extLst>
      <p:ext uri="{BB962C8B-B14F-4D97-AF65-F5344CB8AC3E}">
        <p14:creationId xmlns:p14="http://schemas.microsoft.com/office/powerpoint/2010/main" val="28122400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0D0968-2ACC-8B37-783A-CE426BF019B0}"/>
              </a:ext>
            </a:extLst>
          </p:cNvPr>
          <p:cNvSpPr>
            <a:spLocks noGrp="1"/>
          </p:cNvSpPr>
          <p:nvPr>
            <p:ph type="dt" sz="half" idx="10"/>
          </p:nvPr>
        </p:nvSpPr>
        <p:spPr/>
        <p:txBody>
          <a:bodyPr/>
          <a:lstStyle/>
          <a:p>
            <a:fld id="{A7C7B2F2-CA4E-47F9-BA3D-9C741369C9DC}" type="datetimeFigureOut">
              <a:rPr lang="en-IN" smtClean="0"/>
              <a:t>25-05-2026</a:t>
            </a:fld>
            <a:endParaRPr lang="en-IN"/>
          </a:p>
        </p:txBody>
      </p:sp>
      <p:sp>
        <p:nvSpPr>
          <p:cNvPr id="3" name="Footer Placeholder 2">
            <a:extLst>
              <a:ext uri="{FF2B5EF4-FFF2-40B4-BE49-F238E27FC236}">
                <a16:creationId xmlns:a16="http://schemas.microsoft.com/office/drawing/2014/main" id="{B9F36EBB-825A-5372-94CE-1284799711C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015D113-775B-3111-DC5D-CCECCDADD32B}"/>
              </a:ext>
            </a:extLst>
          </p:cNvPr>
          <p:cNvSpPr>
            <a:spLocks noGrp="1"/>
          </p:cNvSpPr>
          <p:nvPr>
            <p:ph type="sldNum" sz="quarter" idx="12"/>
          </p:nvPr>
        </p:nvSpPr>
        <p:spPr/>
        <p:txBody>
          <a:bodyPr/>
          <a:lstStyle/>
          <a:p>
            <a:fld id="{639148E3-74FD-4646-8D91-99C1DA73F7BF}" type="slidenum">
              <a:rPr lang="en-IN" smtClean="0"/>
              <a:t>‹#›</a:t>
            </a:fld>
            <a:endParaRPr lang="en-IN"/>
          </a:p>
        </p:txBody>
      </p:sp>
    </p:spTree>
    <p:extLst>
      <p:ext uri="{BB962C8B-B14F-4D97-AF65-F5344CB8AC3E}">
        <p14:creationId xmlns:p14="http://schemas.microsoft.com/office/powerpoint/2010/main" val="8961775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378AB-7501-B00D-249C-0E50B9840C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DBB5B69-39E0-1F13-4AE1-F8A27EF58A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3DFB4CC-65D8-85B4-A43E-933E19BB28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FF13CA-2393-3BAB-4609-29B53EF5831B}"/>
              </a:ext>
            </a:extLst>
          </p:cNvPr>
          <p:cNvSpPr>
            <a:spLocks noGrp="1"/>
          </p:cNvSpPr>
          <p:nvPr>
            <p:ph type="dt" sz="half" idx="10"/>
          </p:nvPr>
        </p:nvSpPr>
        <p:spPr/>
        <p:txBody>
          <a:bodyPr/>
          <a:lstStyle/>
          <a:p>
            <a:fld id="{A7C7B2F2-CA4E-47F9-BA3D-9C741369C9DC}" type="datetimeFigureOut">
              <a:rPr lang="en-IN" smtClean="0"/>
              <a:t>25-05-2026</a:t>
            </a:fld>
            <a:endParaRPr lang="en-IN"/>
          </a:p>
        </p:txBody>
      </p:sp>
      <p:sp>
        <p:nvSpPr>
          <p:cNvPr id="6" name="Footer Placeholder 5">
            <a:extLst>
              <a:ext uri="{FF2B5EF4-FFF2-40B4-BE49-F238E27FC236}">
                <a16:creationId xmlns:a16="http://schemas.microsoft.com/office/drawing/2014/main" id="{9C0661A5-F668-FDB0-0936-7B30CE36375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8CDE9B2-4913-644D-4008-E09B267D4033}"/>
              </a:ext>
            </a:extLst>
          </p:cNvPr>
          <p:cNvSpPr>
            <a:spLocks noGrp="1"/>
          </p:cNvSpPr>
          <p:nvPr>
            <p:ph type="sldNum" sz="quarter" idx="12"/>
          </p:nvPr>
        </p:nvSpPr>
        <p:spPr/>
        <p:txBody>
          <a:bodyPr/>
          <a:lstStyle/>
          <a:p>
            <a:fld id="{639148E3-74FD-4646-8D91-99C1DA73F7BF}" type="slidenum">
              <a:rPr lang="en-IN" smtClean="0"/>
              <a:t>‹#›</a:t>
            </a:fld>
            <a:endParaRPr lang="en-IN"/>
          </a:p>
        </p:txBody>
      </p:sp>
    </p:spTree>
    <p:extLst>
      <p:ext uri="{BB962C8B-B14F-4D97-AF65-F5344CB8AC3E}">
        <p14:creationId xmlns:p14="http://schemas.microsoft.com/office/powerpoint/2010/main" val="1807183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0094D-D45F-B68D-3583-3A921AE862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DA70BA-04C4-C1FD-0911-EF5D0ADF64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2C45316-0A72-7646-9B33-3AAACEF8A1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9C8F70-0E21-23DD-6428-41CE9AE5F27F}"/>
              </a:ext>
            </a:extLst>
          </p:cNvPr>
          <p:cNvSpPr>
            <a:spLocks noGrp="1"/>
          </p:cNvSpPr>
          <p:nvPr>
            <p:ph type="dt" sz="half" idx="10"/>
          </p:nvPr>
        </p:nvSpPr>
        <p:spPr/>
        <p:txBody>
          <a:bodyPr/>
          <a:lstStyle/>
          <a:p>
            <a:fld id="{A7C7B2F2-CA4E-47F9-BA3D-9C741369C9DC}" type="datetimeFigureOut">
              <a:rPr lang="en-IN" smtClean="0"/>
              <a:t>25-05-2026</a:t>
            </a:fld>
            <a:endParaRPr lang="en-IN"/>
          </a:p>
        </p:txBody>
      </p:sp>
      <p:sp>
        <p:nvSpPr>
          <p:cNvPr id="6" name="Footer Placeholder 5">
            <a:extLst>
              <a:ext uri="{FF2B5EF4-FFF2-40B4-BE49-F238E27FC236}">
                <a16:creationId xmlns:a16="http://schemas.microsoft.com/office/drawing/2014/main" id="{20B882D9-18BF-FD6A-90A5-F9A59ABF53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F035CBF-441F-80F9-3C67-9DF6DC480E33}"/>
              </a:ext>
            </a:extLst>
          </p:cNvPr>
          <p:cNvSpPr>
            <a:spLocks noGrp="1"/>
          </p:cNvSpPr>
          <p:nvPr>
            <p:ph type="sldNum" sz="quarter" idx="12"/>
          </p:nvPr>
        </p:nvSpPr>
        <p:spPr/>
        <p:txBody>
          <a:bodyPr/>
          <a:lstStyle/>
          <a:p>
            <a:fld id="{639148E3-74FD-4646-8D91-99C1DA73F7BF}" type="slidenum">
              <a:rPr lang="en-IN" smtClean="0"/>
              <a:t>‹#›</a:t>
            </a:fld>
            <a:endParaRPr lang="en-IN"/>
          </a:p>
        </p:txBody>
      </p:sp>
    </p:spTree>
    <p:extLst>
      <p:ext uri="{BB962C8B-B14F-4D97-AF65-F5344CB8AC3E}">
        <p14:creationId xmlns:p14="http://schemas.microsoft.com/office/powerpoint/2010/main" val="7560078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1CE54-A609-1A3C-FF3F-E7C7392BD49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2AA11A1-EE60-76B7-27E2-42D0562CAE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3E0E9E-39A2-5F34-481C-B782A98A20BE}"/>
              </a:ext>
            </a:extLst>
          </p:cNvPr>
          <p:cNvSpPr>
            <a:spLocks noGrp="1"/>
          </p:cNvSpPr>
          <p:nvPr>
            <p:ph type="dt" sz="half" idx="10"/>
          </p:nvPr>
        </p:nvSpPr>
        <p:spPr/>
        <p:txBody>
          <a:bodyPr/>
          <a:lstStyle/>
          <a:p>
            <a:fld id="{A7C7B2F2-CA4E-47F9-BA3D-9C741369C9DC}" type="datetimeFigureOut">
              <a:rPr lang="en-IN" smtClean="0"/>
              <a:t>25-05-2026</a:t>
            </a:fld>
            <a:endParaRPr lang="en-IN"/>
          </a:p>
        </p:txBody>
      </p:sp>
      <p:sp>
        <p:nvSpPr>
          <p:cNvPr id="5" name="Footer Placeholder 4">
            <a:extLst>
              <a:ext uri="{FF2B5EF4-FFF2-40B4-BE49-F238E27FC236}">
                <a16:creationId xmlns:a16="http://schemas.microsoft.com/office/drawing/2014/main" id="{D1727540-67D8-68C6-9671-4D98D69511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20DA5A-1239-9A89-1F6F-D7CCA89F86BB}"/>
              </a:ext>
            </a:extLst>
          </p:cNvPr>
          <p:cNvSpPr>
            <a:spLocks noGrp="1"/>
          </p:cNvSpPr>
          <p:nvPr>
            <p:ph type="sldNum" sz="quarter" idx="12"/>
          </p:nvPr>
        </p:nvSpPr>
        <p:spPr/>
        <p:txBody>
          <a:bodyPr/>
          <a:lstStyle/>
          <a:p>
            <a:fld id="{639148E3-74FD-4646-8D91-99C1DA73F7BF}" type="slidenum">
              <a:rPr lang="en-IN" smtClean="0"/>
              <a:t>‹#›</a:t>
            </a:fld>
            <a:endParaRPr lang="en-IN"/>
          </a:p>
        </p:txBody>
      </p:sp>
    </p:spTree>
    <p:extLst>
      <p:ext uri="{BB962C8B-B14F-4D97-AF65-F5344CB8AC3E}">
        <p14:creationId xmlns:p14="http://schemas.microsoft.com/office/powerpoint/2010/main" val="37479538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D3061D-EA5D-178B-DE8A-3D5FEE4ED91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3C59953-FF53-36F9-825A-5CD8EFC303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B6ABA2-6633-81AA-EFB9-257C45C1A1F5}"/>
              </a:ext>
            </a:extLst>
          </p:cNvPr>
          <p:cNvSpPr>
            <a:spLocks noGrp="1"/>
          </p:cNvSpPr>
          <p:nvPr>
            <p:ph type="dt" sz="half" idx="10"/>
          </p:nvPr>
        </p:nvSpPr>
        <p:spPr/>
        <p:txBody>
          <a:bodyPr/>
          <a:lstStyle/>
          <a:p>
            <a:fld id="{A7C7B2F2-CA4E-47F9-BA3D-9C741369C9DC}" type="datetimeFigureOut">
              <a:rPr lang="en-IN" smtClean="0"/>
              <a:t>25-05-2026</a:t>
            </a:fld>
            <a:endParaRPr lang="en-IN"/>
          </a:p>
        </p:txBody>
      </p:sp>
      <p:sp>
        <p:nvSpPr>
          <p:cNvPr id="5" name="Footer Placeholder 4">
            <a:extLst>
              <a:ext uri="{FF2B5EF4-FFF2-40B4-BE49-F238E27FC236}">
                <a16:creationId xmlns:a16="http://schemas.microsoft.com/office/drawing/2014/main" id="{F7E2DD32-13F2-0CEA-2F84-15C067B9B7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387F05-D773-0A36-EC4E-CDA28B59D9E9}"/>
              </a:ext>
            </a:extLst>
          </p:cNvPr>
          <p:cNvSpPr>
            <a:spLocks noGrp="1"/>
          </p:cNvSpPr>
          <p:nvPr>
            <p:ph type="sldNum" sz="quarter" idx="12"/>
          </p:nvPr>
        </p:nvSpPr>
        <p:spPr/>
        <p:txBody>
          <a:bodyPr/>
          <a:lstStyle/>
          <a:p>
            <a:fld id="{639148E3-74FD-4646-8D91-99C1DA73F7BF}" type="slidenum">
              <a:rPr lang="en-IN" smtClean="0"/>
              <a:t>‹#›</a:t>
            </a:fld>
            <a:endParaRPr lang="en-IN"/>
          </a:p>
        </p:txBody>
      </p:sp>
    </p:spTree>
    <p:extLst>
      <p:ext uri="{BB962C8B-B14F-4D97-AF65-F5344CB8AC3E}">
        <p14:creationId xmlns:p14="http://schemas.microsoft.com/office/powerpoint/2010/main" val="1700243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522857-F9E4-5345-7106-E8FB9FAD02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E7F7D9D-8188-5955-C547-92BE59A8B4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DED0B0A-665E-8870-A52D-90D82B8936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C7B2F2-CA4E-47F9-BA3D-9C741369C9DC}" type="datetimeFigureOut">
              <a:rPr lang="en-IN" smtClean="0"/>
              <a:t>25-05-2026</a:t>
            </a:fld>
            <a:endParaRPr lang="en-IN"/>
          </a:p>
        </p:txBody>
      </p:sp>
      <p:sp>
        <p:nvSpPr>
          <p:cNvPr id="5" name="Footer Placeholder 4">
            <a:extLst>
              <a:ext uri="{FF2B5EF4-FFF2-40B4-BE49-F238E27FC236}">
                <a16:creationId xmlns:a16="http://schemas.microsoft.com/office/drawing/2014/main" id="{83D375CB-C777-E6EA-95F4-8132DC88CC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5F5EDF3A-7C1A-39A9-C6FC-7E47727D55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39148E3-74FD-4646-8D91-99C1DA73F7BF}" type="slidenum">
              <a:rPr lang="en-IN" smtClean="0"/>
              <a:t>‹#›</a:t>
            </a:fld>
            <a:endParaRPr lang="en-IN"/>
          </a:p>
        </p:txBody>
      </p:sp>
    </p:spTree>
    <p:extLst>
      <p:ext uri="{BB962C8B-B14F-4D97-AF65-F5344CB8AC3E}">
        <p14:creationId xmlns:p14="http://schemas.microsoft.com/office/powerpoint/2010/main" val="25415968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E811F-9036-FC4C-C7C0-846DC2CC839C}"/>
              </a:ext>
            </a:extLst>
          </p:cNvPr>
          <p:cNvSpPr>
            <a:spLocks noGrp="1"/>
          </p:cNvSpPr>
          <p:nvPr>
            <p:ph type="ctrTitle"/>
          </p:nvPr>
        </p:nvSpPr>
        <p:spPr>
          <a:xfrm>
            <a:off x="1523999" y="760164"/>
            <a:ext cx="9144000" cy="1719943"/>
          </a:xfrm>
        </p:spPr>
        <p:txBody>
          <a:bodyPr>
            <a:normAutofit fontScale="90000"/>
          </a:bodyPr>
          <a:lstStyle/>
          <a:p>
            <a:r>
              <a:rPr lang="en-IN" sz="13800" b="1">
                <a:latin typeface="Times New Roman" panose="02020603050405020304" pitchFamily="18" charset="0"/>
                <a:cs typeface="Times New Roman" panose="02020603050405020304" pitchFamily="18" charset="0"/>
              </a:rPr>
              <a:t>MODULE 4 </a:t>
            </a:r>
            <a:endParaRPr lang="en-IN" sz="138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0DD4DB7-8C3B-AC69-029B-7CDE292C5C33}"/>
              </a:ext>
            </a:extLst>
          </p:cNvPr>
          <p:cNvSpPr>
            <a:spLocks noGrp="1"/>
          </p:cNvSpPr>
          <p:nvPr>
            <p:ph type="subTitle" idx="1"/>
          </p:nvPr>
        </p:nvSpPr>
        <p:spPr>
          <a:xfrm>
            <a:off x="48985" y="2927123"/>
            <a:ext cx="12094029" cy="2809648"/>
          </a:xfrm>
        </p:spPr>
        <p:txBody>
          <a:bodyPr>
            <a:normAutofit fontScale="92500" lnSpcReduction="10000"/>
          </a:bodyPr>
          <a:lstStyle/>
          <a:p>
            <a:pPr>
              <a:lnSpc>
                <a:spcPct val="150000"/>
              </a:lnSpc>
            </a:pPr>
            <a:r>
              <a:rPr lang="en-IN" sz="7200" b="1" dirty="0">
                <a:solidFill>
                  <a:srgbClr val="FF0000"/>
                </a:solidFill>
                <a:latin typeface="Times New Roman" panose="02020603050405020304" pitchFamily="18" charset="0"/>
                <a:cs typeface="Times New Roman" panose="02020603050405020304" pitchFamily="18" charset="0"/>
              </a:rPr>
              <a:t>INTRODUCTION TO PROJECT MANAGEMENT</a:t>
            </a:r>
          </a:p>
        </p:txBody>
      </p:sp>
    </p:spTree>
    <p:extLst>
      <p:ext uri="{BB962C8B-B14F-4D97-AF65-F5344CB8AC3E}">
        <p14:creationId xmlns:p14="http://schemas.microsoft.com/office/powerpoint/2010/main" val="4117906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5DA62-CCE2-F933-3C40-9C173425B1EC}"/>
              </a:ext>
            </a:extLst>
          </p:cNvPr>
          <p:cNvSpPr>
            <a:spLocks noGrp="1"/>
          </p:cNvSpPr>
          <p:nvPr>
            <p:ph type="title"/>
          </p:nvPr>
        </p:nvSpPr>
        <p:spPr>
          <a:xfrm>
            <a:off x="838200" y="1"/>
            <a:ext cx="10515600" cy="827314"/>
          </a:xfrm>
        </p:spPr>
        <p:txBody>
          <a:bodyPr>
            <a:noAutofit/>
          </a:bodyPr>
          <a:lstStyle/>
          <a:p>
            <a:r>
              <a:rPr lang="en-US" sz="2400" b="1" dirty="0">
                <a:latin typeface="Times New Roman" panose="02020603050405020304" pitchFamily="18" charset="0"/>
                <a:cs typeface="Times New Roman" panose="02020603050405020304" pitchFamily="18" charset="0"/>
              </a:rPr>
              <a:t>1.1 INTRODUCTION TO SOFTWARE PROJECT MANAGEMENT</a:t>
            </a:r>
            <a:br>
              <a:rPr lang="en-US" sz="2400" b="1" dirty="0">
                <a:latin typeface="Times New Roman" panose="02020603050405020304" pitchFamily="18" charset="0"/>
                <a:cs typeface="Times New Roman" panose="02020603050405020304" pitchFamily="18" charset="0"/>
              </a:rPr>
            </a:br>
            <a:endParaRPr lang="en-IN" sz="2400" dirty="0"/>
          </a:p>
        </p:txBody>
      </p:sp>
      <p:sp>
        <p:nvSpPr>
          <p:cNvPr id="3" name="Content Placeholder 2">
            <a:extLst>
              <a:ext uri="{FF2B5EF4-FFF2-40B4-BE49-F238E27FC236}">
                <a16:creationId xmlns:a16="http://schemas.microsoft.com/office/drawing/2014/main" id="{28CC00EF-831D-1841-680C-8912689ACF91}"/>
              </a:ext>
            </a:extLst>
          </p:cNvPr>
          <p:cNvSpPr>
            <a:spLocks noGrp="1"/>
          </p:cNvSpPr>
          <p:nvPr>
            <p:ph idx="1"/>
          </p:nvPr>
        </p:nvSpPr>
        <p:spPr>
          <a:xfrm>
            <a:off x="108857" y="674914"/>
            <a:ext cx="11887199" cy="6067409"/>
          </a:xfrm>
        </p:spPr>
        <p:txBody>
          <a:bodyPr>
            <a:noAutofit/>
          </a:bodyPr>
          <a:lstStyle/>
          <a:p>
            <a:pPr algn="just">
              <a:lnSpc>
                <a:spcPct val="170000"/>
              </a:lnSpc>
            </a:pPr>
            <a:r>
              <a:rPr lang="en-US" sz="2400" dirty="0">
                <a:latin typeface="Times New Roman" panose="02020603050405020304" pitchFamily="18" charset="0"/>
                <a:cs typeface="Times New Roman" panose="02020603050405020304" pitchFamily="18" charset="0"/>
              </a:rPr>
              <a:t>Software Project Management is an art &amp; Science of planning &amp; leading software Projects from </a:t>
            </a:r>
            <a:r>
              <a:rPr lang="en-US" sz="2400" b="1" dirty="0">
                <a:latin typeface="Times New Roman" panose="02020603050405020304" pitchFamily="18" charset="0"/>
                <a:cs typeface="Times New Roman" panose="02020603050405020304" pitchFamily="18" charset="0"/>
              </a:rPr>
              <a:t>ideas to reality</a:t>
            </a:r>
            <a:r>
              <a:rPr lang="en-US" sz="2400" dirty="0">
                <a:latin typeface="Times New Roman" panose="02020603050405020304" pitchFamily="18" charset="0"/>
                <a:cs typeface="Times New Roman" panose="02020603050405020304" pitchFamily="18" charset="0"/>
              </a:rPr>
              <a:t>. </a:t>
            </a:r>
          </a:p>
          <a:p>
            <a:pPr algn="just">
              <a:lnSpc>
                <a:spcPct val="170000"/>
              </a:lnSpc>
            </a:pPr>
            <a:r>
              <a:rPr lang="en-US" sz="2400" dirty="0">
                <a:latin typeface="Times New Roman" panose="02020603050405020304" pitchFamily="18" charset="0"/>
                <a:cs typeface="Times New Roman" panose="02020603050405020304" pitchFamily="18" charset="0"/>
              </a:rPr>
              <a:t>A Software Project is the complete procedure of software development from requirement gathering to testing and maintenance, carried out according to the execution methodologies, in a specified period to achieve intended software product. </a:t>
            </a:r>
          </a:p>
          <a:p>
            <a:pPr algn="just">
              <a:lnSpc>
                <a:spcPct val="170000"/>
              </a:lnSpc>
            </a:pPr>
            <a:r>
              <a:rPr lang="en-US" sz="2400" dirty="0">
                <a:latin typeface="Times New Roman" panose="02020603050405020304" pitchFamily="18" charset="0"/>
                <a:cs typeface="Times New Roman" panose="02020603050405020304" pitchFamily="18" charset="0"/>
              </a:rPr>
              <a:t>Project management is the discipline of defining and achieving targets while optimizing the resources </a:t>
            </a:r>
            <a:r>
              <a:rPr lang="en-US" sz="2400" b="1" dirty="0">
                <a:latin typeface="Times New Roman" panose="02020603050405020304" pitchFamily="18" charset="0"/>
                <a:cs typeface="Times New Roman" panose="02020603050405020304" pitchFamily="18" charset="0"/>
              </a:rPr>
              <a:t>(time, money, people, materials, energy, space, etc.)</a:t>
            </a:r>
            <a:r>
              <a:rPr lang="en-US" sz="2400" dirty="0">
                <a:latin typeface="Times New Roman" panose="02020603050405020304" pitchFamily="18" charset="0"/>
                <a:cs typeface="Times New Roman" panose="02020603050405020304" pitchFamily="18" charset="0"/>
              </a:rPr>
              <a:t> over the course of a project (a set of activities of finite duration). </a:t>
            </a:r>
          </a:p>
          <a:p>
            <a:pPr algn="just">
              <a:lnSpc>
                <a:spcPct val="170000"/>
              </a:lnSpc>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86935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1DCFA6-5E95-939A-79CC-34D7606DE5DE}"/>
              </a:ext>
            </a:extLst>
          </p:cNvPr>
          <p:cNvSpPr>
            <a:spLocks noGrp="1"/>
          </p:cNvSpPr>
          <p:nvPr>
            <p:ph idx="1"/>
          </p:nvPr>
        </p:nvSpPr>
        <p:spPr>
          <a:xfrm>
            <a:off x="0" y="0"/>
            <a:ext cx="12191999" cy="6857999"/>
          </a:xfrm>
        </p:spPr>
        <p:txBody>
          <a:bodyPr>
            <a:normAutofit lnSpcReduction="10000"/>
          </a:bodyPr>
          <a:lstStyle/>
          <a:p>
            <a:pPr algn="just">
              <a:lnSpc>
                <a:spcPct val="170000"/>
              </a:lnSpc>
            </a:pPr>
            <a:r>
              <a:rPr lang="en-US" dirty="0">
                <a:latin typeface="Times New Roman" panose="02020603050405020304" pitchFamily="18" charset="0"/>
                <a:cs typeface="Times New Roman" panose="02020603050405020304" pitchFamily="18" charset="0"/>
              </a:rPr>
              <a:t>Project management involves the </a:t>
            </a:r>
            <a:r>
              <a:rPr lang="en-US" b="1" dirty="0">
                <a:latin typeface="Times New Roman" panose="02020603050405020304" pitchFamily="18" charset="0"/>
                <a:cs typeface="Times New Roman" panose="02020603050405020304" pitchFamily="18" charset="0"/>
              </a:rPr>
              <a:t>planning, monitoring, and control of people, process, and events</a:t>
            </a:r>
            <a:r>
              <a:rPr lang="en-US" dirty="0">
                <a:latin typeface="Times New Roman" panose="02020603050405020304" pitchFamily="18" charset="0"/>
                <a:cs typeface="Times New Roman" panose="02020603050405020304" pitchFamily="18" charset="0"/>
              </a:rPr>
              <a:t> that occur during software development. </a:t>
            </a:r>
          </a:p>
          <a:p>
            <a:pPr algn="just">
              <a:lnSpc>
                <a:spcPct val="170000"/>
              </a:lnSpc>
            </a:pPr>
            <a:r>
              <a:rPr lang="en-US" dirty="0">
                <a:latin typeface="Times New Roman" panose="02020603050405020304" pitchFamily="18" charset="0"/>
                <a:cs typeface="Times New Roman" panose="02020603050405020304" pitchFamily="18" charset="0"/>
              </a:rPr>
              <a:t>Software needs to be managed because it is a complex undertaking with a long duration of time. Managers must focus on the four P’s to be successful (</a:t>
            </a:r>
            <a:r>
              <a:rPr lang="en-US" b="1" dirty="0">
                <a:latin typeface="Times New Roman" panose="02020603050405020304" pitchFamily="18" charset="0"/>
                <a:cs typeface="Times New Roman" panose="02020603050405020304" pitchFamily="18" charset="0"/>
              </a:rPr>
              <a:t>people, product, process, and project</a:t>
            </a:r>
            <a:r>
              <a:rPr lang="en-US" dirty="0">
                <a:latin typeface="Times New Roman" panose="02020603050405020304" pitchFamily="18" charset="0"/>
                <a:cs typeface="Times New Roman" panose="02020603050405020304" pitchFamily="18" charset="0"/>
              </a:rPr>
              <a:t>).</a:t>
            </a:r>
          </a:p>
          <a:p>
            <a:pPr algn="just">
              <a:lnSpc>
                <a:spcPct val="170000"/>
              </a:lnSpc>
            </a:pPr>
            <a:r>
              <a:rPr lang="en-US" dirty="0">
                <a:latin typeface="Times New Roman" panose="02020603050405020304" pitchFamily="18" charset="0"/>
                <a:cs typeface="Times New Roman" panose="02020603050405020304" pitchFamily="18" charset="0"/>
              </a:rPr>
              <a:t>A project plan is a document that defines the four P’s in such a way as to ensure a cost-effective, high-quality software product.</a:t>
            </a:r>
          </a:p>
          <a:p>
            <a:pPr algn="just">
              <a:lnSpc>
                <a:spcPct val="170000"/>
              </a:lnSpc>
            </a:pPr>
            <a:r>
              <a:rPr lang="en-US" dirty="0">
                <a:latin typeface="Times New Roman" panose="02020603050405020304" pitchFamily="18" charset="0"/>
                <a:cs typeface="Times New Roman" panose="02020603050405020304" pitchFamily="18" charset="0"/>
              </a:rPr>
              <a:t>The only way to be sure that a project plan worked correctly is by observing that a high-quality product was delivered on time and on budget.</a:t>
            </a:r>
          </a:p>
          <a:p>
            <a:endParaRPr lang="en-IN" dirty="0"/>
          </a:p>
        </p:txBody>
      </p:sp>
    </p:spTree>
    <p:extLst>
      <p:ext uri="{BB962C8B-B14F-4D97-AF65-F5344CB8AC3E}">
        <p14:creationId xmlns:p14="http://schemas.microsoft.com/office/powerpoint/2010/main" val="338678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134B5C-B8F3-7FCA-340A-F13B04773294}"/>
              </a:ext>
            </a:extLst>
          </p:cNvPr>
          <p:cNvSpPr>
            <a:spLocks noGrp="1"/>
          </p:cNvSpPr>
          <p:nvPr>
            <p:ph idx="1"/>
          </p:nvPr>
        </p:nvSpPr>
        <p:spPr>
          <a:xfrm>
            <a:off x="0" y="0"/>
            <a:ext cx="12191999" cy="6858000"/>
          </a:xfrm>
        </p:spPr>
        <p:txBody>
          <a:bodyPr>
            <a:normAutofit lnSpcReduction="10000"/>
          </a:bodyPr>
          <a:lstStyle/>
          <a:p>
            <a:pPr marL="0" indent="0" algn="just">
              <a:lnSpc>
                <a:spcPct val="160000"/>
              </a:lnSpc>
              <a:buNone/>
            </a:pPr>
            <a:r>
              <a:rPr lang="en-US" b="1" dirty="0">
                <a:latin typeface="Times New Roman" panose="02020603050405020304" pitchFamily="18" charset="0"/>
                <a:cs typeface="Times New Roman" panose="02020603050405020304" pitchFamily="18" charset="0"/>
              </a:rPr>
              <a:t>1.2 WHY IS SOFTWARE PROJECT MANAGEMENT IMPORTANT ? </a:t>
            </a:r>
          </a:p>
          <a:p>
            <a:pPr algn="just">
              <a:lnSpc>
                <a:spcPct val="160000"/>
              </a:lnSpc>
            </a:pPr>
            <a:r>
              <a:rPr lang="en-US" dirty="0">
                <a:latin typeface="Times New Roman" panose="02020603050405020304" pitchFamily="18" charset="0"/>
                <a:cs typeface="Times New Roman" panose="02020603050405020304" pitchFamily="18" charset="0"/>
              </a:rPr>
              <a:t> Large amounts of money are spent on ICT (information and communication technology)  e.g. UK government in 2003-04 spent € 2.3 billions on contracts for ICT and only € 1.4  billion on road building. (1 billion =100 crore). </a:t>
            </a:r>
          </a:p>
          <a:p>
            <a:pPr algn="just">
              <a:lnSpc>
                <a:spcPct val="160000"/>
              </a:lnSpc>
            </a:pPr>
            <a:r>
              <a:rPr lang="en-US" dirty="0">
                <a:latin typeface="Times New Roman" panose="02020603050405020304" pitchFamily="18" charset="0"/>
                <a:cs typeface="Times New Roman" panose="02020603050405020304" pitchFamily="18" charset="0"/>
              </a:rPr>
              <a:t>Project often fail – Standish Group claim only a third of ICT projects are successful. 82% were late and 43% exceeded their budget. Poor project management a major factor in these failures. </a:t>
            </a:r>
          </a:p>
          <a:p>
            <a:pPr algn="just">
              <a:lnSpc>
                <a:spcPct val="160000"/>
              </a:lnSpc>
            </a:pPr>
            <a:r>
              <a:rPr lang="en-US" dirty="0">
                <a:latin typeface="Times New Roman" panose="02020603050405020304" pitchFamily="18" charset="0"/>
                <a:cs typeface="Times New Roman" panose="02020603050405020304" pitchFamily="18" charset="0"/>
              </a:rPr>
              <a:t> The methodology used by the Standish Group to arrive at their findings has been criticized, but the general perception of the prevalence of ICT project failure is still clear.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809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42953-52A7-AD90-B080-E9456947A313}"/>
              </a:ext>
            </a:extLst>
          </p:cNvPr>
          <p:cNvSpPr>
            <a:spLocks noGrp="1"/>
          </p:cNvSpPr>
          <p:nvPr>
            <p:ph type="title"/>
          </p:nvPr>
        </p:nvSpPr>
        <p:spPr>
          <a:xfrm>
            <a:off x="0" y="153796"/>
            <a:ext cx="11353800" cy="848739"/>
          </a:xfrm>
        </p:spPr>
        <p:txBody>
          <a:bodyPr>
            <a:normAutofit/>
          </a:bodyPr>
          <a:lstStyle/>
          <a:p>
            <a:r>
              <a:rPr lang="en-US" b="1" dirty="0">
                <a:latin typeface="Times New Roman" panose="02020603050405020304" pitchFamily="18" charset="0"/>
                <a:cs typeface="Times New Roman" panose="02020603050405020304" pitchFamily="18" charset="0"/>
              </a:rPr>
              <a:t>1.3 WHAT IS A PROJECT ?</a:t>
            </a:r>
          </a:p>
        </p:txBody>
      </p:sp>
      <p:sp>
        <p:nvSpPr>
          <p:cNvPr id="3" name="Content Placeholder 2">
            <a:extLst>
              <a:ext uri="{FF2B5EF4-FFF2-40B4-BE49-F238E27FC236}">
                <a16:creationId xmlns:a16="http://schemas.microsoft.com/office/drawing/2014/main" id="{0C978DE7-1D1C-EF91-7070-4C04C10C0BB6}"/>
              </a:ext>
            </a:extLst>
          </p:cNvPr>
          <p:cNvSpPr>
            <a:spLocks noGrp="1"/>
          </p:cNvSpPr>
          <p:nvPr>
            <p:ph idx="1"/>
          </p:nvPr>
        </p:nvSpPr>
        <p:spPr>
          <a:xfrm>
            <a:off x="0" y="837282"/>
            <a:ext cx="12192000" cy="5783855"/>
          </a:xfrm>
        </p:spPr>
        <p:txBody>
          <a:bodyPr>
            <a:normAutofit fontScale="85000" lnSpcReduction="10000"/>
          </a:bodyPr>
          <a:lstStyle/>
          <a:p>
            <a:pPr algn="just">
              <a:lnSpc>
                <a:spcPct val="170000"/>
              </a:lnSpc>
            </a:pPr>
            <a:r>
              <a:rPr lang="en-US" dirty="0">
                <a:latin typeface="Times New Roman" panose="02020603050405020304" pitchFamily="18" charset="0"/>
                <a:cs typeface="Times New Roman" panose="02020603050405020304" pitchFamily="18" charset="0"/>
              </a:rPr>
              <a:t>The definition of a project as being planned assume that to a large extent we can determine  how we are going to carry out a task before we start. There may be some projects of an  exploratory nature where this might be quite hard. Planning is in essence thinking carefully  about something before you do it and even in the case of uncertain projects this is worth doing  as long as it is accepted that the resulting plans will have provisional and speculative elements. </a:t>
            </a:r>
          </a:p>
          <a:p>
            <a:pPr algn="just">
              <a:lnSpc>
                <a:spcPct val="170000"/>
              </a:lnSpc>
            </a:pPr>
            <a:r>
              <a:rPr lang="en-US" dirty="0">
                <a:latin typeface="Times New Roman" panose="02020603050405020304" pitchFamily="18" charset="0"/>
                <a:cs typeface="Times New Roman" panose="02020603050405020304" pitchFamily="18" charset="0"/>
              </a:rPr>
              <a:t>Other activities, concerning, for example, to routine maintenance, might have been performed  so many times that everyone involved knows exactly what needs to be done. In these cases,  planning hardly seems necessary, although procedures might need to be documented to ensure  consistency and to help newcomers to the job.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04491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133966-E84F-0F6F-BEEB-BD75B14E1BB9}"/>
              </a:ext>
            </a:extLst>
          </p:cNvPr>
          <p:cNvSpPr>
            <a:spLocks noGrp="1"/>
          </p:cNvSpPr>
          <p:nvPr>
            <p:ph idx="1"/>
          </p:nvPr>
        </p:nvSpPr>
        <p:spPr>
          <a:xfrm>
            <a:off x="121186" y="99152"/>
            <a:ext cx="11887200" cy="6758848"/>
          </a:xfrm>
        </p:spPr>
        <p:txBody>
          <a:bodyPr>
            <a:normAutofit fontScale="77500" lnSpcReduction="20000"/>
          </a:bodyPr>
          <a:lstStyle/>
          <a:p>
            <a:pPr marL="0" indent="0" algn="just">
              <a:lnSpc>
                <a:spcPct val="160000"/>
              </a:lnSpc>
              <a:buNone/>
            </a:pPr>
            <a:r>
              <a:rPr lang="en-US" dirty="0">
                <a:latin typeface="Times New Roman" panose="02020603050405020304" pitchFamily="18" charset="0"/>
                <a:cs typeface="Times New Roman" panose="02020603050405020304" pitchFamily="18" charset="0"/>
              </a:rPr>
              <a:t>Dictionary definitions of ‘project’ include: </a:t>
            </a:r>
          </a:p>
          <a:p>
            <a:pPr algn="just">
              <a:lnSpc>
                <a:spcPct val="160000"/>
              </a:lnSpc>
            </a:pPr>
            <a:r>
              <a:rPr lang="en-US" dirty="0">
                <a:latin typeface="Times New Roman" panose="02020603050405020304" pitchFamily="18" charset="0"/>
                <a:cs typeface="Times New Roman" panose="02020603050405020304" pitchFamily="18" charset="0"/>
              </a:rPr>
              <a:t>A specific plan or design </a:t>
            </a:r>
          </a:p>
          <a:p>
            <a:pPr algn="just">
              <a:lnSpc>
                <a:spcPct val="160000"/>
              </a:lnSpc>
            </a:pPr>
            <a:r>
              <a:rPr lang="en-US" dirty="0">
                <a:latin typeface="Times New Roman" panose="02020603050405020304" pitchFamily="18" charset="0"/>
                <a:cs typeface="Times New Roman" panose="02020603050405020304" pitchFamily="18" charset="0"/>
              </a:rPr>
              <a:t>A planned undertaking </a:t>
            </a:r>
          </a:p>
          <a:p>
            <a:pPr algn="just">
              <a:lnSpc>
                <a:spcPct val="160000"/>
              </a:lnSpc>
            </a:pPr>
            <a:r>
              <a:rPr lang="en-US" dirty="0">
                <a:latin typeface="Times New Roman" panose="02020603050405020304" pitchFamily="18" charset="0"/>
                <a:cs typeface="Times New Roman" panose="02020603050405020304" pitchFamily="18" charset="0"/>
              </a:rPr>
              <a:t>A large undertaking e.g. a public works scheme” </a:t>
            </a:r>
          </a:p>
          <a:p>
            <a:pPr marL="0" indent="0" algn="just">
              <a:lnSpc>
                <a:spcPct val="160000"/>
              </a:lnSpc>
              <a:buNone/>
            </a:pPr>
            <a:r>
              <a:rPr lang="en-US" dirty="0">
                <a:latin typeface="Times New Roman" panose="02020603050405020304" pitchFamily="18" charset="0"/>
                <a:cs typeface="Times New Roman" panose="02020603050405020304" pitchFamily="18" charset="0"/>
              </a:rPr>
              <a:t>Key points above are planning and size of task </a:t>
            </a:r>
          </a:p>
          <a:p>
            <a:pPr marL="0" indent="0" algn="just">
              <a:lnSpc>
                <a:spcPct val="160000"/>
              </a:lnSpc>
              <a:buNone/>
            </a:pPr>
            <a:r>
              <a:rPr lang="en-US" dirty="0">
                <a:latin typeface="Times New Roman" panose="02020603050405020304" pitchFamily="18" charset="0"/>
                <a:cs typeface="Times New Roman" panose="02020603050405020304" pitchFamily="18" charset="0"/>
              </a:rPr>
              <a:t>Here are some definitions of ‘project’. No doubt there are other ones: for example, </a:t>
            </a:r>
          </a:p>
          <a:p>
            <a:pPr marL="0" indent="0" algn="just">
              <a:lnSpc>
                <a:spcPct val="160000"/>
              </a:lnSpc>
              <a:buNone/>
            </a:pPr>
            <a:r>
              <a:rPr lang="en-US" dirty="0">
                <a:latin typeface="Times New Roman" panose="02020603050405020304" pitchFamily="18" charset="0"/>
                <a:cs typeface="Times New Roman" panose="02020603050405020304" pitchFamily="18" charset="0"/>
              </a:rPr>
              <a:t>‘Unique process, consisting of a set of coordinated and controlled activities with start and finish  dates, undertaken to achieve an objective conforming to specific requirements, including  constraints of time, cost and resources. There is a hazy boundary between the non-routine project  and the routine job. The first time you do a routine task, it will be like a project. On the other  hand, a project to develop a system similar to previous ones you have developed will have a large  element of the routine.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52109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5CCF9-9EE3-90F8-E515-DEA377677536}"/>
              </a:ext>
            </a:extLst>
          </p:cNvPr>
          <p:cNvSpPr>
            <a:spLocks noGrp="1"/>
          </p:cNvSpPr>
          <p:nvPr>
            <p:ph type="title"/>
          </p:nvPr>
        </p:nvSpPr>
        <p:spPr>
          <a:xfrm>
            <a:off x="838200" y="115677"/>
            <a:ext cx="10515600" cy="703511"/>
          </a:xfrm>
        </p:spPr>
        <p:txBody>
          <a:bodyPr>
            <a:normAutofit/>
          </a:bodyPr>
          <a:lstStyle/>
          <a:p>
            <a:r>
              <a:rPr lang="en-US" sz="3600" b="1" dirty="0">
                <a:latin typeface="Times New Roman" panose="02020603050405020304" pitchFamily="18" charset="0"/>
                <a:cs typeface="Times New Roman" panose="02020603050405020304" pitchFamily="18" charset="0"/>
              </a:rPr>
              <a:t>1.3.1 CHARACTERISTICS OF PROJECT: </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FB5FD76-F860-ABF0-2581-C9C4FA495D8E}"/>
              </a:ext>
            </a:extLst>
          </p:cNvPr>
          <p:cNvSpPr>
            <a:spLocks noGrp="1"/>
          </p:cNvSpPr>
          <p:nvPr>
            <p:ph idx="1"/>
          </p:nvPr>
        </p:nvSpPr>
        <p:spPr>
          <a:xfrm>
            <a:off x="550843" y="716096"/>
            <a:ext cx="11380423" cy="6026227"/>
          </a:xfrm>
        </p:spPr>
        <p:txBody>
          <a:bodyPr>
            <a:normAutofit fontScale="92500" lnSpcReduction="10000"/>
          </a:bodyPr>
          <a:lstStyle/>
          <a:p>
            <a:pPr algn="just">
              <a:lnSpc>
                <a:spcPct val="170000"/>
              </a:lnSpc>
            </a:pPr>
            <a:r>
              <a:rPr lang="en-US" sz="2000" dirty="0">
                <a:latin typeface="Times New Roman" panose="02020603050405020304" pitchFamily="18" charset="0"/>
                <a:cs typeface="Times New Roman" panose="02020603050405020304" pitchFamily="18" charset="0"/>
              </a:rPr>
              <a:t>Non-routine tasks are involved </a:t>
            </a:r>
          </a:p>
          <a:p>
            <a:pPr algn="just">
              <a:lnSpc>
                <a:spcPct val="170000"/>
              </a:lnSpc>
            </a:pPr>
            <a:r>
              <a:rPr lang="en-US" sz="2000" dirty="0">
                <a:latin typeface="Times New Roman" panose="02020603050405020304" pitchFamily="18" charset="0"/>
                <a:cs typeface="Times New Roman" panose="02020603050405020304" pitchFamily="18" charset="0"/>
              </a:rPr>
              <a:t>Planning is required </a:t>
            </a:r>
          </a:p>
          <a:p>
            <a:pPr algn="just">
              <a:lnSpc>
                <a:spcPct val="170000"/>
              </a:lnSpc>
            </a:pPr>
            <a:r>
              <a:rPr lang="en-US" sz="2000" dirty="0">
                <a:latin typeface="Times New Roman" panose="02020603050405020304" pitchFamily="18" charset="0"/>
                <a:cs typeface="Times New Roman" panose="02020603050405020304" pitchFamily="18" charset="0"/>
              </a:rPr>
              <a:t>Specific objectives are to be met or a specified product is to be created </a:t>
            </a:r>
          </a:p>
          <a:p>
            <a:pPr algn="just">
              <a:lnSpc>
                <a:spcPct val="170000"/>
              </a:lnSpc>
            </a:pPr>
            <a:r>
              <a:rPr lang="en-US" sz="2000" dirty="0">
                <a:latin typeface="Times New Roman" panose="02020603050405020304" pitchFamily="18" charset="0"/>
                <a:cs typeface="Times New Roman" panose="02020603050405020304" pitchFamily="18" charset="0"/>
              </a:rPr>
              <a:t>The project has a pre-determined time span </a:t>
            </a:r>
          </a:p>
          <a:p>
            <a:pPr algn="just">
              <a:lnSpc>
                <a:spcPct val="170000"/>
              </a:lnSpc>
            </a:pPr>
            <a:r>
              <a:rPr lang="en-US" sz="2000" dirty="0">
                <a:latin typeface="Times New Roman" panose="02020603050405020304" pitchFamily="18" charset="0"/>
                <a:cs typeface="Times New Roman" panose="02020603050405020304" pitchFamily="18" charset="0"/>
              </a:rPr>
              <a:t>Work is carried out for someone other than yourself</a:t>
            </a:r>
          </a:p>
          <a:p>
            <a:pPr algn="just">
              <a:lnSpc>
                <a:spcPct val="170000"/>
              </a:lnSpc>
            </a:pPr>
            <a:r>
              <a:rPr lang="en-US" sz="2000" dirty="0">
                <a:latin typeface="Times New Roman" panose="02020603050405020304" pitchFamily="18" charset="0"/>
                <a:cs typeface="Times New Roman" panose="02020603050405020304" pitchFamily="18" charset="0"/>
              </a:rPr>
              <a:t>Work involves several specialism’s </a:t>
            </a:r>
          </a:p>
          <a:p>
            <a:pPr algn="just">
              <a:lnSpc>
                <a:spcPct val="170000"/>
              </a:lnSpc>
            </a:pPr>
            <a:r>
              <a:rPr lang="en-US" sz="2000" dirty="0">
                <a:latin typeface="Times New Roman" panose="02020603050405020304" pitchFamily="18" charset="0"/>
                <a:cs typeface="Times New Roman" panose="02020603050405020304" pitchFamily="18" charset="0"/>
              </a:rPr>
              <a:t>Work is carried out in several phases</a:t>
            </a:r>
          </a:p>
          <a:p>
            <a:pPr algn="just">
              <a:lnSpc>
                <a:spcPct val="170000"/>
              </a:lnSpc>
            </a:pPr>
            <a:r>
              <a:rPr lang="en-US" sz="2000" dirty="0">
                <a:latin typeface="Times New Roman" panose="02020603050405020304" pitchFamily="18" charset="0"/>
                <a:cs typeface="Times New Roman" panose="02020603050405020304" pitchFamily="18" charset="0"/>
              </a:rPr>
              <a:t> The resources that are available for use on the project are constrained</a:t>
            </a:r>
          </a:p>
          <a:p>
            <a:pPr algn="just">
              <a:lnSpc>
                <a:spcPct val="170000"/>
              </a:lnSpc>
            </a:pPr>
            <a:r>
              <a:rPr lang="en-US" sz="2000" dirty="0">
                <a:latin typeface="Times New Roman" panose="02020603050405020304" pitchFamily="18" charset="0"/>
                <a:cs typeface="Times New Roman" panose="02020603050405020304" pitchFamily="18" charset="0"/>
              </a:rPr>
              <a:t> The project is large or complex. The project that employs 20 developers is likely to be disproportionately more difficult than one with only 20 staff because of the need for additional coordination. </a:t>
            </a:r>
            <a:endParaRPr lang="en-IN" sz="2000" dirty="0">
              <a:latin typeface="Times New Roman" panose="02020603050405020304" pitchFamily="18" charset="0"/>
              <a:cs typeface="Times New Roman" panose="02020603050405020304" pitchFamily="18" charset="0"/>
            </a:endParaRPr>
          </a:p>
          <a:p>
            <a:pPr algn="just">
              <a:lnSpc>
                <a:spcPct val="170000"/>
              </a:lnSpc>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7435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A260696-187E-9098-2994-B0D1BA39D4F6}"/>
              </a:ext>
            </a:extLst>
          </p:cNvPr>
          <p:cNvPicPr>
            <a:picLocks noGrp="1" noChangeAspect="1"/>
          </p:cNvPicPr>
          <p:nvPr>
            <p:ph idx="1"/>
          </p:nvPr>
        </p:nvPicPr>
        <p:blipFill>
          <a:blip r:embed="rId2"/>
          <a:stretch>
            <a:fillRect/>
          </a:stretch>
        </p:blipFill>
        <p:spPr>
          <a:xfrm>
            <a:off x="1210281" y="548377"/>
            <a:ext cx="9771437" cy="5665136"/>
          </a:xfrm>
          <a:prstGeom prst="rect">
            <a:avLst/>
          </a:prstGeom>
        </p:spPr>
      </p:pic>
    </p:spTree>
    <p:extLst>
      <p:ext uri="{BB962C8B-B14F-4D97-AF65-F5344CB8AC3E}">
        <p14:creationId xmlns:p14="http://schemas.microsoft.com/office/powerpoint/2010/main" val="1415414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5543C-3BA7-28AE-2132-FE33C2D4D680}"/>
              </a:ext>
            </a:extLst>
          </p:cNvPr>
          <p:cNvSpPr>
            <a:spLocks noGrp="1"/>
          </p:cNvSpPr>
          <p:nvPr>
            <p:ph type="title"/>
          </p:nvPr>
        </p:nvSpPr>
        <p:spPr>
          <a:xfrm>
            <a:off x="838200" y="0"/>
            <a:ext cx="10515600" cy="517794"/>
          </a:xfrm>
        </p:spPr>
        <p:txBody>
          <a:bodyPr>
            <a:normAutofit/>
          </a:bodyPr>
          <a:lstStyle/>
          <a:p>
            <a:r>
              <a:rPr lang="en-US" sz="2400" b="1" dirty="0">
                <a:latin typeface="Times New Roman" panose="02020603050405020304" pitchFamily="18" charset="0"/>
                <a:cs typeface="Times New Roman" panose="02020603050405020304" pitchFamily="18" charset="0"/>
              </a:rPr>
              <a:t>1.4 SOFTWARE PROJECTS VERSUS OTHER TYPES OF PROJECT:</a:t>
            </a:r>
            <a:endParaRPr lang="en-IN"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63506FF-A267-4CFC-9768-9C1B85D0674F}"/>
              </a:ext>
            </a:extLst>
          </p:cNvPr>
          <p:cNvSpPr>
            <a:spLocks noGrp="1"/>
          </p:cNvSpPr>
          <p:nvPr>
            <p:ph idx="1"/>
          </p:nvPr>
        </p:nvSpPr>
        <p:spPr>
          <a:xfrm>
            <a:off x="838200" y="517794"/>
            <a:ext cx="10515600" cy="5659169"/>
          </a:xfrm>
        </p:spPr>
        <p:txBody>
          <a:bodyPr>
            <a:normAutofit fontScale="85000" lnSpcReduction="10000"/>
          </a:bodyPr>
          <a:lstStyle/>
          <a:p>
            <a:pPr algn="just">
              <a:lnSpc>
                <a:spcPct val="160000"/>
              </a:lnSpc>
            </a:pPr>
            <a:r>
              <a:rPr lang="en-US" sz="2400" dirty="0">
                <a:latin typeface="Times New Roman" panose="02020603050405020304" pitchFamily="18" charset="0"/>
                <a:cs typeface="Times New Roman" panose="02020603050405020304" pitchFamily="18" charset="0"/>
              </a:rPr>
              <a:t>Many of the techniques of general project management are applicable to software project  management. One way of perceiving software project management is as the process of making  visible that which is invisible. </a:t>
            </a:r>
          </a:p>
          <a:p>
            <a:pPr algn="just">
              <a:lnSpc>
                <a:spcPct val="160000"/>
              </a:lnSpc>
            </a:pPr>
            <a:r>
              <a:rPr lang="en-US" sz="2400" b="1" dirty="0">
                <a:latin typeface="Times New Roman" panose="02020603050405020304" pitchFamily="18" charset="0"/>
                <a:cs typeface="Times New Roman" panose="02020603050405020304" pitchFamily="18" charset="0"/>
              </a:rPr>
              <a:t>Invisibility:</a:t>
            </a:r>
            <a:r>
              <a:rPr lang="en-US" sz="2400" dirty="0">
                <a:latin typeface="Times New Roman" panose="02020603050405020304" pitchFamily="18" charset="0"/>
                <a:cs typeface="Times New Roman" panose="02020603050405020304" pitchFamily="18" charset="0"/>
              </a:rPr>
              <a:t> When a physical artifact such as a bridge or road is being constructed the progress being made can actually be seen. With software, progress is not immediately visible. </a:t>
            </a:r>
          </a:p>
          <a:p>
            <a:pPr algn="just">
              <a:lnSpc>
                <a:spcPct val="160000"/>
              </a:lnSpc>
            </a:pPr>
            <a:r>
              <a:rPr lang="en-US" sz="2400" b="1" dirty="0">
                <a:latin typeface="Times New Roman" panose="02020603050405020304" pitchFamily="18" charset="0"/>
                <a:cs typeface="Times New Roman" panose="02020603050405020304" pitchFamily="18" charset="0"/>
              </a:rPr>
              <a:t>Complexity:</a:t>
            </a:r>
            <a:r>
              <a:rPr lang="en-US" sz="2400" dirty="0">
                <a:latin typeface="Times New Roman" panose="02020603050405020304" pitchFamily="18" charset="0"/>
                <a:cs typeface="Times New Roman" panose="02020603050405020304" pitchFamily="18" charset="0"/>
              </a:rPr>
              <a:t> Software products contain more complexity than other engineered artifacts. </a:t>
            </a:r>
          </a:p>
          <a:p>
            <a:pPr algn="just">
              <a:lnSpc>
                <a:spcPct val="160000"/>
              </a:lnSpc>
            </a:pPr>
            <a:r>
              <a:rPr lang="en-US" sz="2400" b="1" dirty="0">
                <a:latin typeface="Times New Roman" panose="02020603050405020304" pitchFamily="18" charset="0"/>
                <a:cs typeface="Times New Roman" panose="02020603050405020304" pitchFamily="18" charset="0"/>
              </a:rPr>
              <a:t>Conformity: </a:t>
            </a:r>
            <a:r>
              <a:rPr lang="en-US" sz="2400" dirty="0">
                <a:latin typeface="Times New Roman" panose="02020603050405020304" pitchFamily="18" charset="0"/>
                <a:cs typeface="Times New Roman" panose="02020603050405020304" pitchFamily="18" charset="0"/>
              </a:rPr>
              <a:t>The ‘traditional’ engineer is usually working with physical systems and physical  materials like cement and steel. These physical systems can have some complexity, but are governed by physical laws that are consistent. Software developers have to conform to the requirements of human clients. It is not just that individuals can be inconsistent.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4423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13C746-F021-4453-8BA8-13BD2E31EE1F}"/>
              </a:ext>
            </a:extLst>
          </p:cNvPr>
          <p:cNvSpPr>
            <a:spLocks noGrp="1"/>
          </p:cNvSpPr>
          <p:nvPr>
            <p:ph idx="1"/>
          </p:nvPr>
        </p:nvSpPr>
        <p:spPr>
          <a:xfrm>
            <a:off x="838200" y="418641"/>
            <a:ext cx="10515600" cy="5758322"/>
          </a:xfrm>
        </p:spPr>
        <p:txBody>
          <a:bodyPr>
            <a:normAutofit/>
          </a:bodyPr>
          <a:lstStyle/>
          <a:p>
            <a:pPr algn="just">
              <a:lnSpc>
                <a:spcPct val="160000"/>
              </a:lnSpc>
            </a:pPr>
            <a:r>
              <a:rPr lang="en-US" sz="2400" b="1" dirty="0">
                <a:latin typeface="Times New Roman" panose="02020603050405020304" pitchFamily="18" charset="0"/>
                <a:cs typeface="Times New Roman" panose="02020603050405020304" pitchFamily="18" charset="0"/>
              </a:rPr>
              <a:t>Flexibility:</a:t>
            </a:r>
            <a:r>
              <a:rPr lang="en-US" sz="2400" dirty="0">
                <a:latin typeface="Times New Roman" panose="02020603050405020304" pitchFamily="18" charset="0"/>
                <a:cs typeface="Times New Roman" panose="02020603050405020304" pitchFamily="18" charset="0"/>
              </a:rPr>
              <a:t> The ease with which software can be changed is usually seen as one of its strengths. However, this means that where the software system interfaces with a physical or organizational system, it is expected that, where necessary, the software will change to accommodate the other components rather than vice versa. This means the software systems are likely to be subject to a high degree of change. </a:t>
            </a:r>
          </a:p>
          <a:p>
            <a:pPr algn="just">
              <a:lnSpc>
                <a:spcPct val="160000"/>
              </a:lnSpc>
            </a:pPr>
            <a:r>
              <a:rPr lang="en-US" sz="2400" dirty="0">
                <a:latin typeface="Times New Roman" panose="02020603050405020304" pitchFamily="18" charset="0"/>
                <a:cs typeface="Times New Roman" panose="02020603050405020304" pitchFamily="18" charset="0"/>
              </a:rPr>
              <a:t>An example for infrastructure project is construction of a flyover. An example for a software project is development of a payroll management system for an organization using Oracle l0g and Oracle Forms 10G.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23412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6BA98-6E58-4CAE-0C84-0319F5DAF071}"/>
              </a:ext>
            </a:extLst>
          </p:cNvPr>
          <p:cNvSpPr>
            <a:spLocks noGrp="1"/>
          </p:cNvSpPr>
          <p:nvPr>
            <p:ph type="title"/>
          </p:nvPr>
        </p:nvSpPr>
        <p:spPr>
          <a:xfrm>
            <a:off x="838200" y="76678"/>
            <a:ext cx="10515600" cy="604359"/>
          </a:xfrm>
        </p:spPr>
        <p:txBody>
          <a:bodyPr>
            <a:normAutofit fontScale="90000"/>
          </a:bodyPr>
          <a:lstStyle/>
          <a:p>
            <a:r>
              <a:rPr lang="en-US" b="1" dirty="0">
                <a:latin typeface="Times New Roman" panose="02020603050405020304" pitchFamily="18" charset="0"/>
                <a:cs typeface="Times New Roman" panose="02020603050405020304" pitchFamily="18" charset="0"/>
              </a:rPr>
              <a:t>1.5 CONTRACT MANAGEMENT </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F90DA4E-37AB-CD25-2B0E-53EF04C2C43C}"/>
              </a:ext>
            </a:extLst>
          </p:cNvPr>
          <p:cNvSpPr>
            <a:spLocks noGrp="1"/>
          </p:cNvSpPr>
          <p:nvPr>
            <p:ph idx="1"/>
          </p:nvPr>
        </p:nvSpPr>
        <p:spPr>
          <a:xfrm>
            <a:off x="0" y="550844"/>
            <a:ext cx="12192000" cy="6307156"/>
          </a:xfrm>
        </p:spPr>
        <p:txBody>
          <a:bodyPr>
            <a:normAutofit fontScale="92500" lnSpcReduction="10000"/>
          </a:bodyPr>
          <a:lstStyle/>
          <a:p>
            <a:pPr algn="just">
              <a:lnSpc>
                <a:spcPct val="170000"/>
              </a:lnSpc>
            </a:pPr>
            <a:r>
              <a:rPr lang="en-US" sz="2000" dirty="0">
                <a:latin typeface="Times New Roman" panose="02020603050405020304" pitchFamily="18" charset="0"/>
                <a:cs typeface="Times New Roman" panose="02020603050405020304" pitchFamily="18" charset="0"/>
              </a:rPr>
              <a:t>In-house projects are where the users and the developers of new software work for the  same organization. </a:t>
            </a:r>
          </a:p>
          <a:p>
            <a:pPr algn="just">
              <a:lnSpc>
                <a:spcPct val="170000"/>
              </a:lnSpc>
            </a:pPr>
            <a:r>
              <a:rPr lang="en-US" sz="2000" dirty="0">
                <a:latin typeface="Times New Roman" panose="02020603050405020304" pitchFamily="18" charset="0"/>
                <a:cs typeface="Times New Roman" panose="02020603050405020304" pitchFamily="18" charset="0"/>
              </a:rPr>
              <a:t>However, increasingly organizations contract out ICT development to outside  developers. Here, the client organization will often appoint a 'project manager' to  supervise the contract who will delegate many technically oriented decisions to the contractors. </a:t>
            </a:r>
          </a:p>
          <a:p>
            <a:pPr algn="just">
              <a:lnSpc>
                <a:spcPct val="170000"/>
              </a:lnSpc>
            </a:pPr>
            <a:r>
              <a:rPr lang="en-US" sz="2000" dirty="0">
                <a:latin typeface="Times New Roman" panose="02020603050405020304" pitchFamily="18" charset="0"/>
                <a:cs typeface="Times New Roman" panose="02020603050405020304" pitchFamily="18" charset="0"/>
              </a:rPr>
              <a:t>Thus, the project manager will not worry about estimating the effort needed to write  individual software components as long as the overall project is within budget and on  time. On the supplier side, there will need to be project managers who deal with the more  technical issues. </a:t>
            </a:r>
          </a:p>
          <a:p>
            <a:pPr algn="just">
              <a:lnSpc>
                <a:spcPct val="170000"/>
              </a:lnSpc>
            </a:pPr>
            <a:r>
              <a:rPr lang="en-US" sz="2000" dirty="0">
                <a:latin typeface="Times New Roman" panose="02020603050405020304" pitchFamily="18" charset="0"/>
                <a:cs typeface="Times New Roman" panose="02020603050405020304" pitchFamily="18" charset="0"/>
              </a:rPr>
              <a:t>Contract management is the process of managing the creation, execution, and analysis  of contracts to maximize operational and financial performance and minimize risk. </a:t>
            </a:r>
          </a:p>
          <a:p>
            <a:pPr algn="just">
              <a:lnSpc>
                <a:spcPct val="170000"/>
              </a:lnSpc>
            </a:pPr>
            <a:r>
              <a:rPr lang="en-US" sz="2000" dirty="0">
                <a:latin typeface="Times New Roman" panose="02020603050405020304" pitchFamily="18" charset="0"/>
                <a:cs typeface="Times New Roman" panose="02020603050405020304" pitchFamily="18" charset="0"/>
              </a:rPr>
              <a:t>It involves various activities from the initial request for a contract, through negotiation,  execution, compliance, and renewal. Effective contract management ensures that all parties to a contract fulfill their obligations as efficiently as possible.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96017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9AFC7-09CC-47CA-4EFA-E413057BB36F}"/>
              </a:ext>
            </a:extLst>
          </p:cNvPr>
          <p:cNvSpPr>
            <a:spLocks noGrp="1"/>
          </p:cNvSpPr>
          <p:nvPr>
            <p:ph type="title"/>
          </p:nvPr>
        </p:nvSpPr>
        <p:spPr>
          <a:xfrm>
            <a:off x="838200" y="365125"/>
            <a:ext cx="10515600" cy="659444"/>
          </a:xfrm>
        </p:spPr>
        <p:txBody>
          <a:bodyPr>
            <a:normAutofit/>
          </a:bodyPr>
          <a:lstStyle/>
          <a:p>
            <a:r>
              <a:rPr lang="en-US" sz="2400" b="1" dirty="0">
                <a:latin typeface="Times New Roman" panose="02020603050405020304" pitchFamily="18" charset="0"/>
                <a:cs typeface="Times New Roman" panose="02020603050405020304" pitchFamily="18" charset="0"/>
              </a:rPr>
              <a:t>1.6 ACTIVITIES COVERED BY SOFTWARE PROJECT MANAGEMENT:</a:t>
            </a:r>
            <a:endParaRPr lang="en-IN"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0652CBE-A63C-E179-FE2B-9D074E55FB1A}"/>
              </a:ext>
            </a:extLst>
          </p:cNvPr>
          <p:cNvSpPr>
            <a:spLocks noGrp="1"/>
          </p:cNvSpPr>
          <p:nvPr>
            <p:ph idx="1"/>
          </p:nvPr>
        </p:nvSpPr>
        <p:spPr>
          <a:xfrm>
            <a:off x="838200" y="1024569"/>
            <a:ext cx="10515600" cy="5152394"/>
          </a:xfrm>
        </p:spPr>
        <p:txBody>
          <a:bodyPr/>
          <a:lstStyle/>
          <a:p>
            <a:pPr>
              <a:lnSpc>
                <a:spcPct val="150000"/>
              </a:lnSpc>
            </a:pPr>
            <a:r>
              <a:rPr lang="en-US" dirty="0">
                <a:latin typeface="Times New Roman" panose="02020603050405020304" pitchFamily="18" charset="0"/>
                <a:cs typeface="Times New Roman" panose="02020603050405020304" pitchFamily="18" charset="0"/>
              </a:rPr>
              <a:t>The activities covered by Software Project management are diagrammatically illustrated as follows: </a:t>
            </a:r>
          </a:p>
          <a:p>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EEF644A-0FB5-A629-E8C1-6C843A4C1F1C}"/>
              </a:ext>
            </a:extLst>
          </p:cNvPr>
          <p:cNvPicPr>
            <a:picLocks noChangeAspect="1"/>
          </p:cNvPicPr>
          <p:nvPr/>
        </p:nvPicPr>
        <p:blipFill>
          <a:blip r:embed="rId2"/>
          <a:stretch>
            <a:fillRect/>
          </a:stretch>
        </p:blipFill>
        <p:spPr>
          <a:xfrm>
            <a:off x="2996720" y="2623788"/>
            <a:ext cx="6775373" cy="3836430"/>
          </a:xfrm>
          <a:prstGeom prst="rect">
            <a:avLst/>
          </a:prstGeom>
        </p:spPr>
      </p:pic>
    </p:spTree>
    <p:extLst>
      <p:ext uri="{BB962C8B-B14F-4D97-AF65-F5344CB8AC3E}">
        <p14:creationId xmlns:p14="http://schemas.microsoft.com/office/powerpoint/2010/main" val="26976207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D8676A-255A-3862-2281-3BB99558D9C1}"/>
              </a:ext>
            </a:extLst>
          </p:cNvPr>
          <p:cNvSpPr>
            <a:spLocks noGrp="1"/>
          </p:cNvSpPr>
          <p:nvPr>
            <p:ph idx="1"/>
          </p:nvPr>
        </p:nvSpPr>
        <p:spPr>
          <a:xfrm>
            <a:off x="0" y="0"/>
            <a:ext cx="12191999" cy="6858000"/>
          </a:xfrm>
        </p:spPr>
        <p:txBody>
          <a:bodyPr>
            <a:normAutofit/>
          </a:bodyPr>
          <a:lstStyle/>
          <a:p>
            <a:pPr marL="0" indent="0" algn="just">
              <a:lnSpc>
                <a:spcPct val="170000"/>
              </a:lnSpc>
              <a:buNone/>
            </a:pPr>
            <a:r>
              <a:rPr lang="en-US" sz="2000" b="1" dirty="0">
                <a:latin typeface="Times New Roman" panose="02020603050405020304" pitchFamily="18" charset="0"/>
                <a:cs typeface="Times New Roman" panose="02020603050405020304" pitchFamily="18" charset="0"/>
              </a:rPr>
              <a:t>1.6.1 The Feasibility Study: </a:t>
            </a:r>
          </a:p>
          <a:p>
            <a:pPr algn="just">
              <a:lnSpc>
                <a:spcPct val="170000"/>
              </a:lnSpc>
            </a:pPr>
            <a:r>
              <a:rPr lang="en-US" sz="2000" dirty="0">
                <a:latin typeface="Times New Roman" panose="02020603050405020304" pitchFamily="18" charset="0"/>
                <a:cs typeface="Times New Roman" panose="02020603050405020304" pitchFamily="18" charset="0"/>
              </a:rPr>
              <a:t>This is an investigation into whether a prospective project is worth starting that it has a valid business case. Information is gathered about the requirements of the proposed application.  The probable developmental and operational costs, along with the value of the benefits of the new  system, are estimated. The study could be part of a strategic planning exercise examining and prioritizing a range of potential software developments.  </a:t>
            </a:r>
          </a:p>
          <a:p>
            <a:pPr marL="0" indent="0" algn="just">
              <a:lnSpc>
                <a:spcPct val="170000"/>
              </a:lnSpc>
              <a:buNone/>
            </a:pPr>
            <a:r>
              <a:rPr lang="en-US" sz="2000" b="1" dirty="0">
                <a:latin typeface="Times New Roman" panose="02020603050405020304" pitchFamily="18" charset="0"/>
                <a:cs typeface="Times New Roman" panose="02020603050405020304" pitchFamily="18" charset="0"/>
              </a:rPr>
              <a:t>1.6.2 Planning: </a:t>
            </a:r>
          </a:p>
          <a:p>
            <a:pPr algn="just">
              <a:lnSpc>
                <a:spcPct val="170000"/>
              </a:lnSpc>
            </a:pPr>
            <a:r>
              <a:rPr lang="en-US" sz="2000" dirty="0">
                <a:latin typeface="Times New Roman" panose="02020603050405020304" pitchFamily="18" charset="0"/>
                <a:cs typeface="Times New Roman" panose="02020603050405020304" pitchFamily="18" charset="0"/>
              </a:rPr>
              <a:t>If the feasibility study produces results which indicate that the prospective project appears viable, planning of the project can take place. However, for a large project, we would not do all  our detailed planning right at the beginning. We would formulate an outline plan for the whole  project and a detailed one for the first stage. More detailed planning of the later stages would be  done as they approached. This is because we would have more detailed and accurate information upon which to base our plans nearer to the start of the later stages.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02420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9F9317-D279-E82A-7431-92DAF5B3E3E4}"/>
              </a:ext>
            </a:extLst>
          </p:cNvPr>
          <p:cNvSpPr>
            <a:spLocks noGrp="1"/>
          </p:cNvSpPr>
          <p:nvPr>
            <p:ph idx="1"/>
          </p:nvPr>
        </p:nvSpPr>
        <p:spPr>
          <a:xfrm>
            <a:off x="0" y="0"/>
            <a:ext cx="12191999" cy="6858000"/>
          </a:xfrm>
        </p:spPr>
        <p:txBody>
          <a:bodyPr>
            <a:normAutofit fontScale="92500"/>
          </a:bodyPr>
          <a:lstStyle/>
          <a:p>
            <a:pPr marL="0" indent="0" algn="just">
              <a:lnSpc>
                <a:spcPct val="160000"/>
              </a:lnSpc>
              <a:buNone/>
            </a:pPr>
            <a:r>
              <a:rPr lang="en-US" b="1" dirty="0">
                <a:latin typeface="Times New Roman" panose="02020603050405020304" pitchFamily="18" charset="0"/>
                <a:cs typeface="Times New Roman" panose="02020603050405020304" pitchFamily="18" charset="0"/>
              </a:rPr>
              <a:t>1.6.3 Project Execution: </a:t>
            </a:r>
          </a:p>
          <a:p>
            <a:pPr algn="just">
              <a:lnSpc>
                <a:spcPct val="160000"/>
              </a:lnSpc>
            </a:pPr>
            <a:r>
              <a:rPr lang="en-US" dirty="0">
                <a:latin typeface="Times New Roman" panose="02020603050405020304" pitchFamily="18" charset="0"/>
                <a:cs typeface="Times New Roman" panose="02020603050405020304" pitchFamily="18" charset="0"/>
              </a:rPr>
              <a:t>The project can now be executed. The execution of a project often contains design and  implementation subphases. The same is illustrated in Figure 1.2 which shows the typical sequence of software development activities recommended in the international standard ISO 12207. </a:t>
            </a:r>
          </a:p>
          <a:p>
            <a:pPr marL="0" indent="0" algn="just">
              <a:lnSpc>
                <a:spcPct val="160000"/>
              </a:lnSpc>
              <a:buNone/>
            </a:pPr>
            <a:r>
              <a:rPr lang="en-US" b="1" dirty="0">
                <a:latin typeface="Times New Roman" panose="02020603050405020304" pitchFamily="18" charset="0"/>
                <a:cs typeface="Times New Roman" panose="02020603050405020304" pitchFamily="18" charset="0"/>
              </a:rPr>
              <a:t>1.6.3.1 Requirements Analysis: </a:t>
            </a:r>
          </a:p>
          <a:p>
            <a:pPr algn="just">
              <a:lnSpc>
                <a:spcPct val="160000"/>
              </a:lnSpc>
            </a:pPr>
            <a:r>
              <a:rPr lang="en-US" dirty="0">
                <a:latin typeface="Times New Roman" panose="02020603050405020304" pitchFamily="18" charset="0"/>
                <a:cs typeface="Times New Roman" panose="02020603050405020304" pitchFamily="18" charset="0"/>
              </a:rPr>
              <a:t>This starts with requirement elicitation or requirement gathering which establishes what the users require of the system that the project is to implement. Some work along these lines will almost certainly have been carried out when the project was evaluated, but now the original  information obtained needs to be updated and supplemented.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07576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2A3F44F-C9CA-BD57-8820-0D1D7BBFEFED}"/>
              </a:ext>
            </a:extLst>
          </p:cNvPr>
          <p:cNvPicPr>
            <a:picLocks noGrp="1" noChangeAspect="1"/>
          </p:cNvPicPr>
          <p:nvPr>
            <p:ph idx="1"/>
          </p:nvPr>
        </p:nvPicPr>
        <p:blipFill>
          <a:blip r:embed="rId2"/>
          <a:stretch>
            <a:fillRect/>
          </a:stretch>
        </p:blipFill>
        <p:spPr>
          <a:xfrm>
            <a:off x="1674564" y="352540"/>
            <a:ext cx="9188067" cy="6505460"/>
          </a:xfrm>
          <a:prstGeom prst="rect">
            <a:avLst/>
          </a:prstGeom>
        </p:spPr>
      </p:pic>
    </p:spTree>
    <p:extLst>
      <p:ext uri="{BB962C8B-B14F-4D97-AF65-F5344CB8AC3E}">
        <p14:creationId xmlns:p14="http://schemas.microsoft.com/office/powerpoint/2010/main" val="2668670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3DE129-4CB1-DABF-2106-51052449C0D0}"/>
              </a:ext>
            </a:extLst>
          </p:cNvPr>
          <p:cNvSpPr>
            <a:spLocks noGrp="1"/>
          </p:cNvSpPr>
          <p:nvPr>
            <p:ph idx="1"/>
          </p:nvPr>
        </p:nvSpPr>
        <p:spPr>
          <a:xfrm>
            <a:off x="0" y="0"/>
            <a:ext cx="12192000" cy="6858000"/>
          </a:xfrm>
        </p:spPr>
        <p:txBody>
          <a:bodyPr>
            <a:normAutofit fontScale="77500" lnSpcReduction="20000"/>
          </a:bodyPr>
          <a:lstStyle/>
          <a:p>
            <a:pPr marL="0" indent="0" algn="just">
              <a:lnSpc>
                <a:spcPct val="160000"/>
              </a:lnSpc>
              <a:buNone/>
            </a:pPr>
            <a:r>
              <a:rPr lang="en-US" b="1" dirty="0">
                <a:latin typeface="Times New Roman" panose="02020603050405020304" pitchFamily="18" charset="0"/>
                <a:cs typeface="Times New Roman" panose="02020603050405020304" pitchFamily="18" charset="0"/>
              </a:rPr>
              <a:t>1.6.3.2 Specification: </a:t>
            </a:r>
          </a:p>
          <a:p>
            <a:pPr algn="just">
              <a:lnSpc>
                <a:spcPct val="160000"/>
              </a:lnSpc>
            </a:pPr>
            <a:r>
              <a:rPr lang="en-US" dirty="0">
                <a:latin typeface="Times New Roman" panose="02020603050405020304" pitchFamily="18" charset="0"/>
                <a:cs typeface="Times New Roman" panose="02020603050405020304" pitchFamily="18" charset="0"/>
              </a:rPr>
              <a:t>Detailed documentation of what the proposed system is to do. </a:t>
            </a:r>
          </a:p>
          <a:p>
            <a:pPr marL="0" indent="0" algn="just">
              <a:lnSpc>
                <a:spcPct val="160000"/>
              </a:lnSpc>
              <a:buNone/>
            </a:pPr>
            <a:r>
              <a:rPr lang="en-US" b="1" dirty="0">
                <a:latin typeface="Times New Roman" panose="02020603050405020304" pitchFamily="18" charset="0"/>
                <a:cs typeface="Times New Roman" panose="02020603050405020304" pitchFamily="18" charset="0"/>
              </a:rPr>
              <a:t>1.6.3.3 Design: </a:t>
            </a:r>
          </a:p>
          <a:p>
            <a:pPr algn="just">
              <a:lnSpc>
                <a:spcPct val="160000"/>
              </a:lnSpc>
            </a:pPr>
            <a:r>
              <a:rPr lang="en-US" dirty="0">
                <a:latin typeface="Times New Roman" panose="02020603050405020304" pitchFamily="18" charset="0"/>
                <a:cs typeface="Times New Roman" panose="02020603050405020304" pitchFamily="18" charset="0"/>
              </a:rPr>
              <a:t>A design has to be drawn up which meets the specification. This design will be in two stages. One will be the external or user design concerned with the external appearance of the  application. The other produces the physical design which tackles the way that the data and software procedures are to be structured internally. </a:t>
            </a:r>
          </a:p>
          <a:p>
            <a:pPr algn="just">
              <a:lnSpc>
                <a:spcPct val="160000"/>
              </a:lnSpc>
            </a:pPr>
            <a:r>
              <a:rPr lang="en-US" b="1" dirty="0">
                <a:latin typeface="Times New Roman" panose="02020603050405020304" pitchFamily="18" charset="0"/>
                <a:cs typeface="Times New Roman" panose="02020603050405020304" pitchFamily="18" charset="0"/>
              </a:rPr>
              <a:t>Architecture Design: </a:t>
            </a:r>
            <a:r>
              <a:rPr lang="en-US" dirty="0">
                <a:latin typeface="Times New Roman" panose="02020603050405020304" pitchFamily="18" charset="0"/>
                <a:cs typeface="Times New Roman" panose="02020603050405020304" pitchFamily="18" charset="0"/>
              </a:rPr>
              <a:t>This maps the requirements to the components of the system that is to be built. At the system level, decisions will need to be made about which processes in the new system will be carried out by the user and which can be computerized. This design  of the system architecture thus forms an input to the development of the software  requirements. A second architecture design process then takes place which maps the software requirements to software components.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6514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74A652-FE31-5D10-15E5-16D82469856C}"/>
              </a:ext>
            </a:extLst>
          </p:cNvPr>
          <p:cNvSpPr>
            <a:spLocks noGrp="1"/>
          </p:cNvSpPr>
          <p:nvPr>
            <p:ph idx="1"/>
          </p:nvPr>
        </p:nvSpPr>
        <p:spPr>
          <a:xfrm>
            <a:off x="0" y="661012"/>
            <a:ext cx="12192000" cy="5515951"/>
          </a:xfrm>
        </p:spPr>
        <p:txBody>
          <a:bodyPr>
            <a:normAutofit/>
          </a:bodyPr>
          <a:lstStyle/>
          <a:p>
            <a:pPr marL="0" indent="0" algn="just">
              <a:lnSpc>
                <a:spcPct val="150000"/>
              </a:lnSpc>
              <a:buNone/>
            </a:pPr>
            <a:r>
              <a:rPr lang="en-US" b="1" dirty="0">
                <a:latin typeface="Times New Roman" panose="02020603050405020304" pitchFamily="18" charset="0"/>
                <a:cs typeface="Times New Roman" panose="02020603050405020304" pitchFamily="18" charset="0"/>
              </a:rPr>
              <a:t>1.6.3.4 Detailed Design:  </a:t>
            </a:r>
          </a:p>
          <a:p>
            <a:pPr algn="just">
              <a:lnSpc>
                <a:spcPct val="150000"/>
              </a:lnSpc>
            </a:pPr>
            <a:r>
              <a:rPr lang="en-US" dirty="0">
                <a:latin typeface="Times New Roman" panose="02020603050405020304" pitchFamily="18" charset="0"/>
                <a:cs typeface="Times New Roman" panose="02020603050405020304" pitchFamily="18" charset="0"/>
              </a:rPr>
              <a:t>  Each software component is made up of a number of software units that can be separately coded and tested. The detailed design of these units is carried out separately.  </a:t>
            </a:r>
          </a:p>
          <a:p>
            <a:pPr algn="just">
              <a:lnSpc>
                <a:spcPct val="150000"/>
              </a:lnSpc>
            </a:pPr>
            <a:r>
              <a:rPr lang="en-US" b="1" dirty="0">
                <a:latin typeface="Times New Roman" panose="02020603050405020304" pitchFamily="18" charset="0"/>
                <a:cs typeface="Times New Roman" panose="02020603050405020304" pitchFamily="18" charset="0"/>
              </a:rPr>
              <a:t>Coding:</a:t>
            </a:r>
            <a:r>
              <a:rPr lang="en-US" dirty="0">
                <a:latin typeface="Times New Roman" panose="02020603050405020304" pitchFamily="18" charset="0"/>
                <a:cs typeface="Times New Roman" panose="02020603050405020304" pitchFamily="18" charset="0"/>
              </a:rPr>
              <a:t> This may refer to writing code in a procedural language or an object-oriented language or could refer to the use of an application-builder. Even where software is not being built from scratch, some modification to the base package could be required to meet the needs of the new application.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14206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0F0AEA-8250-3E98-0D07-8B6FDF1BD273}"/>
              </a:ext>
            </a:extLst>
          </p:cNvPr>
          <p:cNvSpPr>
            <a:spLocks noGrp="1"/>
          </p:cNvSpPr>
          <p:nvPr>
            <p:ph idx="1"/>
          </p:nvPr>
        </p:nvSpPr>
        <p:spPr>
          <a:xfrm>
            <a:off x="0" y="209320"/>
            <a:ext cx="12192000" cy="6648680"/>
          </a:xfrm>
        </p:spPr>
        <p:txBody>
          <a:bodyPr>
            <a:normAutofit fontScale="92500" lnSpcReduction="10000"/>
          </a:bodyPr>
          <a:lstStyle/>
          <a:p>
            <a:pPr marL="0" indent="0" algn="just">
              <a:lnSpc>
                <a:spcPct val="160000"/>
              </a:lnSpc>
              <a:buNone/>
            </a:pPr>
            <a:r>
              <a:rPr lang="en-US" b="1" dirty="0">
                <a:latin typeface="Times New Roman" panose="02020603050405020304" pitchFamily="18" charset="0"/>
                <a:cs typeface="Times New Roman" panose="02020603050405020304" pitchFamily="18" charset="0"/>
              </a:rPr>
              <a:t>1.6.3.5 Testing(Verification and Validation): </a:t>
            </a:r>
          </a:p>
          <a:p>
            <a:pPr algn="just">
              <a:lnSpc>
                <a:spcPct val="160000"/>
              </a:lnSpc>
            </a:pPr>
            <a:r>
              <a:rPr lang="en-US" dirty="0">
                <a:latin typeface="Times New Roman" panose="02020603050405020304" pitchFamily="18" charset="0"/>
                <a:cs typeface="Times New Roman" panose="02020603050405020304" pitchFamily="18" charset="0"/>
              </a:rPr>
              <a:t>Whether software is developed specially for the current application or not, careful testing  will be needed to check that the proposed system meets its requirements. </a:t>
            </a:r>
          </a:p>
          <a:p>
            <a:pPr algn="just">
              <a:lnSpc>
                <a:spcPct val="160000"/>
              </a:lnSpc>
            </a:pPr>
            <a:r>
              <a:rPr lang="en-US" b="1" dirty="0">
                <a:latin typeface="Times New Roman" panose="02020603050405020304" pitchFamily="18" charset="0"/>
                <a:cs typeface="Times New Roman" panose="02020603050405020304" pitchFamily="18" charset="0"/>
              </a:rPr>
              <a:t>Integration: </a:t>
            </a:r>
            <a:r>
              <a:rPr lang="en-US" dirty="0">
                <a:latin typeface="Times New Roman" panose="02020603050405020304" pitchFamily="18" charset="0"/>
                <a:cs typeface="Times New Roman" panose="02020603050405020304" pitchFamily="18" charset="0"/>
              </a:rPr>
              <a:t>The individual components are collected together and tested to see if they meet the overall requirements. Integration could be at the level of software where different software components are combined, or at the level of the system as a whole where the software and other components of the system such as the hardware platforms and networks and the user procedures are brought together. </a:t>
            </a:r>
          </a:p>
          <a:p>
            <a:pPr algn="just">
              <a:lnSpc>
                <a:spcPct val="160000"/>
              </a:lnSpc>
            </a:pPr>
            <a:r>
              <a:rPr lang="en-US" b="1" dirty="0">
                <a:latin typeface="Times New Roman" panose="02020603050405020304" pitchFamily="18" charset="0"/>
                <a:cs typeface="Times New Roman" panose="02020603050405020304" pitchFamily="18" charset="0"/>
              </a:rPr>
              <a:t>Qualification Testing: </a:t>
            </a:r>
            <a:r>
              <a:rPr lang="en-US" dirty="0">
                <a:latin typeface="Times New Roman" panose="02020603050405020304" pitchFamily="18" charset="0"/>
                <a:cs typeface="Times New Roman" panose="02020603050405020304" pitchFamily="18" charset="0"/>
              </a:rPr>
              <a:t>The system, including the software components, has to be tested carefully to ensure that all the requirements have been fulfilled.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26169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720028-B722-671C-1A3C-44F170E43E2C}"/>
              </a:ext>
            </a:extLst>
          </p:cNvPr>
          <p:cNvSpPr>
            <a:spLocks noGrp="1"/>
          </p:cNvSpPr>
          <p:nvPr>
            <p:ph idx="1"/>
          </p:nvPr>
        </p:nvSpPr>
        <p:spPr>
          <a:xfrm>
            <a:off x="838200" y="407624"/>
            <a:ext cx="10515600" cy="5769339"/>
          </a:xfrm>
        </p:spPr>
        <p:txBody>
          <a:bodyPr>
            <a:normAutofit fontScale="92500" lnSpcReduction="20000"/>
          </a:bodyPr>
          <a:lstStyle/>
          <a:p>
            <a:pPr marL="0" indent="0" algn="just">
              <a:lnSpc>
                <a:spcPct val="150000"/>
              </a:lnSpc>
              <a:buNone/>
            </a:pPr>
            <a:r>
              <a:rPr lang="en-US" b="1" dirty="0">
                <a:latin typeface="Times New Roman" panose="02020603050405020304" pitchFamily="18" charset="0"/>
                <a:cs typeface="Times New Roman" panose="02020603050405020304" pitchFamily="18" charset="0"/>
              </a:rPr>
              <a:t>1.6.3.6 Implementation/ Installation: </a:t>
            </a:r>
          </a:p>
          <a:p>
            <a:pPr algn="just">
              <a:lnSpc>
                <a:spcPct val="150000"/>
              </a:lnSpc>
            </a:pPr>
            <a:r>
              <a:rPr lang="en-US" dirty="0">
                <a:latin typeface="Times New Roman" panose="02020603050405020304" pitchFamily="18" charset="0"/>
                <a:cs typeface="Times New Roman" panose="02020603050405020304" pitchFamily="18" charset="0"/>
              </a:rPr>
              <a:t>Some system development practitioners refer to the whole of the project after design as ‘implementation’ (that is, the implementation of the design) while others insist that the term refers to the installation of the system after the software has been developed. </a:t>
            </a:r>
          </a:p>
          <a:p>
            <a:pPr marL="0" indent="0" algn="just">
              <a:lnSpc>
                <a:spcPct val="150000"/>
              </a:lnSpc>
              <a:buNone/>
            </a:pPr>
            <a:r>
              <a:rPr lang="en-US" b="1" dirty="0">
                <a:latin typeface="Times New Roman" panose="02020603050405020304" pitchFamily="18" charset="0"/>
                <a:cs typeface="Times New Roman" panose="02020603050405020304" pitchFamily="18" charset="0"/>
              </a:rPr>
              <a:t>1.6.3.7 Acceptance Support: </a:t>
            </a:r>
          </a:p>
          <a:p>
            <a:pPr algn="just">
              <a:lnSpc>
                <a:spcPct val="150000"/>
              </a:lnSpc>
            </a:pPr>
            <a:r>
              <a:rPr lang="en-US" dirty="0">
                <a:latin typeface="Times New Roman" panose="02020603050405020304" pitchFamily="18" charset="0"/>
                <a:cs typeface="Times New Roman" panose="02020603050405020304" pitchFamily="18" charset="0"/>
              </a:rPr>
              <a:t>Once the system has been implemented there is a continuing need for the correction of any errors that may have crept into the system and for extensions and improvements to the system. Maintenance and support activities may be seen as a series of minor software projects.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65231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2D27F-3BAF-DAE3-15CE-5F2FD3038BA5}"/>
              </a:ext>
            </a:extLst>
          </p:cNvPr>
          <p:cNvSpPr>
            <a:spLocks noGrp="1"/>
          </p:cNvSpPr>
          <p:nvPr>
            <p:ph type="title"/>
          </p:nvPr>
        </p:nvSpPr>
        <p:spPr>
          <a:xfrm>
            <a:off x="838200" y="0"/>
            <a:ext cx="10515600" cy="636361"/>
          </a:xfrm>
        </p:spPr>
        <p:txBody>
          <a:bodyPr>
            <a:normAutofit/>
          </a:bodyPr>
          <a:lstStyle/>
          <a:p>
            <a:r>
              <a:rPr lang="en-US" sz="3200" b="1" dirty="0">
                <a:latin typeface="Times New Roman" panose="02020603050405020304" pitchFamily="18" charset="0"/>
                <a:cs typeface="Times New Roman" panose="02020603050405020304" pitchFamily="18" charset="0"/>
              </a:rPr>
              <a:t>1.7 PLANS, METHODS AND METHODOLOGIES </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CC1CB19-FB78-7F43-4F53-6F7918DC9801}"/>
              </a:ext>
            </a:extLst>
          </p:cNvPr>
          <p:cNvSpPr>
            <a:spLocks noGrp="1"/>
          </p:cNvSpPr>
          <p:nvPr>
            <p:ph idx="1"/>
          </p:nvPr>
        </p:nvSpPr>
        <p:spPr>
          <a:xfrm>
            <a:off x="217714" y="500743"/>
            <a:ext cx="11734800" cy="6150429"/>
          </a:xfrm>
        </p:spPr>
        <p:txBody>
          <a:bodyPr>
            <a:normAutofit fontScale="47500" lnSpcReduction="20000"/>
          </a:bodyPr>
          <a:lstStyle/>
          <a:p>
            <a:pPr marL="0" indent="0" algn="just">
              <a:lnSpc>
                <a:spcPct val="170000"/>
              </a:lnSpc>
              <a:buNone/>
            </a:pPr>
            <a:r>
              <a:rPr lang="en-US" sz="3800" dirty="0">
                <a:latin typeface="Times New Roman" panose="02020603050405020304" pitchFamily="18" charset="0"/>
                <a:cs typeface="Times New Roman" panose="02020603050405020304" pitchFamily="18" charset="0"/>
              </a:rPr>
              <a:t>A plan for an activity must be based on some idea of a method of work. To take a simple example, if you were asked to test some software, even though you do not know anything about  the software to be tested, you could assume that you would need to: </a:t>
            </a:r>
          </a:p>
          <a:p>
            <a:pPr marL="0" indent="0" algn="just">
              <a:lnSpc>
                <a:spcPct val="170000"/>
              </a:lnSpc>
              <a:buNone/>
            </a:pPr>
            <a:r>
              <a:rPr lang="en-US" sz="3800" dirty="0">
                <a:latin typeface="Times New Roman" panose="02020603050405020304" pitchFamily="18" charset="0"/>
                <a:cs typeface="Times New Roman" panose="02020603050405020304" pitchFamily="18" charset="0"/>
              </a:rPr>
              <a:t> Analyze the requirements for the software </a:t>
            </a:r>
          </a:p>
          <a:p>
            <a:pPr marL="0" indent="0" algn="just">
              <a:lnSpc>
                <a:spcPct val="170000"/>
              </a:lnSpc>
              <a:buNone/>
            </a:pPr>
            <a:r>
              <a:rPr lang="en-US" sz="3800" dirty="0">
                <a:latin typeface="Times New Roman" panose="02020603050405020304" pitchFamily="18" charset="0"/>
                <a:cs typeface="Times New Roman" panose="02020603050405020304" pitchFamily="18" charset="0"/>
              </a:rPr>
              <a:t> Devise and write test cases that will check that each requirement has been satisfied </a:t>
            </a:r>
          </a:p>
          <a:p>
            <a:pPr marL="0" indent="0" algn="just">
              <a:lnSpc>
                <a:spcPct val="170000"/>
              </a:lnSpc>
              <a:buNone/>
            </a:pPr>
            <a:r>
              <a:rPr lang="en-US" sz="3800" dirty="0">
                <a:latin typeface="Times New Roman" panose="02020603050405020304" pitchFamily="18" charset="0"/>
                <a:cs typeface="Times New Roman" panose="02020603050405020304" pitchFamily="18" charset="0"/>
              </a:rPr>
              <a:t> Create test scripts and expected results for each test case </a:t>
            </a:r>
          </a:p>
          <a:p>
            <a:pPr marL="0" indent="0" algn="just">
              <a:lnSpc>
                <a:spcPct val="170000"/>
              </a:lnSpc>
              <a:buNone/>
            </a:pPr>
            <a:r>
              <a:rPr lang="en-US" sz="3800" dirty="0">
                <a:latin typeface="Times New Roman" panose="02020603050405020304" pitchFamily="18" charset="0"/>
                <a:cs typeface="Times New Roman" panose="02020603050405020304" pitchFamily="18" charset="0"/>
              </a:rPr>
              <a:t> Compare the actual results and the expected results and identify discrepancies </a:t>
            </a:r>
          </a:p>
          <a:p>
            <a:pPr marL="0" indent="0" algn="just">
              <a:lnSpc>
                <a:spcPct val="170000"/>
              </a:lnSpc>
              <a:buNone/>
            </a:pPr>
            <a:r>
              <a:rPr lang="en-US" sz="3800" dirty="0">
                <a:latin typeface="Times New Roman" panose="02020603050405020304" pitchFamily="18" charset="0"/>
                <a:cs typeface="Times New Roman" panose="02020603050405020304" pitchFamily="18" charset="0"/>
              </a:rPr>
              <a:t>While a method relates to a type of activity in general, a plan takes that method (and perhaps  others) and converts it to real activities, identifying for each activity: </a:t>
            </a:r>
          </a:p>
          <a:p>
            <a:pPr marL="0" indent="0" algn="just">
              <a:lnSpc>
                <a:spcPct val="170000"/>
              </a:lnSpc>
              <a:buNone/>
            </a:pPr>
            <a:r>
              <a:rPr lang="en-US" sz="3800" dirty="0">
                <a:latin typeface="Times New Roman" panose="02020603050405020304" pitchFamily="18" charset="0"/>
                <a:cs typeface="Times New Roman" panose="02020603050405020304" pitchFamily="18" charset="0"/>
              </a:rPr>
              <a:t> Its start and end dates </a:t>
            </a:r>
          </a:p>
          <a:p>
            <a:pPr marL="0" indent="0" algn="just">
              <a:lnSpc>
                <a:spcPct val="170000"/>
              </a:lnSpc>
              <a:buNone/>
            </a:pPr>
            <a:r>
              <a:rPr lang="en-US" sz="3800" dirty="0">
                <a:latin typeface="Times New Roman" panose="02020603050405020304" pitchFamily="18" charset="0"/>
                <a:cs typeface="Times New Roman" panose="02020603050405020304" pitchFamily="18" charset="0"/>
              </a:rPr>
              <a:t> Who will carry it out? </a:t>
            </a:r>
          </a:p>
          <a:p>
            <a:pPr marL="0" indent="0" algn="just">
              <a:lnSpc>
                <a:spcPct val="170000"/>
              </a:lnSpc>
              <a:buNone/>
            </a:pPr>
            <a:r>
              <a:rPr lang="en-US" sz="3800" dirty="0">
                <a:latin typeface="Times New Roman" panose="02020603050405020304" pitchFamily="18" charset="0"/>
                <a:cs typeface="Times New Roman" panose="02020603050405020304" pitchFamily="18" charset="0"/>
              </a:rPr>
              <a:t> What tools and materials will be used?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92326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F9EDA-4037-800D-0436-EE55FA2E5758}"/>
              </a:ext>
            </a:extLst>
          </p:cNvPr>
          <p:cNvSpPr>
            <a:spLocks noGrp="1"/>
          </p:cNvSpPr>
          <p:nvPr>
            <p:ph type="title"/>
          </p:nvPr>
        </p:nvSpPr>
        <p:spPr>
          <a:xfrm>
            <a:off x="838200" y="158297"/>
            <a:ext cx="10515600" cy="614589"/>
          </a:xfrm>
        </p:spPr>
        <p:txBody>
          <a:bodyPr>
            <a:normAutofit/>
          </a:bodyPr>
          <a:lstStyle/>
          <a:p>
            <a:r>
              <a:rPr lang="en-US" sz="2800" b="1" dirty="0">
                <a:latin typeface="Times New Roman" panose="02020603050405020304" pitchFamily="18" charset="0"/>
                <a:cs typeface="Times New Roman" panose="02020603050405020304" pitchFamily="18" charset="0"/>
              </a:rPr>
              <a:t>1.8 SOME WAYS OF CATEGORIZING SOFTWARE PROJECTS </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238DB86-AF86-E76C-611A-A51FA2846ABA}"/>
              </a:ext>
            </a:extLst>
          </p:cNvPr>
          <p:cNvSpPr>
            <a:spLocks noGrp="1"/>
          </p:cNvSpPr>
          <p:nvPr>
            <p:ph idx="1"/>
          </p:nvPr>
        </p:nvSpPr>
        <p:spPr>
          <a:xfrm>
            <a:off x="130629" y="664029"/>
            <a:ext cx="12191999" cy="6035674"/>
          </a:xfrm>
        </p:spPr>
        <p:txBody>
          <a:bodyPr>
            <a:normAutofit lnSpcReduction="10000"/>
          </a:bodyPr>
          <a:lstStyle/>
          <a:p>
            <a:pPr marL="0" indent="0">
              <a:lnSpc>
                <a:spcPct val="160000"/>
              </a:lnSpc>
              <a:buNone/>
            </a:pPr>
            <a:r>
              <a:rPr lang="en-US" sz="2400" dirty="0">
                <a:latin typeface="Times New Roman" panose="02020603050405020304" pitchFamily="18" charset="0"/>
                <a:cs typeface="Times New Roman" panose="02020603050405020304" pitchFamily="18" charset="0"/>
              </a:rPr>
              <a:t>Distinguishing different types of projects is important as different types of tasks need different project approaches e.g. </a:t>
            </a:r>
          </a:p>
          <a:p>
            <a:pPr marL="0" indent="0">
              <a:lnSpc>
                <a:spcPct val="160000"/>
              </a:lnSpc>
              <a:buNone/>
            </a:pPr>
            <a:r>
              <a:rPr lang="en-US" sz="2400" dirty="0">
                <a:latin typeface="Times New Roman" panose="02020603050405020304" pitchFamily="18" charset="0"/>
                <a:cs typeface="Times New Roman" panose="02020603050405020304" pitchFamily="18" charset="0"/>
              </a:rPr>
              <a:t> Changes to the characteristics of software projects </a:t>
            </a:r>
          </a:p>
          <a:p>
            <a:pPr marL="0" indent="0">
              <a:lnSpc>
                <a:spcPct val="160000"/>
              </a:lnSpc>
              <a:buNone/>
            </a:pPr>
            <a:r>
              <a:rPr lang="en-US" sz="2400" dirty="0">
                <a:latin typeface="Times New Roman" panose="02020603050405020304" pitchFamily="18" charset="0"/>
                <a:cs typeface="Times New Roman" panose="02020603050405020304" pitchFamily="18" charset="0"/>
              </a:rPr>
              <a:t> Voluntary systems (such as computer games) versus compulsory systems e.g. the  order processing system in an organization </a:t>
            </a:r>
          </a:p>
          <a:p>
            <a:pPr marL="0" indent="0">
              <a:lnSpc>
                <a:spcPct val="160000"/>
              </a:lnSpc>
              <a:buNone/>
            </a:pPr>
            <a:r>
              <a:rPr lang="en-US" sz="2400" dirty="0">
                <a:latin typeface="Times New Roman" panose="02020603050405020304" pitchFamily="18" charset="0"/>
                <a:cs typeface="Times New Roman" panose="02020603050405020304" pitchFamily="18" charset="0"/>
              </a:rPr>
              <a:t> Information systems versus embedded systems. </a:t>
            </a:r>
          </a:p>
          <a:p>
            <a:pPr marL="0" indent="0">
              <a:lnSpc>
                <a:spcPct val="160000"/>
              </a:lnSpc>
              <a:buNone/>
            </a:pPr>
            <a:r>
              <a:rPr lang="en-US" sz="2400" dirty="0">
                <a:latin typeface="Times New Roman" panose="02020603050405020304" pitchFamily="18" charset="0"/>
                <a:cs typeface="Times New Roman" panose="02020603050405020304" pitchFamily="18" charset="0"/>
              </a:rPr>
              <a:t> Software Products verses services </a:t>
            </a:r>
          </a:p>
          <a:p>
            <a:pPr marL="0" indent="0">
              <a:lnSpc>
                <a:spcPct val="160000"/>
              </a:lnSpc>
              <a:buNone/>
            </a:pPr>
            <a:r>
              <a:rPr lang="en-US" sz="2400" dirty="0">
                <a:latin typeface="Times New Roman" panose="02020603050405020304" pitchFamily="18" charset="0"/>
                <a:cs typeface="Times New Roman" panose="02020603050405020304" pitchFamily="18" charset="0"/>
              </a:rPr>
              <a:t> Product-development versus outsourced. </a:t>
            </a:r>
          </a:p>
          <a:p>
            <a:pPr marL="0" indent="0">
              <a:lnSpc>
                <a:spcPct val="160000"/>
              </a:lnSpc>
              <a:buNone/>
            </a:pPr>
            <a:r>
              <a:rPr lang="en-US" sz="2400" dirty="0">
                <a:latin typeface="Times New Roman" panose="02020603050405020304" pitchFamily="18" charset="0"/>
                <a:cs typeface="Times New Roman" panose="02020603050405020304" pitchFamily="18" charset="0"/>
              </a:rPr>
              <a:t> Object-driven development.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54037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44171C-40BB-224C-4ED5-AF782BA56BD7}"/>
              </a:ext>
            </a:extLst>
          </p:cNvPr>
          <p:cNvSpPr>
            <a:spLocks noGrp="1"/>
          </p:cNvSpPr>
          <p:nvPr>
            <p:ph idx="1"/>
          </p:nvPr>
        </p:nvSpPr>
        <p:spPr>
          <a:xfrm>
            <a:off x="555171" y="130630"/>
            <a:ext cx="10798629" cy="6455228"/>
          </a:xfrm>
        </p:spPr>
        <p:txBody>
          <a:bodyPr>
            <a:normAutofit fontScale="92500"/>
          </a:bodyPr>
          <a:lstStyle/>
          <a:p>
            <a:pPr marL="0" indent="0" algn="just">
              <a:lnSpc>
                <a:spcPct val="170000"/>
              </a:lnSpc>
              <a:buNone/>
            </a:pPr>
            <a:r>
              <a:rPr lang="en-US" sz="2400" b="1" dirty="0">
                <a:latin typeface="Times New Roman" panose="02020603050405020304" pitchFamily="18" charset="0"/>
                <a:cs typeface="Times New Roman" panose="02020603050405020304" pitchFamily="18" charset="0"/>
              </a:rPr>
              <a:t> CHANGES TO THE CHARACTERISTICS OF SOFTWARE PROJECTS </a:t>
            </a:r>
          </a:p>
          <a:p>
            <a:pPr marL="0" indent="0" algn="just">
              <a:lnSpc>
                <a:spcPct val="170000"/>
              </a:lnSpc>
              <a:buNone/>
            </a:pPr>
            <a:r>
              <a:rPr lang="en-US" sz="2400" dirty="0">
                <a:latin typeface="Times New Roman" panose="02020603050405020304" pitchFamily="18" charset="0"/>
                <a:cs typeface="Times New Roman" panose="02020603050405020304" pitchFamily="18" charset="0"/>
              </a:rPr>
              <a:t> Over the last few decades, the characteristics of software projects have undergone  drastic changes. In earlier days of software development every software was being written from scratch and there was no code reusability. In contrast, at present almost every programming language supports ways of reusing existing code, by customizing  and extending existing code, efficiently and dynamically linking library routines and  support for frameworks. </a:t>
            </a:r>
          </a:p>
          <a:p>
            <a:pPr marL="0" indent="0" algn="just">
              <a:lnSpc>
                <a:spcPct val="170000"/>
              </a:lnSpc>
              <a:buNone/>
            </a:pPr>
            <a:r>
              <a:rPr lang="en-US" sz="2400" dirty="0">
                <a:latin typeface="Times New Roman" panose="02020603050405020304" pitchFamily="18" charset="0"/>
                <a:cs typeface="Times New Roman" panose="02020603050405020304" pitchFamily="18" charset="0"/>
              </a:rPr>
              <a:t> Project durations have now shrunk to only a few months compared to multi-year  projects. </a:t>
            </a:r>
          </a:p>
          <a:p>
            <a:pPr marL="0" indent="0" algn="just">
              <a:lnSpc>
                <a:spcPct val="170000"/>
              </a:lnSpc>
              <a:buNone/>
            </a:pPr>
            <a:r>
              <a:rPr lang="en-US" sz="2400" dirty="0">
                <a:latin typeface="Times New Roman" panose="02020603050405020304" pitchFamily="18" charset="0"/>
                <a:cs typeface="Times New Roman" panose="02020603050405020304" pitchFamily="18" charset="0"/>
              </a:rPr>
              <a:t> In past, customer participation in software projects was largely restricted to only initial interactions, gathering and specification and taking delivery of the developed  software, but at present, customer participation in almost every aspect of a project.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61532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4A45DA-4194-AFB4-F203-8B6F847D02D7}"/>
              </a:ext>
            </a:extLst>
          </p:cNvPr>
          <p:cNvSpPr>
            <a:spLocks noGrp="1"/>
          </p:cNvSpPr>
          <p:nvPr>
            <p:ph idx="1"/>
          </p:nvPr>
        </p:nvSpPr>
        <p:spPr>
          <a:xfrm>
            <a:off x="838200" y="348343"/>
            <a:ext cx="10515600" cy="5828620"/>
          </a:xfrm>
        </p:spPr>
        <p:txBody>
          <a:bodyPr>
            <a:normAutofit lnSpcReduction="10000"/>
          </a:bodyPr>
          <a:lstStyle/>
          <a:p>
            <a:pPr marL="0" indent="0">
              <a:lnSpc>
                <a:spcPct val="170000"/>
              </a:lnSpc>
              <a:buNone/>
            </a:pPr>
            <a:r>
              <a:rPr lang="en-US" sz="3200" b="1" dirty="0"/>
              <a:t> </a:t>
            </a:r>
            <a:r>
              <a:rPr lang="en-US" sz="3200" b="1" dirty="0">
                <a:latin typeface="Times New Roman" panose="02020603050405020304" pitchFamily="18" charset="0"/>
                <a:cs typeface="Times New Roman" panose="02020603050405020304" pitchFamily="18" charset="0"/>
              </a:rPr>
              <a:t>COMPULSORY VERSUS VOLUNTARY USERS </a:t>
            </a:r>
          </a:p>
          <a:p>
            <a:pPr marL="0" indent="0" algn="just">
              <a:lnSpc>
                <a:spcPct val="170000"/>
              </a:lnSpc>
              <a:buNone/>
            </a:pPr>
            <a:r>
              <a:rPr lang="en-US" dirty="0">
                <a:latin typeface="Times New Roman" panose="02020603050405020304" pitchFamily="18" charset="0"/>
                <a:cs typeface="Times New Roman" panose="02020603050405020304" pitchFamily="18" charset="0"/>
              </a:rPr>
              <a:t> In workplaces there are systems that staff have to use if they want to do something, such as recording a sale. However, use of a system is increasingly voluntary, as in the case of  computer games. Here it is difficult to elicit precise requirements from potential users as we could with a business system. What the game will do will thus depend much on the informed ingenuity of the developers, along with techniques such as market surveys, focus groups and  prototype evaluation.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26785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7A453-A547-EE35-05DA-1B5E7A88A0CB}"/>
              </a:ext>
            </a:extLst>
          </p:cNvPr>
          <p:cNvSpPr>
            <a:spLocks noGrp="1"/>
          </p:cNvSpPr>
          <p:nvPr>
            <p:ph type="title"/>
          </p:nvPr>
        </p:nvSpPr>
        <p:spPr/>
        <p:txBody>
          <a:bodyPr>
            <a:normAutofit/>
          </a:bodyPr>
          <a:lstStyle/>
          <a:p>
            <a:r>
              <a:rPr lang="en-IN" sz="2800" b="1" dirty="0">
                <a:latin typeface="Times New Roman" panose="02020603050405020304" pitchFamily="18" charset="0"/>
                <a:cs typeface="Times New Roman" panose="02020603050405020304" pitchFamily="18" charset="0"/>
              </a:rPr>
              <a:t>INFORMATION SYSTEMS VERSUS EMBEDDED SYSTEMS</a:t>
            </a:r>
          </a:p>
        </p:txBody>
      </p:sp>
      <p:sp>
        <p:nvSpPr>
          <p:cNvPr id="3" name="Content Placeholder 2">
            <a:extLst>
              <a:ext uri="{FF2B5EF4-FFF2-40B4-BE49-F238E27FC236}">
                <a16:creationId xmlns:a16="http://schemas.microsoft.com/office/drawing/2014/main" id="{BA6E98CB-7F18-A18D-2FC4-3A5991969230}"/>
              </a:ext>
            </a:extLst>
          </p:cNvPr>
          <p:cNvSpPr>
            <a:spLocks noGrp="1"/>
          </p:cNvSpPr>
          <p:nvPr>
            <p:ph idx="1"/>
          </p:nvPr>
        </p:nvSpPr>
        <p:spPr>
          <a:xfrm>
            <a:off x="838200" y="1690688"/>
            <a:ext cx="10515600" cy="4486275"/>
          </a:xfrm>
        </p:spPr>
        <p:txBody>
          <a:bodyPr>
            <a:normAutofit lnSpcReduction="10000"/>
          </a:bodyPr>
          <a:lstStyle/>
          <a:p>
            <a:pPr algn="just">
              <a:lnSpc>
                <a:spcPct val="150000"/>
              </a:lnSpc>
            </a:pPr>
            <a:r>
              <a:rPr lang="en-US" dirty="0">
                <a:latin typeface="Times New Roman" panose="02020603050405020304" pitchFamily="18" charset="0"/>
                <a:cs typeface="Times New Roman" panose="02020603050405020304" pitchFamily="18" charset="0"/>
              </a:rPr>
              <a:t>A traditional distinction has been between information systems which enable staff to carry out office processes and embedded systems which control machines. A stock control system would be an information system. An embedded, or process control, system might control the air conditioning equipment in a building. Some systems may have elements of both where, for example, the stock control system also controls an automated warehouse.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6043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028FE-879D-7A75-B96B-06A3746A4169}"/>
              </a:ext>
            </a:extLst>
          </p:cNvPr>
          <p:cNvSpPr>
            <a:spLocks noGrp="1"/>
          </p:cNvSpPr>
          <p:nvPr>
            <p:ph type="title"/>
          </p:nvPr>
        </p:nvSpPr>
        <p:spPr>
          <a:xfrm>
            <a:off x="1110343" y="88219"/>
            <a:ext cx="10515600" cy="592818"/>
          </a:xfrm>
        </p:spPr>
        <p:txBody>
          <a:bodyPr>
            <a:normAutofit/>
          </a:bodyPr>
          <a:lstStyle/>
          <a:p>
            <a:r>
              <a:rPr lang="en-IN" sz="3600" b="1" dirty="0">
                <a:latin typeface="Times New Roman" panose="02020603050405020304" pitchFamily="18" charset="0"/>
                <a:cs typeface="Times New Roman" panose="02020603050405020304" pitchFamily="18" charset="0"/>
              </a:rPr>
              <a:t>SOFTWARE PRODUCTS VERSES SERVICES </a:t>
            </a:r>
          </a:p>
        </p:txBody>
      </p:sp>
      <p:sp>
        <p:nvSpPr>
          <p:cNvPr id="3" name="Content Placeholder 2">
            <a:extLst>
              <a:ext uri="{FF2B5EF4-FFF2-40B4-BE49-F238E27FC236}">
                <a16:creationId xmlns:a16="http://schemas.microsoft.com/office/drawing/2014/main" id="{B522F21D-C41E-A7A5-0D2E-DA13F1B2FD6C}"/>
              </a:ext>
            </a:extLst>
          </p:cNvPr>
          <p:cNvSpPr>
            <a:spLocks noGrp="1"/>
          </p:cNvSpPr>
          <p:nvPr>
            <p:ph idx="1"/>
          </p:nvPr>
        </p:nvSpPr>
        <p:spPr>
          <a:xfrm>
            <a:off x="381000" y="925286"/>
            <a:ext cx="11277600" cy="5251677"/>
          </a:xfrm>
        </p:spPr>
        <p:txBody>
          <a:bodyPr>
            <a:normAutofit fontScale="85000" lnSpcReduction="20000"/>
          </a:bodyPr>
          <a:lstStyle/>
          <a:p>
            <a:pPr algn="just">
              <a:lnSpc>
                <a:spcPct val="170000"/>
              </a:lnSpc>
            </a:pPr>
            <a:r>
              <a:rPr lang="en-US" dirty="0">
                <a:latin typeface="Times New Roman" panose="02020603050405020304" pitchFamily="18" charset="0"/>
                <a:cs typeface="Times New Roman" panose="02020603050405020304" pitchFamily="18" charset="0"/>
              </a:rPr>
              <a:t>All types of software projects can broadly be classified into software product development projects and software services projects. It can be further classified as shown in below Fig.1.7 A software product development concerns developing the software by keeping the requirements to the general customers in mind and developed software is usually sold-off-the </a:t>
            </a:r>
            <a:r>
              <a:rPr lang="en-US" dirty="0" err="1">
                <a:latin typeface="Times New Roman" panose="02020603050405020304" pitchFamily="18" charset="0"/>
                <a:cs typeface="Times New Roman" panose="02020603050405020304" pitchFamily="18" charset="0"/>
              </a:rPr>
              <a:t>helf</a:t>
            </a:r>
            <a:r>
              <a:rPr lang="en-US" dirty="0">
                <a:latin typeface="Times New Roman" panose="02020603050405020304" pitchFamily="18" charset="0"/>
                <a:cs typeface="Times New Roman" panose="02020603050405020304" pitchFamily="18" charset="0"/>
              </a:rPr>
              <a:t> to a large number of customers.</a:t>
            </a:r>
          </a:p>
          <a:p>
            <a:pPr algn="just">
              <a:lnSpc>
                <a:spcPct val="170000"/>
              </a:lnSpc>
            </a:pPr>
            <a:r>
              <a:rPr lang="en-US" dirty="0">
                <a:latin typeface="Times New Roman" panose="02020603050405020304" pitchFamily="18" charset="0"/>
                <a:cs typeface="Times New Roman" panose="02020603050405020304" pitchFamily="18" charset="0"/>
              </a:rPr>
              <a:t>Examples of generic software development are Microsoft’s Windows operating system and Oracle Corporatism’s Oracle 8i database management software. Domain-specific software targets specific segments of customers(verticals) Example BANCS from TCS. FINACLE from Infosys.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16252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BAB8E-ECD2-FED8-74DF-498CD9C49CF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E54B0316-4AF5-D28E-4853-E3A03FB9B3FF}"/>
              </a:ext>
            </a:extLst>
          </p:cNvPr>
          <p:cNvPicPr>
            <a:picLocks noGrp="1" noChangeAspect="1"/>
          </p:cNvPicPr>
          <p:nvPr>
            <p:ph idx="1"/>
          </p:nvPr>
        </p:nvPicPr>
        <p:blipFill>
          <a:blip r:embed="rId2"/>
          <a:stretch>
            <a:fillRect/>
          </a:stretch>
        </p:blipFill>
        <p:spPr>
          <a:xfrm>
            <a:off x="544286" y="365125"/>
            <a:ext cx="11266714" cy="6013904"/>
          </a:xfrm>
          <a:prstGeom prst="rect">
            <a:avLst/>
          </a:prstGeom>
        </p:spPr>
      </p:pic>
    </p:spTree>
    <p:extLst>
      <p:ext uri="{BB962C8B-B14F-4D97-AF65-F5344CB8AC3E}">
        <p14:creationId xmlns:p14="http://schemas.microsoft.com/office/powerpoint/2010/main" val="36187036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A09968-383A-47C2-9539-95CB22268D88}"/>
              </a:ext>
            </a:extLst>
          </p:cNvPr>
          <p:cNvSpPr>
            <a:spLocks noGrp="1"/>
          </p:cNvSpPr>
          <p:nvPr>
            <p:ph idx="1"/>
          </p:nvPr>
        </p:nvSpPr>
        <p:spPr>
          <a:xfrm>
            <a:off x="370115" y="185058"/>
            <a:ext cx="11636828" cy="5991906"/>
          </a:xfrm>
        </p:spPr>
        <p:txBody>
          <a:bodyPr>
            <a:normAutofit fontScale="92500" lnSpcReduction="20000"/>
          </a:bodyPr>
          <a:lstStyle/>
          <a:p>
            <a:pPr marL="0" indent="0" algn="just">
              <a:lnSpc>
                <a:spcPct val="160000"/>
              </a:lnSpc>
              <a:buNone/>
            </a:pPr>
            <a:r>
              <a:rPr lang="en-US" sz="2400" b="1" dirty="0">
                <a:latin typeface="Times New Roman" panose="02020603050405020304" pitchFamily="18" charset="0"/>
                <a:cs typeface="Times New Roman" panose="02020603050405020304" pitchFamily="18" charset="0"/>
              </a:rPr>
              <a:t>Outsourced Projects </a:t>
            </a:r>
          </a:p>
          <a:p>
            <a:pPr algn="just">
              <a:lnSpc>
                <a:spcPct val="160000"/>
              </a:lnSpc>
            </a:pPr>
            <a:r>
              <a:rPr lang="en-US" sz="2400" dirty="0">
                <a:latin typeface="Times New Roman" panose="02020603050405020304" pitchFamily="18" charset="0"/>
                <a:cs typeface="Times New Roman" panose="02020603050405020304" pitchFamily="18" charset="0"/>
              </a:rPr>
              <a:t>While developing a large project, it makes good commercial sense for a company to outsource  some parts of its work to other companies. </a:t>
            </a:r>
          </a:p>
          <a:p>
            <a:pPr algn="just">
              <a:lnSpc>
                <a:spcPct val="160000"/>
              </a:lnSpc>
            </a:pPr>
            <a:r>
              <a:rPr lang="en-US" sz="2400" dirty="0">
                <a:latin typeface="Times New Roman" panose="02020603050405020304" pitchFamily="18" charset="0"/>
                <a:cs typeface="Times New Roman" panose="02020603050405020304" pitchFamily="18" charset="0"/>
              </a:rPr>
              <a:t>For example, A company may consider outsourcing as a good option, it if feels that it does  not have sufficient expertise to develop some specific parts of the product or if it determines  that some parts can be developed cost-effectively another company. </a:t>
            </a:r>
          </a:p>
          <a:p>
            <a:pPr marL="0" indent="0" algn="just">
              <a:lnSpc>
                <a:spcPct val="160000"/>
              </a:lnSpc>
              <a:buNone/>
            </a:pPr>
            <a:r>
              <a:rPr lang="en-US" sz="2400" b="1" dirty="0">
                <a:latin typeface="Times New Roman" panose="02020603050405020304" pitchFamily="18" charset="0"/>
                <a:cs typeface="Times New Roman" panose="02020603050405020304" pitchFamily="18" charset="0"/>
              </a:rPr>
              <a:t>Object-driven development </a:t>
            </a:r>
          </a:p>
          <a:p>
            <a:pPr algn="just">
              <a:lnSpc>
                <a:spcPct val="160000"/>
              </a:lnSpc>
            </a:pPr>
            <a:r>
              <a:rPr lang="en-US" sz="2400" dirty="0">
                <a:latin typeface="Times New Roman" panose="02020603050405020304" pitchFamily="18" charset="0"/>
                <a:cs typeface="Times New Roman" panose="02020603050405020304" pitchFamily="18" charset="0"/>
              </a:rPr>
              <a:t>Projects may be distinguished by whether their aim is to produce or to meet certain objective. Any software projects have two stages, First is an object-driven project resulting in  recommendations which identify the need for a new software system and next stage is a  project actually to create the software product.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95131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B89B7-2C47-E34B-C8AE-D64457CE034C}"/>
              </a:ext>
            </a:extLst>
          </p:cNvPr>
          <p:cNvSpPr>
            <a:spLocks noGrp="1"/>
          </p:cNvSpPr>
          <p:nvPr>
            <p:ph type="title"/>
          </p:nvPr>
        </p:nvSpPr>
        <p:spPr>
          <a:xfrm>
            <a:off x="838200" y="97970"/>
            <a:ext cx="10515600" cy="925287"/>
          </a:xfrm>
        </p:spPr>
        <p:txBody>
          <a:bodyPr>
            <a:normAutofit/>
          </a:bodyPr>
          <a:lstStyle/>
          <a:p>
            <a:r>
              <a:rPr lang="en-IN" b="1" dirty="0">
                <a:latin typeface="Times New Roman" panose="02020603050405020304" pitchFamily="18" charset="0"/>
                <a:cs typeface="Times New Roman" panose="02020603050405020304" pitchFamily="18" charset="0"/>
              </a:rPr>
              <a:t>1.9 STAKEHOLDERS</a:t>
            </a:r>
          </a:p>
        </p:txBody>
      </p:sp>
      <p:sp>
        <p:nvSpPr>
          <p:cNvPr id="3" name="Content Placeholder 2">
            <a:extLst>
              <a:ext uri="{FF2B5EF4-FFF2-40B4-BE49-F238E27FC236}">
                <a16:creationId xmlns:a16="http://schemas.microsoft.com/office/drawing/2014/main" id="{5123E02C-FBA1-E169-207E-433BC7AB6065}"/>
              </a:ext>
            </a:extLst>
          </p:cNvPr>
          <p:cNvSpPr>
            <a:spLocks noGrp="1"/>
          </p:cNvSpPr>
          <p:nvPr>
            <p:ph idx="1"/>
          </p:nvPr>
        </p:nvSpPr>
        <p:spPr>
          <a:xfrm>
            <a:off x="838200" y="1023256"/>
            <a:ext cx="10515600" cy="5529943"/>
          </a:xfrm>
        </p:spPr>
        <p:txBody>
          <a:bodyPr>
            <a:normAutofit fontScale="92500" lnSpcReduction="10000"/>
          </a:bodyPr>
          <a:lstStyle/>
          <a:p>
            <a:pPr algn="just">
              <a:lnSpc>
                <a:spcPct val="170000"/>
              </a:lnSpc>
            </a:pPr>
            <a:r>
              <a:rPr lang="en-US" sz="2400" dirty="0">
                <a:latin typeface="Times New Roman" panose="02020603050405020304" pitchFamily="18" charset="0"/>
                <a:cs typeface="Times New Roman" panose="02020603050405020304" pitchFamily="18" charset="0"/>
              </a:rPr>
              <a:t>These are people who have a stake or interest in the project. It is important that they be  identified as early as possible, because you need to set up adequate communication channels with  them right from the start. The project leader also has to be aware that not everybody who is involved with a project has the same motivation and objectives. The end-users might, for instance,  be concerned about the ease of use of the system while their managers might be interested in the  staff savings the new system will allow. </a:t>
            </a:r>
          </a:p>
          <a:p>
            <a:pPr algn="just">
              <a:lnSpc>
                <a:spcPct val="170000"/>
              </a:lnSpc>
            </a:pPr>
            <a:r>
              <a:rPr lang="en-US" sz="2400" dirty="0">
                <a:latin typeface="Times New Roman" panose="02020603050405020304" pitchFamily="18" charset="0"/>
                <a:cs typeface="Times New Roman" panose="02020603050405020304" pitchFamily="18" charset="0"/>
              </a:rPr>
              <a:t>Boehm and Ross proposed a ‘Theory W’ of software project management where the  manager concentrates on creating the role and format situations where all parties benefit from a  project and therefore have an of communication interest in its success. (The 'W' stands for 'win- win'.)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45583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928F3D-1356-3F17-2F12-D7F3EE76E077}"/>
              </a:ext>
            </a:extLst>
          </p:cNvPr>
          <p:cNvSpPr>
            <a:spLocks noGrp="1"/>
          </p:cNvSpPr>
          <p:nvPr>
            <p:ph idx="1"/>
          </p:nvPr>
        </p:nvSpPr>
        <p:spPr>
          <a:xfrm>
            <a:off x="838200" y="522514"/>
            <a:ext cx="10515600" cy="5654449"/>
          </a:xfrm>
        </p:spPr>
        <p:txBody>
          <a:bodyPr>
            <a:normAutofit fontScale="92500" lnSpcReduction="10000"/>
          </a:bodyPr>
          <a:lstStyle/>
          <a:p>
            <a:pPr algn="just">
              <a:lnSpc>
                <a:spcPct val="150000"/>
              </a:lnSpc>
            </a:pPr>
            <a:r>
              <a:rPr lang="en-US" dirty="0">
                <a:latin typeface="Times New Roman" panose="02020603050405020304" pitchFamily="18" charset="0"/>
                <a:cs typeface="Times New Roman" panose="02020603050405020304" pitchFamily="18" charset="0"/>
              </a:rPr>
              <a:t>Stakeholders might be internal to the project team, external to the project team but in the same organization, or totally external to the organization. </a:t>
            </a:r>
          </a:p>
          <a:p>
            <a:pPr algn="just">
              <a:lnSpc>
                <a:spcPct val="150000"/>
              </a:lnSpc>
            </a:pPr>
            <a:r>
              <a:rPr lang="en-US" b="1" dirty="0">
                <a:latin typeface="Times New Roman" panose="02020603050405020304" pitchFamily="18" charset="0"/>
                <a:cs typeface="Times New Roman" panose="02020603050405020304" pitchFamily="18" charset="0"/>
              </a:rPr>
              <a:t>Internal to the project team: </a:t>
            </a:r>
            <a:r>
              <a:rPr lang="en-US" dirty="0">
                <a:latin typeface="Times New Roman" panose="02020603050405020304" pitchFamily="18" charset="0"/>
                <a:cs typeface="Times New Roman" panose="02020603050405020304" pitchFamily="18" charset="0"/>
              </a:rPr>
              <a:t>This means that they will be under the direct managerial control of the project leader. </a:t>
            </a:r>
          </a:p>
          <a:p>
            <a:pPr algn="just">
              <a:lnSpc>
                <a:spcPct val="150000"/>
              </a:lnSpc>
            </a:pPr>
            <a:r>
              <a:rPr lang="en-US" b="1" dirty="0">
                <a:latin typeface="Times New Roman" panose="02020603050405020304" pitchFamily="18" charset="0"/>
                <a:cs typeface="Times New Roman" panose="02020603050405020304" pitchFamily="18" charset="0"/>
              </a:rPr>
              <a:t>External to the project team but within the same organization:</a:t>
            </a:r>
            <a:r>
              <a:rPr lang="en-US" dirty="0">
                <a:latin typeface="Times New Roman" panose="02020603050405020304" pitchFamily="18" charset="0"/>
                <a:cs typeface="Times New Roman" panose="02020603050405020304" pitchFamily="18" charset="0"/>
              </a:rPr>
              <a:t> For example, the project leader might need the assistance of the information management group in order to add some additional data types to a database or the assistance of the users to carry out systems testing. Here the commitment of the people involved has to be negotiated. </a:t>
            </a:r>
          </a:p>
          <a:p>
            <a:endParaRPr lang="en-IN" dirty="0"/>
          </a:p>
        </p:txBody>
      </p:sp>
    </p:spTree>
    <p:extLst>
      <p:ext uri="{BB962C8B-B14F-4D97-AF65-F5344CB8AC3E}">
        <p14:creationId xmlns:p14="http://schemas.microsoft.com/office/powerpoint/2010/main" val="11025014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D40C57-FE88-C791-0AC3-23AE5EDAEFD7}"/>
              </a:ext>
            </a:extLst>
          </p:cNvPr>
          <p:cNvSpPr>
            <a:spLocks noGrp="1"/>
          </p:cNvSpPr>
          <p:nvPr>
            <p:ph idx="1"/>
          </p:nvPr>
        </p:nvSpPr>
        <p:spPr>
          <a:xfrm>
            <a:off x="838200" y="185058"/>
            <a:ext cx="10515600" cy="5991906"/>
          </a:xfrm>
        </p:spPr>
        <p:txBody>
          <a:bodyPr>
            <a:normAutofit fontScale="92500"/>
          </a:bodyPr>
          <a:lstStyle/>
          <a:p>
            <a:pPr algn="just">
              <a:lnSpc>
                <a:spcPct val="150000"/>
              </a:lnSpc>
            </a:pPr>
            <a:r>
              <a:rPr lang="en-US" b="1" dirty="0">
                <a:latin typeface="Times New Roman" panose="02020603050405020304" pitchFamily="18" charset="0"/>
                <a:cs typeface="Times New Roman" panose="02020603050405020304" pitchFamily="18" charset="0"/>
              </a:rPr>
              <a:t> External to both the project team and the organization:</a:t>
            </a:r>
            <a:r>
              <a:rPr lang="en-US" dirty="0">
                <a:latin typeface="Times New Roman" panose="02020603050405020304" pitchFamily="18" charset="0"/>
                <a:cs typeface="Times New Roman" panose="02020603050405020304" pitchFamily="18" charset="0"/>
              </a:rPr>
              <a:t> External stakeholders may be customers (or users) who will benefit from the system that the project implements or contractors who will carry out work for the project. One feature of the relationship with these people is that it is likely to be based on a legally binding contract. </a:t>
            </a:r>
          </a:p>
          <a:p>
            <a:pPr algn="just">
              <a:lnSpc>
                <a:spcPct val="150000"/>
              </a:lnSpc>
            </a:pPr>
            <a:r>
              <a:rPr lang="en-US" dirty="0">
                <a:latin typeface="Times New Roman" panose="02020603050405020304" pitchFamily="18" charset="0"/>
                <a:cs typeface="Times New Roman" panose="02020603050405020304" pitchFamily="18" charset="0"/>
              </a:rPr>
              <a:t>Different types of Stakeholders may have different objectives and one of the jobs of the successful project leader is to recognize these different interests and to be able to reconcile them. It should therefore come as no surprise that the project leader needs to be a good communicator and negotiator.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72836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3B98F-01B8-643E-B71D-5C32C8141024}"/>
              </a:ext>
            </a:extLst>
          </p:cNvPr>
          <p:cNvSpPr>
            <a:spLocks noGrp="1"/>
          </p:cNvSpPr>
          <p:nvPr>
            <p:ph type="title"/>
          </p:nvPr>
        </p:nvSpPr>
        <p:spPr>
          <a:xfrm>
            <a:off x="838200" y="130629"/>
            <a:ext cx="10515600" cy="718457"/>
          </a:xfrm>
        </p:spPr>
        <p:txBody>
          <a:bodyPr>
            <a:normAutofit/>
          </a:bodyPr>
          <a:lstStyle/>
          <a:p>
            <a:r>
              <a:rPr lang="en-IN" sz="3600" b="1" dirty="0">
                <a:latin typeface="Times New Roman" panose="02020603050405020304" pitchFamily="18" charset="0"/>
                <a:cs typeface="Times New Roman" panose="02020603050405020304" pitchFamily="18" charset="0"/>
              </a:rPr>
              <a:t>1.10 </a:t>
            </a:r>
            <a:r>
              <a:rPr lang="en-US" sz="3600" b="1" dirty="0">
                <a:latin typeface="Times New Roman" panose="02020603050405020304" pitchFamily="18" charset="0"/>
                <a:cs typeface="Times New Roman" panose="02020603050405020304" pitchFamily="18" charset="0"/>
              </a:rPr>
              <a:t>SETTING OBJECTIVES </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D816BD8-E6D4-DC0C-4C94-44CC9B9E6CE2}"/>
              </a:ext>
            </a:extLst>
          </p:cNvPr>
          <p:cNvSpPr>
            <a:spLocks noGrp="1"/>
          </p:cNvSpPr>
          <p:nvPr>
            <p:ph idx="1"/>
          </p:nvPr>
        </p:nvSpPr>
        <p:spPr>
          <a:xfrm>
            <a:off x="838200" y="685800"/>
            <a:ext cx="10515600" cy="5491163"/>
          </a:xfrm>
        </p:spPr>
        <p:txBody>
          <a:bodyPr>
            <a:normAutofit fontScale="85000" lnSpcReduction="20000"/>
          </a:bodyPr>
          <a:lstStyle/>
          <a:p>
            <a:pPr algn="just">
              <a:lnSpc>
                <a:spcPct val="170000"/>
              </a:lnSpc>
            </a:pPr>
            <a:r>
              <a:rPr lang="en-US" dirty="0">
                <a:latin typeface="Times New Roman" panose="02020603050405020304" pitchFamily="18" charset="0"/>
                <a:cs typeface="Times New Roman" panose="02020603050405020304" pitchFamily="18" charset="0"/>
              </a:rPr>
              <a:t>The objectives should define what the project team must achieve for project success. </a:t>
            </a:r>
          </a:p>
          <a:p>
            <a:pPr algn="just">
              <a:lnSpc>
                <a:spcPct val="170000"/>
              </a:lnSpc>
            </a:pPr>
            <a:r>
              <a:rPr lang="en-US" dirty="0">
                <a:latin typeface="Times New Roman" panose="02020603050405020304" pitchFamily="18" charset="0"/>
                <a:cs typeface="Times New Roman" panose="02020603050405020304" pitchFamily="18" charset="0"/>
              </a:rPr>
              <a:t>Objectives focus on the desired outcomes of the project rather than the tasks within it-they  are the ‘post-conditions’ of the project. </a:t>
            </a:r>
          </a:p>
          <a:p>
            <a:pPr algn="just">
              <a:lnSpc>
                <a:spcPct val="170000"/>
              </a:lnSpc>
            </a:pPr>
            <a:r>
              <a:rPr lang="en-US" dirty="0">
                <a:latin typeface="Times New Roman" panose="02020603050405020304" pitchFamily="18" charset="0"/>
                <a:cs typeface="Times New Roman" panose="02020603050405020304" pitchFamily="18" charset="0"/>
              </a:rPr>
              <a:t>Objectives could be set of statements following the opening words ‘the project will be a  success if ….’ . </a:t>
            </a:r>
          </a:p>
          <a:p>
            <a:pPr algn="just">
              <a:lnSpc>
                <a:spcPct val="170000"/>
              </a:lnSpc>
            </a:pPr>
            <a:r>
              <a:rPr lang="en-US" dirty="0">
                <a:latin typeface="Times New Roman" panose="02020603050405020304" pitchFamily="18" charset="0"/>
                <a:cs typeface="Times New Roman" panose="02020603050405020304" pitchFamily="18" charset="0"/>
              </a:rPr>
              <a:t>To have a successful software project, the manager and the project team members must  know what will constitute success. This will make them concentrate on what is essential  to project success. </a:t>
            </a:r>
          </a:p>
        </p:txBody>
      </p:sp>
    </p:spTree>
    <p:extLst>
      <p:ext uri="{BB962C8B-B14F-4D97-AF65-F5344CB8AC3E}">
        <p14:creationId xmlns:p14="http://schemas.microsoft.com/office/powerpoint/2010/main" val="14806492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1D6294-E78C-B048-C934-38B059ECA3F3}"/>
              </a:ext>
            </a:extLst>
          </p:cNvPr>
          <p:cNvSpPr>
            <a:spLocks noGrp="1"/>
          </p:cNvSpPr>
          <p:nvPr>
            <p:ph idx="1"/>
          </p:nvPr>
        </p:nvSpPr>
        <p:spPr>
          <a:xfrm>
            <a:off x="838200" y="293915"/>
            <a:ext cx="10515600" cy="6248399"/>
          </a:xfrm>
        </p:spPr>
        <p:txBody>
          <a:bodyPr>
            <a:normAutofit fontScale="77500" lnSpcReduction="20000"/>
          </a:bodyPr>
          <a:lstStyle/>
          <a:p>
            <a:pPr algn="just">
              <a:lnSpc>
                <a:spcPct val="170000"/>
              </a:lnSpc>
            </a:pPr>
            <a:r>
              <a:rPr lang="en-US" dirty="0">
                <a:latin typeface="Times New Roman" panose="02020603050405020304" pitchFamily="18" charset="0"/>
                <a:cs typeface="Times New Roman" panose="02020603050405020304" pitchFamily="18" charset="0"/>
              </a:rPr>
              <a:t>There may be several sets of users of a system and there may be several different groups  of specialists involved its development. There is a need for well-defined objectives that  are accepted by all these people. Where there is more than one user group, a project  authority needs to be identified which has overall authority over what the project is to achieve. </a:t>
            </a:r>
          </a:p>
          <a:p>
            <a:pPr algn="just">
              <a:lnSpc>
                <a:spcPct val="170000"/>
              </a:lnSpc>
            </a:pPr>
            <a:r>
              <a:rPr lang="en-US" dirty="0">
                <a:latin typeface="Times New Roman" panose="02020603050405020304" pitchFamily="18" charset="0"/>
                <a:cs typeface="Times New Roman" panose="02020603050405020304" pitchFamily="18" charset="0"/>
              </a:rPr>
              <a:t>This authority is often held by a project steering committee (or project board or project  management board) which has overall responsibility for setting, monitoring and  modifying objectives. The project manager still has responsibility for running the project  on a day-to-day basis, but has to report to the steering committee at regular intervals. Only  the steering committee can authorize changes to the project objectives and resources. </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2626100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D24EDB-B129-5C41-D893-5905F9BD53C3}"/>
              </a:ext>
            </a:extLst>
          </p:cNvPr>
          <p:cNvSpPr>
            <a:spLocks noGrp="1"/>
          </p:cNvSpPr>
          <p:nvPr>
            <p:ph idx="1"/>
          </p:nvPr>
        </p:nvSpPr>
        <p:spPr>
          <a:xfrm>
            <a:off x="0" y="0"/>
            <a:ext cx="12192000" cy="6858000"/>
          </a:xfrm>
        </p:spPr>
        <p:txBody>
          <a:bodyPr>
            <a:normAutofit fontScale="85000" lnSpcReduction="10000"/>
          </a:bodyPr>
          <a:lstStyle/>
          <a:p>
            <a:pPr marL="0" indent="0" algn="just">
              <a:lnSpc>
                <a:spcPct val="170000"/>
              </a:lnSpc>
              <a:buNone/>
            </a:pPr>
            <a:r>
              <a:rPr lang="en-US" sz="2400" b="1" dirty="0">
                <a:latin typeface="Times New Roman" panose="02020603050405020304" pitchFamily="18" charset="0"/>
                <a:cs typeface="Times New Roman" panose="02020603050405020304" pitchFamily="18" charset="0"/>
              </a:rPr>
              <a:t>SUB-OBJECTIVES AND GOALS: </a:t>
            </a:r>
          </a:p>
          <a:p>
            <a:pPr algn="just">
              <a:lnSpc>
                <a:spcPct val="170000"/>
              </a:lnSpc>
            </a:pPr>
            <a:r>
              <a:rPr lang="en-US" sz="2400" dirty="0">
                <a:latin typeface="Times New Roman" panose="02020603050405020304" pitchFamily="18" charset="0"/>
                <a:cs typeface="Times New Roman" panose="02020603050405020304" pitchFamily="18" charset="0"/>
              </a:rPr>
              <a:t>Setting objectives can guide and motivate individuals and groups of staff. An effective  objective for an individual must be something that is within the control of that individual. An  objective might be that the software application to be produced must pay for itself by reducing  staff costs over two years. As an overall business objective this might be reasonable. For software  developers it would be unreasonable as, though they can control development costs, any reduction n operational staff costs depends not just on them but on the operational management after the  application has ‘gone live’. What would be appropriate would be to set a goal or sub-objective  for the software developers to keep development costs within a certain budget. </a:t>
            </a:r>
          </a:p>
          <a:p>
            <a:pPr algn="just">
              <a:lnSpc>
                <a:spcPct val="170000"/>
              </a:lnSpc>
            </a:pPr>
            <a:r>
              <a:rPr lang="en-US" sz="2400" dirty="0">
                <a:latin typeface="Times New Roman" panose="02020603050405020304" pitchFamily="18" charset="0"/>
                <a:cs typeface="Times New Roman" panose="02020603050405020304" pitchFamily="18" charset="0"/>
              </a:rPr>
              <a:t>Thus, objectives will need be broken down into goals or sub-objectives. Here we say that in order to achieve the objectives we must achieve certain goals first. These goals are steps on the  way to achieving an objective, just as goals scored in a football match are steps towards the  objective of winning the match. </a:t>
            </a:r>
          </a:p>
          <a:p>
            <a:pPr algn="just">
              <a:lnSpc>
                <a:spcPct val="170000"/>
              </a:lnSpc>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20423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2ADA56-F388-875C-40C0-E8314338673D}"/>
              </a:ext>
            </a:extLst>
          </p:cNvPr>
          <p:cNvSpPr>
            <a:spLocks noGrp="1"/>
          </p:cNvSpPr>
          <p:nvPr>
            <p:ph idx="1"/>
          </p:nvPr>
        </p:nvSpPr>
        <p:spPr>
          <a:xfrm>
            <a:off x="97971" y="0"/>
            <a:ext cx="11996058" cy="6781800"/>
          </a:xfrm>
        </p:spPr>
        <p:txBody>
          <a:bodyPr>
            <a:normAutofit fontScale="92500"/>
          </a:bodyPr>
          <a:lstStyle/>
          <a:p>
            <a:pPr marL="0" indent="0" algn="just">
              <a:lnSpc>
                <a:spcPct val="170000"/>
              </a:lnSpc>
              <a:buNone/>
            </a:pPr>
            <a:r>
              <a:rPr lang="en-US" sz="1800" dirty="0">
                <a:latin typeface="Times New Roman" panose="02020603050405020304" pitchFamily="18" charset="0"/>
                <a:cs typeface="Times New Roman" panose="02020603050405020304" pitchFamily="18" charset="0"/>
              </a:rPr>
              <a:t>The mnemonic SMART is sometimes used to describe well defined objectives: </a:t>
            </a:r>
          </a:p>
          <a:p>
            <a:pPr marL="0" indent="0" algn="just">
              <a:lnSpc>
                <a:spcPct val="170000"/>
              </a:lnSpc>
              <a:buNone/>
            </a:pPr>
            <a:r>
              <a:rPr lang="en-US" sz="1800" b="1" dirty="0">
                <a:latin typeface="Times New Roman" panose="02020603050405020304" pitchFamily="18" charset="0"/>
                <a:cs typeface="Times New Roman" panose="02020603050405020304" pitchFamily="18" charset="0"/>
              </a:rPr>
              <a:t>SPECIFIC: </a:t>
            </a:r>
            <a:r>
              <a:rPr lang="en-US" sz="1800" dirty="0">
                <a:latin typeface="Times New Roman" panose="02020603050405020304" pitchFamily="18" charset="0"/>
                <a:cs typeface="Times New Roman" panose="02020603050405020304" pitchFamily="18" charset="0"/>
              </a:rPr>
              <a:t>Effective objectives are concrete and well defined. Vague aspirations such as  ‘to improve customer relations’ are unsatisfactory. Objectives should be defined in such  a way that it is obvious to all whether the project has been successful or not. </a:t>
            </a:r>
          </a:p>
          <a:p>
            <a:pPr marL="0" indent="0" algn="just">
              <a:lnSpc>
                <a:spcPct val="170000"/>
              </a:lnSpc>
              <a:buNone/>
            </a:pPr>
            <a:r>
              <a:rPr lang="en-US" sz="1800" b="1" dirty="0">
                <a:latin typeface="Times New Roman" panose="02020603050405020304" pitchFamily="18" charset="0"/>
                <a:cs typeface="Times New Roman" panose="02020603050405020304" pitchFamily="18" charset="0"/>
              </a:rPr>
              <a:t>MEASURABLE: </a:t>
            </a:r>
            <a:r>
              <a:rPr lang="en-US" sz="1800" dirty="0">
                <a:latin typeface="Times New Roman" panose="02020603050405020304" pitchFamily="18" charset="0"/>
                <a:cs typeface="Times New Roman" panose="02020603050405020304" pitchFamily="18" charset="0"/>
              </a:rPr>
              <a:t>Ideally there should be measures of effectiveness which tell us how  successful the project has been. For example, ‘to reduce customer complaints’ would be  more satisfactory as an objective than ‘to improve customer relations’. The measure can,  in some cases, be an answer to simple yes/no questions, e.g. ‘Can we install the new  software by 1 November 2011?’ </a:t>
            </a:r>
          </a:p>
          <a:p>
            <a:pPr marL="0" indent="0" algn="just">
              <a:lnSpc>
                <a:spcPct val="170000"/>
              </a:lnSpc>
              <a:buNone/>
            </a:pPr>
            <a:r>
              <a:rPr lang="en-US" sz="1800" b="1" dirty="0">
                <a:latin typeface="Times New Roman" panose="02020603050405020304" pitchFamily="18" charset="0"/>
                <a:cs typeface="Times New Roman" panose="02020603050405020304" pitchFamily="18" charset="0"/>
              </a:rPr>
              <a:t>ACHIEVABLE:</a:t>
            </a:r>
            <a:r>
              <a:rPr lang="en-US" sz="1800" dirty="0">
                <a:latin typeface="Times New Roman" panose="02020603050405020304" pitchFamily="18" charset="0"/>
                <a:cs typeface="Times New Roman" panose="02020603050405020304" pitchFamily="18" charset="0"/>
              </a:rPr>
              <a:t> It must be within the power of the individual or group to achieve the  objective. </a:t>
            </a:r>
          </a:p>
          <a:p>
            <a:pPr marL="0" indent="0" algn="just">
              <a:lnSpc>
                <a:spcPct val="170000"/>
              </a:lnSpc>
              <a:buNone/>
            </a:pPr>
            <a:r>
              <a:rPr lang="en-US" sz="1800" b="1" dirty="0">
                <a:latin typeface="Times New Roman" panose="02020603050405020304" pitchFamily="18" charset="0"/>
                <a:cs typeface="Times New Roman" panose="02020603050405020304" pitchFamily="18" charset="0"/>
              </a:rPr>
              <a:t>RELEVANT: </a:t>
            </a:r>
            <a:r>
              <a:rPr lang="en-US" sz="1800" dirty="0">
                <a:latin typeface="Times New Roman" panose="02020603050405020304" pitchFamily="18" charset="0"/>
                <a:cs typeface="Times New Roman" panose="02020603050405020304" pitchFamily="18" charset="0"/>
              </a:rPr>
              <a:t>The objective must be relevant to the true purpose of the project. </a:t>
            </a:r>
          </a:p>
          <a:p>
            <a:pPr marL="0" indent="0" algn="just">
              <a:lnSpc>
                <a:spcPct val="170000"/>
              </a:lnSpc>
              <a:buNone/>
            </a:pPr>
            <a:r>
              <a:rPr lang="en-US" sz="1800" b="1" dirty="0">
                <a:latin typeface="Times New Roman" panose="02020603050405020304" pitchFamily="18" charset="0"/>
                <a:cs typeface="Times New Roman" panose="02020603050405020304" pitchFamily="18" charset="0"/>
              </a:rPr>
              <a:t>TIME CONSTRAINED: </a:t>
            </a:r>
            <a:r>
              <a:rPr lang="en-US" sz="1800" dirty="0">
                <a:latin typeface="Times New Roman" panose="02020603050405020304" pitchFamily="18" charset="0"/>
                <a:cs typeface="Times New Roman" panose="02020603050405020304" pitchFamily="18" charset="0"/>
              </a:rPr>
              <a:t>There should be a defined point in time by which the objective  should have been achieved.</a:t>
            </a:r>
          </a:p>
          <a:p>
            <a:pPr marL="0" indent="0" algn="just">
              <a:lnSpc>
                <a:spcPct val="170000"/>
              </a:lnSpc>
              <a:buNone/>
            </a:pPr>
            <a:r>
              <a:rPr lang="en-US" sz="2200" b="1" dirty="0">
                <a:latin typeface="Times New Roman" panose="02020603050405020304" pitchFamily="18" charset="0"/>
                <a:cs typeface="Times New Roman" panose="02020603050405020304" pitchFamily="18" charset="0"/>
              </a:rPr>
              <a:t>Measures of effectiveness </a:t>
            </a:r>
          </a:p>
          <a:p>
            <a:pPr marL="0" indent="0" algn="just">
              <a:lnSpc>
                <a:spcPct val="170000"/>
              </a:lnSpc>
              <a:buNone/>
            </a:pPr>
            <a:r>
              <a:rPr lang="en-US" sz="1800" dirty="0">
                <a:latin typeface="Times New Roman" panose="02020603050405020304" pitchFamily="18" charset="0"/>
                <a:cs typeface="Times New Roman" panose="02020603050405020304" pitchFamily="18" charset="0"/>
              </a:rPr>
              <a:t>Measures of effectiveness provide practical methods of ascertaining whether an objective has been met. ‘Mean time between failures’ (</a:t>
            </a:r>
            <a:r>
              <a:rPr lang="en-US" sz="1800" dirty="0" err="1">
                <a:latin typeface="Times New Roman" panose="02020603050405020304" pitchFamily="18" charset="0"/>
                <a:cs typeface="Times New Roman" panose="02020603050405020304" pitchFamily="18" charset="0"/>
              </a:rPr>
              <a:t>mtbf</a:t>
            </a:r>
            <a:r>
              <a:rPr lang="en-US" sz="1800" dirty="0">
                <a:latin typeface="Times New Roman" panose="02020603050405020304" pitchFamily="18" charset="0"/>
                <a:cs typeface="Times New Roman" panose="02020603050405020304" pitchFamily="18" charset="0"/>
              </a:rPr>
              <a:t>) is used to measure reliability. A measure of effectiveness will usually be related to the installed operational system. </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52521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7FB70-89B2-A92A-576C-45B66BC8C509}"/>
              </a:ext>
            </a:extLst>
          </p:cNvPr>
          <p:cNvSpPr>
            <a:spLocks noGrp="1"/>
          </p:cNvSpPr>
          <p:nvPr>
            <p:ph type="title"/>
          </p:nvPr>
        </p:nvSpPr>
        <p:spPr>
          <a:xfrm>
            <a:off x="838200" y="206829"/>
            <a:ext cx="10515600" cy="718457"/>
          </a:xfrm>
        </p:spPr>
        <p:txBody>
          <a:bodyPr>
            <a:normAutofit/>
          </a:bodyPr>
          <a:lstStyle/>
          <a:p>
            <a:r>
              <a:rPr lang="en-IN" sz="4000" b="1" dirty="0">
                <a:latin typeface="Times New Roman" panose="02020603050405020304" pitchFamily="18" charset="0"/>
                <a:cs typeface="Times New Roman" panose="02020603050405020304" pitchFamily="18" charset="0"/>
              </a:rPr>
              <a:t>1.11 THE BUSINESS CASE</a:t>
            </a:r>
          </a:p>
        </p:txBody>
      </p:sp>
      <p:sp>
        <p:nvSpPr>
          <p:cNvPr id="3" name="Content Placeholder 2">
            <a:extLst>
              <a:ext uri="{FF2B5EF4-FFF2-40B4-BE49-F238E27FC236}">
                <a16:creationId xmlns:a16="http://schemas.microsoft.com/office/drawing/2014/main" id="{6E9DFC5B-EEAD-00D2-8D5F-C5D91F2D8E04}"/>
              </a:ext>
            </a:extLst>
          </p:cNvPr>
          <p:cNvSpPr>
            <a:spLocks noGrp="1"/>
          </p:cNvSpPr>
          <p:nvPr>
            <p:ph idx="1"/>
          </p:nvPr>
        </p:nvSpPr>
        <p:spPr>
          <a:xfrm>
            <a:off x="478971" y="1012371"/>
            <a:ext cx="11332029" cy="5540829"/>
          </a:xfrm>
        </p:spPr>
        <p:txBody>
          <a:bodyPr>
            <a:normAutofit fontScale="92500" lnSpcReduction="20000"/>
          </a:bodyPr>
          <a:lstStyle/>
          <a:p>
            <a:pPr marL="0" indent="0" algn="just">
              <a:lnSpc>
                <a:spcPct val="160000"/>
              </a:lnSpc>
              <a:buNone/>
            </a:pPr>
            <a:r>
              <a:rPr lang="en-US" sz="2400" dirty="0">
                <a:latin typeface="Times New Roman" panose="02020603050405020304" pitchFamily="18" charset="0"/>
                <a:cs typeface="Times New Roman" panose="02020603050405020304" pitchFamily="18" charset="0"/>
              </a:rPr>
              <a:t>Most projects need to have a justification or business case: the effort and expense of  pushing the project through must be seen to be worthwhile in terms of the benefits that  will eventually be felt. </a:t>
            </a:r>
          </a:p>
          <a:p>
            <a:pPr algn="just">
              <a:lnSpc>
                <a:spcPct val="160000"/>
              </a:lnSpc>
            </a:pPr>
            <a:r>
              <a:rPr lang="en-US" sz="2400" dirty="0">
                <a:latin typeface="Times New Roman" panose="02020603050405020304" pitchFamily="18" charset="0"/>
                <a:cs typeface="Times New Roman" panose="02020603050405020304" pitchFamily="18" charset="0"/>
              </a:rPr>
              <a:t>The quantification of benefits will often require the formulation of a business model which  explains how the new application can generate the claimed benefits. </a:t>
            </a:r>
          </a:p>
          <a:p>
            <a:pPr marL="0" indent="0" algn="just">
              <a:lnSpc>
                <a:spcPct val="160000"/>
              </a:lnSpc>
              <a:buNone/>
            </a:pPr>
            <a:r>
              <a:rPr lang="en-US" sz="2400" dirty="0">
                <a:latin typeface="Times New Roman" panose="02020603050405020304" pitchFamily="18" charset="0"/>
                <a:cs typeface="Times New Roman" panose="02020603050405020304" pitchFamily="18" charset="0"/>
              </a:rPr>
              <a:t>Any project plan must ensure that the business case is kept intact. For example: </a:t>
            </a:r>
          </a:p>
          <a:p>
            <a:pPr algn="just">
              <a:lnSpc>
                <a:spcPct val="160000"/>
              </a:lnSpc>
            </a:pPr>
            <a:r>
              <a:rPr lang="en-US" sz="2400" dirty="0">
                <a:latin typeface="Times New Roman" panose="02020603050405020304" pitchFamily="18" charset="0"/>
                <a:cs typeface="Times New Roman" panose="02020603050405020304" pitchFamily="18" charset="0"/>
              </a:rPr>
              <a:t>The development costs are not allowed to rise to a level which threatens to exceed the  value of benefits. </a:t>
            </a:r>
          </a:p>
          <a:p>
            <a:pPr algn="just">
              <a:lnSpc>
                <a:spcPct val="160000"/>
              </a:lnSpc>
            </a:pPr>
            <a:r>
              <a:rPr lang="en-US" sz="2400" dirty="0">
                <a:latin typeface="Times New Roman" panose="02020603050405020304" pitchFamily="18" charset="0"/>
                <a:cs typeface="Times New Roman" panose="02020603050405020304" pitchFamily="18" charset="0"/>
              </a:rPr>
              <a:t>The features of the system are not reduced to a level where the expected benefits cannot be realized. </a:t>
            </a:r>
          </a:p>
          <a:p>
            <a:pPr algn="just">
              <a:lnSpc>
                <a:spcPct val="160000"/>
              </a:lnSpc>
            </a:pPr>
            <a:r>
              <a:rPr lang="en-US" sz="2400" dirty="0">
                <a:latin typeface="Times New Roman" panose="02020603050405020304" pitchFamily="18" charset="0"/>
                <a:cs typeface="Times New Roman" panose="02020603050405020304" pitchFamily="18" charset="0"/>
              </a:rPr>
              <a:t>The delivery date is not delayed so that there is an unacceptable loss benefit.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24657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8C27E-86A2-13FE-7388-93A5B08E8009}"/>
              </a:ext>
            </a:extLst>
          </p:cNvPr>
          <p:cNvSpPr>
            <a:spLocks noGrp="1"/>
          </p:cNvSpPr>
          <p:nvPr>
            <p:ph type="title"/>
          </p:nvPr>
        </p:nvSpPr>
        <p:spPr>
          <a:xfrm>
            <a:off x="838200" y="76200"/>
            <a:ext cx="10515600" cy="604837"/>
          </a:xfrm>
        </p:spPr>
        <p:txBody>
          <a:bodyPr>
            <a:normAutofit/>
          </a:bodyPr>
          <a:lstStyle/>
          <a:p>
            <a:r>
              <a:rPr lang="en-IN" sz="3600" b="1" dirty="0">
                <a:latin typeface="Times New Roman" panose="02020603050405020304" pitchFamily="18" charset="0"/>
                <a:cs typeface="Times New Roman" panose="02020603050405020304" pitchFamily="18" charset="0"/>
              </a:rPr>
              <a:t>1.12 PROJECT SUCCESS AND FAILURE</a:t>
            </a:r>
          </a:p>
        </p:txBody>
      </p:sp>
      <p:sp>
        <p:nvSpPr>
          <p:cNvPr id="3" name="Content Placeholder 2">
            <a:extLst>
              <a:ext uri="{FF2B5EF4-FFF2-40B4-BE49-F238E27FC236}">
                <a16:creationId xmlns:a16="http://schemas.microsoft.com/office/drawing/2014/main" id="{C8E35362-5500-12D6-048B-F242B32EB1FD}"/>
              </a:ext>
            </a:extLst>
          </p:cNvPr>
          <p:cNvSpPr>
            <a:spLocks noGrp="1"/>
          </p:cNvSpPr>
          <p:nvPr>
            <p:ph idx="1"/>
          </p:nvPr>
        </p:nvSpPr>
        <p:spPr>
          <a:xfrm>
            <a:off x="370114" y="838200"/>
            <a:ext cx="11517086" cy="5736771"/>
          </a:xfrm>
        </p:spPr>
        <p:txBody>
          <a:bodyPr>
            <a:normAutofit fontScale="85000" lnSpcReduction="20000"/>
          </a:bodyPr>
          <a:lstStyle/>
          <a:p>
            <a:pPr algn="just">
              <a:lnSpc>
                <a:spcPct val="150000"/>
              </a:lnSpc>
            </a:pPr>
            <a:r>
              <a:rPr lang="en-US" dirty="0">
                <a:latin typeface="Times New Roman" panose="02020603050405020304" pitchFamily="18" charset="0"/>
                <a:cs typeface="Times New Roman" panose="02020603050405020304" pitchFamily="18" charset="0"/>
              </a:rPr>
              <a:t>The project plan should be designed to ensure project success preserving the business  case for the project. </a:t>
            </a:r>
          </a:p>
          <a:p>
            <a:pPr algn="just">
              <a:lnSpc>
                <a:spcPct val="150000"/>
              </a:lnSpc>
            </a:pPr>
            <a:r>
              <a:rPr lang="en-US" dirty="0">
                <a:latin typeface="Times New Roman" panose="02020603050405020304" pitchFamily="18" charset="0"/>
                <a:cs typeface="Times New Roman" panose="02020603050405020304" pitchFamily="18" charset="0"/>
              </a:rPr>
              <a:t>Different stakeholders have different interests, some stakeholders in a project might see it as a success while others do not. </a:t>
            </a:r>
          </a:p>
          <a:p>
            <a:pPr algn="just">
              <a:lnSpc>
                <a:spcPct val="150000"/>
              </a:lnSpc>
            </a:pPr>
            <a:r>
              <a:rPr lang="en-US" dirty="0">
                <a:latin typeface="Times New Roman" panose="02020603050405020304" pitchFamily="18" charset="0"/>
                <a:cs typeface="Times New Roman" panose="02020603050405020304" pitchFamily="18" charset="0"/>
              </a:rPr>
              <a:t>The project objectives are the targets that the project team is expected to achieve—They  are summarized as delivering: </a:t>
            </a:r>
          </a:p>
          <a:p>
            <a:pPr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agreed functionality </a:t>
            </a:r>
          </a:p>
          <a:p>
            <a:pPr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the required level of quality </a:t>
            </a:r>
          </a:p>
          <a:p>
            <a:pPr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 time </a:t>
            </a:r>
          </a:p>
          <a:p>
            <a:pPr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Within budget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80465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428379-1F6E-5DD3-11F0-E155E8CD3A4C}"/>
              </a:ext>
            </a:extLst>
          </p:cNvPr>
          <p:cNvSpPr>
            <a:spLocks noGrp="1"/>
          </p:cNvSpPr>
          <p:nvPr>
            <p:ph idx="1"/>
          </p:nvPr>
        </p:nvSpPr>
        <p:spPr>
          <a:xfrm>
            <a:off x="119744" y="130628"/>
            <a:ext cx="12072256" cy="6727372"/>
          </a:xfrm>
        </p:spPr>
        <p:txBody>
          <a:bodyPr>
            <a:normAutofit fontScale="92500" lnSpcReduction="10000"/>
          </a:bodyPr>
          <a:lstStyle/>
          <a:p>
            <a:pPr algn="just">
              <a:lnSpc>
                <a:spcPct val="160000"/>
              </a:lnSpc>
            </a:pPr>
            <a:r>
              <a:rPr lang="en-US" sz="2400" dirty="0">
                <a:latin typeface="Times New Roman" panose="02020603050405020304" pitchFamily="18" charset="0"/>
                <a:cs typeface="Times New Roman" panose="02020603050405020304" pitchFamily="18" charset="0"/>
              </a:rPr>
              <a:t> A project could meet these targets but the application, once delivered could fail to meet  the business case. A computer game could be delivered on time and within budget, but might then not sell. </a:t>
            </a:r>
          </a:p>
          <a:p>
            <a:pPr algn="just">
              <a:lnSpc>
                <a:spcPct val="160000"/>
              </a:lnSpc>
            </a:pPr>
            <a:r>
              <a:rPr lang="en-US" sz="2400" dirty="0">
                <a:latin typeface="Times New Roman" panose="02020603050405020304" pitchFamily="18" charset="0"/>
                <a:cs typeface="Times New Roman" panose="02020603050405020304" pitchFamily="18" charset="0"/>
              </a:rPr>
              <a:t>In business terms, the project is a success if the value of benefits exceeds the costs. </a:t>
            </a:r>
          </a:p>
          <a:p>
            <a:pPr algn="just">
              <a:lnSpc>
                <a:spcPct val="160000"/>
              </a:lnSpc>
            </a:pPr>
            <a:r>
              <a:rPr lang="en-US" sz="2400" dirty="0">
                <a:latin typeface="Times New Roman" panose="02020603050405020304" pitchFamily="18" charset="0"/>
                <a:cs typeface="Times New Roman" panose="02020603050405020304" pitchFamily="18" charset="0"/>
              </a:rPr>
              <a:t>A project can be a success on delivery but then be a business failure, On the other hand, a project could be late and over budget, but its deliverables could still, over time, generate benefits that outweigh the initial expenditure. </a:t>
            </a:r>
          </a:p>
          <a:p>
            <a:pPr algn="just">
              <a:lnSpc>
                <a:spcPct val="160000"/>
              </a:lnSpc>
            </a:pPr>
            <a:r>
              <a:rPr lang="en-US" sz="2400" dirty="0">
                <a:latin typeface="Times New Roman" panose="02020603050405020304" pitchFamily="18" charset="0"/>
                <a:cs typeface="Times New Roman" panose="02020603050405020304" pitchFamily="18" charset="0"/>
              </a:rPr>
              <a:t>The possible gap between project and business concerns can be reduced by having a broader view of projects that includes business issues. </a:t>
            </a:r>
          </a:p>
          <a:p>
            <a:pPr algn="just">
              <a:lnSpc>
                <a:spcPct val="160000"/>
              </a:lnSpc>
            </a:pPr>
            <a:r>
              <a:rPr lang="en-US" sz="2400" b="1" dirty="0">
                <a:latin typeface="Times New Roman" panose="02020603050405020304" pitchFamily="18" charset="0"/>
                <a:cs typeface="Times New Roman" panose="02020603050405020304" pitchFamily="18" charset="0"/>
              </a:rPr>
              <a:t>Technical learning</a:t>
            </a:r>
            <a:r>
              <a:rPr lang="en-US" sz="2400" dirty="0">
                <a:latin typeface="Times New Roman" panose="02020603050405020304" pitchFamily="18" charset="0"/>
                <a:cs typeface="Times New Roman" panose="02020603050405020304" pitchFamily="18" charset="0"/>
              </a:rPr>
              <a:t> will increase costs on the earlier projects, but later projects benefit as the learnt technologies can be deployed more quickly cheaply and accurately. </a:t>
            </a:r>
          </a:p>
          <a:p>
            <a:pPr algn="just">
              <a:lnSpc>
                <a:spcPct val="160000"/>
              </a:lnSpc>
            </a:pPr>
            <a:r>
              <a:rPr lang="en-US" sz="2400" b="1" dirty="0">
                <a:latin typeface="Times New Roman" panose="02020603050405020304" pitchFamily="18" charset="0"/>
                <a:cs typeface="Times New Roman" panose="02020603050405020304" pitchFamily="18" charset="0"/>
              </a:rPr>
              <a:t>Customer relationships </a:t>
            </a:r>
            <a:r>
              <a:rPr lang="en-US" sz="2400" dirty="0">
                <a:latin typeface="Times New Roman" panose="02020603050405020304" pitchFamily="18" charset="0"/>
                <a:cs typeface="Times New Roman" panose="02020603050405020304" pitchFamily="18" charset="0"/>
              </a:rPr>
              <a:t>can also be built up over a number of projects. If a client has trust in a supplier who has done satisfactory work in the past, they are more likely to use that company again.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94181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5EEAC-DE44-DB97-7D8A-F4D38B11BEEF}"/>
              </a:ext>
            </a:extLst>
          </p:cNvPr>
          <p:cNvSpPr>
            <a:spLocks noGrp="1"/>
          </p:cNvSpPr>
          <p:nvPr>
            <p:ph type="title"/>
          </p:nvPr>
        </p:nvSpPr>
        <p:spPr>
          <a:xfrm>
            <a:off x="838200" y="0"/>
            <a:ext cx="10515600" cy="681037"/>
          </a:xfrm>
        </p:spPr>
        <p:txBody>
          <a:bodyPr>
            <a:normAutofit/>
          </a:bodyPr>
          <a:lstStyle/>
          <a:p>
            <a:r>
              <a:rPr lang="en-IN" sz="3200" b="1" dirty="0">
                <a:latin typeface="Times New Roman" panose="02020603050405020304" pitchFamily="18" charset="0"/>
                <a:cs typeface="Times New Roman" panose="02020603050405020304" pitchFamily="18" charset="0"/>
              </a:rPr>
              <a:t>1.13 MANAGEMENT AND MANAGEMENT CONTROL</a:t>
            </a:r>
          </a:p>
        </p:txBody>
      </p:sp>
      <p:sp>
        <p:nvSpPr>
          <p:cNvPr id="3" name="Content Placeholder 2">
            <a:extLst>
              <a:ext uri="{FF2B5EF4-FFF2-40B4-BE49-F238E27FC236}">
                <a16:creationId xmlns:a16="http://schemas.microsoft.com/office/drawing/2014/main" id="{926E2D6C-82EE-FBB8-E479-7B32E36BFA6A}"/>
              </a:ext>
            </a:extLst>
          </p:cNvPr>
          <p:cNvSpPr>
            <a:spLocks noGrp="1"/>
          </p:cNvSpPr>
          <p:nvPr>
            <p:ph idx="1"/>
          </p:nvPr>
        </p:nvSpPr>
        <p:spPr>
          <a:xfrm>
            <a:off x="838200" y="576943"/>
            <a:ext cx="10515600" cy="6183086"/>
          </a:xfrm>
        </p:spPr>
        <p:txBody>
          <a:bodyPr>
            <a:normAutofit fontScale="77500" lnSpcReduction="20000"/>
          </a:bodyPr>
          <a:lstStyle/>
          <a:p>
            <a:pPr marL="0" indent="0">
              <a:lnSpc>
                <a:spcPct val="150000"/>
              </a:lnSpc>
              <a:buNone/>
            </a:pPr>
            <a:r>
              <a:rPr lang="en-US" b="1" dirty="0">
                <a:latin typeface="Times New Roman" panose="02020603050405020304" pitchFamily="18" charset="0"/>
                <a:cs typeface="Times New Roman" panose="02020603050405020304" pitchFamily="18" charset="0"/>
              </a:rPr>
              <a:t>MANAGEMENT: </a:t>
            </a:r>
          </a:p>
          <a:p>
            <a:pPr marL="0" indent="0">
              <a:lnSpc>
                <a:spcPct val="150000"/>
              </a:lnSpc>
              <a:buNone/>
            </a:pPr>
            <a:r>
              <a:rPr lang="en-US" dirty="0">
                <a:latin typeface="Times New Roman" panose="02020603050405020304" pitchFamily="18" charset="0"/>
                <a:cs typeface="Times New Roman" panose="02020603050405020304" pitchFamily="18" charset="0"/>
              </a:rPr>
              <a:t>Management involves following activities: </a:t>
            </a:r>
          </a:p>
          <a:p>
            <a:pPr>
              <a:lnSpc>
                <a:spcPct val="150000"/>
              </a:lnSpc>
            </a:pPr>
            <a:r>
              <a:rPr lang="en-US" dirty="0">
                <a:latin typeface="Times New Roman" panose="02020603050405020304" pitchFamily="18" charset="0"/>
                <a:cs typeface="Times New Roman" panose="02020603050405020304" pitchFamily="18" charset="0"/>
              </a:rPr>
              <a:t>Planning - deciding what is to be done; </a:t>
            </a:r>
          </a:p>
          <a:p>
            <a:pPr>
              <a:lnSpc>
                <a:spcPct val="150000"/>
              </a:lnSpc>
            </a:pPr>
            <a:r>
              <a:rPr lang="en-US" dirty="0">
                <a:latin typeface="Times New Roman" panose="02020603050405020304" pitchFamily="18" charset="0"/>
                <a:cs typeface="Times New Roman" panose="02020603050405020304" pitchFamily="18" charset="0"/>
              </a:rPr>
              <a:t>Organizing - making arrangements; </a:t>
            </a:r>
          </a:p>
          <a:p>
            <a:pPr>
              <a:lnSpc>
                <a:spcPct val="150000"/>
              </a:lnSpc>
            </a:pPr>
            <a:r>
              <a:rPr lang="en-US" dirty="0">
                <a:latin typeface="Times New Roman" panose="02020603050405020304" pitchFamily="18" charset="0"/>
                <a:cs typeface="Times New Roman" panose="02020603050405020304" pitchFamily="18" charset="0"/>
              </a:rPr>
              <a:t>Staffing - selecting the right people for the job etc.; </a:t>
            </a:r>
          </a:p>
          <a:p>
            <a:pPr>
              <a:lnSpc>
                <a:spcPct val="150000"/>
              </a:lnSpc>
            </a:pPr>
            <a:r>
              <a:rPr lang="en-US" dirty="0">
                <a:latin typeface="Times New Roman" panose="02020603050405020304" pitchFamily="18" charset="0"/>
                <a:cs typeface="Times New Roman" panose="02020603050405020304" pitchFamily="18" charset="0"/>
              </a:rPr>
              <a:t>Directing - giving instructions; </a:t>
            </a:r>
          </a:p>
          <a:p>
            <a:pPr>
              <a:lnSpc>
                <a:spcPct val="150000"/>
              </a:lnSpc>
            </a:pPr>
            <a:r>
              <a:rPr lang="en-US" dirty="0">
                <a:latin typeface="Times New Roman" panose="02020603050405020304" pitchFamily="18" charset="0"/>
                <a:cs typeface="Times New Roman" panose="02020603050405020304" pitchFamily="18" charset="0"/>
              </a:rPr>
              <a:t>Monitoring - checking on progress; </a:t>
            </a:r>
          </a:p>
          <a:p>
            <a:pPr>
              <a:lnSpc>
                <a:spcPct val="150000"/>
              </a:lnSpc>
            </a:pPr>
            <a:r>
              <a:rPr lang="en-US" dirty="0">
                <a:latin typeface="Times New Roman" panose="02020603050405020304" pitchFamily="18" charset="0"/>
                <a:cs typeface="Times New Roman" panose="02020603050405020304" pitchFamily="18" charset="0"/>
              </a:rPr>
              <a:t>Controlling - taking action to remedy hold-ups; </a:t>
            </a:r>
          </a:p>
          <a:p>
            <a:pPr>
              <a:lnSpc>
                <a:spcPct val="150000"/>
              </a:lnSpc>
            </a:pPr>
            <a:r>
              <a:rPr lang="en-US" dirty="0">
                <a:latin typeface="Times New Roman" panose="02020603050405020304" pitchFamily="18" charset="0"/>
                <a:cs typeface="Times New Roman" panose="02020603050405020304" pitchFamily="18" charset="0"/>
              </a:rPr>
              <a:t>Innovating - coming up with new solutions; </a:t>
            </a:r>
          </a:p>
          <a:p>
            <a:pPr>
              <a:lnSpc>
                <a:spcPct val="150000"/>
              </a:lnSpc>
            </a:pPr>
            <a:r>
              <a:rPr lang="en-US" dirty="0">
                <a:latin typeface="Times New Roman" panose="02020603050405020304" pitchFamily="18" charset="0"/>
                <a:cs typeface="Times New Roman" panose="02020603050405020304" pitchFamily="18" charset="0"/>
              </a:rPr>
              <a:t>Representing - liaising with clients, users, developer, suppliers and other </a:t>
            </a:r>
          </a:p>
          <a:p>
            <a:pPr>
              <a:lnSpc>
                <a:spcPct val="150000"/>
              </a:lnSpc>
            </a:pPr>
            <a:r>
              <a:rPr lang="en-US" dirty="0">
                <a:latin typeface="Times New Roman" panose="02020603050405020304" pitchFamily="18" charset="0"/>
                <a:cs typeface="Times New Roman" panose="02020603050405020304" pitchFamily="18" charset="0"/>
              </a:rPr>
              <a:t>stakeholders.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58847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C336776-0F30-945A-4AE9-4BCC12B5C1C5}"/>
              </a:ext>
            </a:extLst>
          </p:cNvPr>
          <p:cNvPicPr>
            <a:picLocks noGrp="1" noChangeAspect="1"/>
          </p:cNvPicPr>
          <p:nvPr>
            <p:ph idx="1"/>
          </p:nvPr>
        </p:nvPicPr>
        <p:blipFill>
          <a:blip r:embed="rId2"/>
          <a:stretch>
            <a:fillRect/>
          </a:stretch>
        </p:blipFill>
        <p:spPr>
          <a:xfrm>
            <a:off x="1230086" y="250371"/>
            <a:ext cx="9895113" cy="6096000"/>
          </a:xfrm>
          <a:prstGeom prst="rect">
            <a:avLst/>
          </a:prstGeom>
        </p:spPr>
      </p:pic>
    </p:spTree>
    <p:extLst>
      <p:ext uri="{BB962C8B-B14F-4D97-AF65-F5344CB8AC3E}">
        <p14:creationId xmlns:p14="http://schemas.microsoft.com/office/powerpoint/2010/main" val="15927277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1E388F-3C4F-83E4-65F3-C282852A6815}"/>
              </a:ext>
            </a:extLst>
          </p:cNvPr>
          <p:cNvSpPr>
            <a:spLocks noGrp="1"/>
          </p:cNvSpPr>
          <p:nvPr>
            <p:ph idx="1"/>
          </p:nvPr>
        </p:nvSpPr>
        <p:spPr>
          <a:xfrm>
            <a:off x="108857" y="76200"/>
            <a:ext cx="11756572" cy="6683829"/>
          </a:xfrm>
        </p:spPr>
        <p:txBody>
          <a:bodyPr>
            <a:normAutofit fontScale="92500"/>
          </a:bodyPr>
          <a:lstStyle/>
          <a:p>
            <a:pPr algn="just">
              <a:lnSpc>
                <a:spcPct val="170000"/>
              </a:lnSpc>
            </a:pPr>
            <a:r>
              <a:rPr lang="en-US" sz="1800" dirty="0">
                <a:latin typeface="Times New Roman" panose="02020603050405020304" pitchFamily="18" charset="0"/>
                <a:cs typeface="Times New Roman" panose="02020603050405020304" pitchFamily="18" charset="0"/>
              </a:rPr>
              <a:t>Much of the project manager’s time is spent only in three activities , i.e. Project Planning ,Monitoring and control. </a:t>
            </a:r>
          </a:p>
          <a:p>
            <a:pPr algn="just">
              <a:lnSpc>
                <a:spcPct val="170000"/>
              </a:lnSpc>
            </a:pPr>
            <a:r>
              <a:rPr lang="en-US" sz="1800" dirty="0">
                <a:latin typeface="Times New Roman" panose="02020603050405020304" pitchFamily="18" charset="0"/>
                <a:cs typeface="Times New Roman" panose="02020603050405020304" pitchFamily="18" charset="0"/>
              </a:rPr>
              <a:t>This time period during which these activities are carried out is indicated in Fig 1.5. </a:t>
            </a:r>
          </a:p>
          <a:p>
            <a:pPr algn="just">
              <a:lnSpc>
                <a:spcPct val="170000"/>
              </a:lnSpc>
            </a:pPr>
            <a:r>
              <a:rPr lang="en-US" sz="1800" dirty="0">
                <a:latin typeface="Times New Roman" panose="02020603050405020304" pitchFamily="18" charset="0"/>
                <a:cs typeface="Times New Roman" panose="02020603050405020304" pitchFamily="18" charset="0"/>
              </a:rPr>
              <a:t>It shows that project management is carried out over three well-defined stages or processes  irrespective of the methodology used. </a:t>
            </a:r>
          </a:p>
          <a:p>
            <a:pPr algn="just">
              <a:lnSpc>
                <a:spcPct val="170000"/>
              </a:lnSpc>
            </a:pPr>
            <a:r>
              <a:rPr lang="en-US" sz="1800" dirty="0">
                <a:latin typeface="Times New Roman" panose="02020603050405020304" pitchFamily="18" charset="0"/>
                <a:cs typeface="Times New Roman" panose="02020603050405020304" pitchFamily="18" charset="0"/>
              </a:rPr>
              <a:t>In the Project initiation stage, an initial plan is made. As a project starts, the project is  monitored and controlled to process as planned. Initial plan is revised periodically to  accommodate additional details and constraints about the project as they become available. </a:t>
            </a:r>
          </a:p>
          <a:p>
            <a:pPr algn="just">
              <a:lnSpc>
                <a:spcPct val="170000"/>
              </a:lnSpc>
            </a:pPr>
            <a:r>
              <a:rPr lang="en-US" sz="1800" dirty="0">
                <a:latin typeface="Times New Roman" panose="02020603050405020304" pitchFamily="18" charset="0"/>
                <a:cs typeface="Times New Roman" panose="02020603050405020304" pitchFamily="18" charset="0"/>
              </a:rPr>
              <a:t>Finally, the project is closed. </a:t>
            </a:r>
          </a:p>
          <a:p>
            <a:pPr algn="just">
              <a:lnSpc>
                <a:spcPct val="170000"/>
              </a:lnSpc>
            </a:pPr>
            <a:r>
              <a:rPr lang="en-US" sz="1800" dirty="0">
                <a:latin typeface="Times New Roman" panose="02020603050405020304" pitchFamily="18" charset="0"/>
                <a:cs typeface="Times New Roman" panose="02020603050405020304" pitchFamily="18" charset="0"/>
              </a:rPr>
              <a:t>Initial project is undertaken immediately after the feasibility study phase and before starting the requirement analysis and specification process. </a:t>
            </a:r>
          </a:p>
          <a:p>
            <a:pPr algn="just">
              <a:lnSpc>
                <a:spcPct val="170000"/>
              </a:lnSpc>
            </a:pPr>
            <a:r>
              <a:rPr lang="en-US" sz="1800" dirty="0">
                <a:latin typeface="Times New Roman" panose="02020603050405020304" pitchFamily="18" charset="0"/>
                <a:cs typeface="Times New Roman" panose="02020603050405020304" pitchFamily="18" charset="0"/>
              </a:rPr>
              <a:t>Initial project planning involves estimating several characteristics of a project. Based on these  estimates all subsequent project activities are planned. </a:t>
            </a:r>
          </a:p>
          <a:p>
            <a:pPr algn="just">
              <a:lnSpc>
                <a:spcPct val="170000"/>
              </a:lnSpc>
            </a:pPr>
            <a:r>
              <a:rPr lang="en-US" sz="1800" dirty="0">
                <a:latin typeface="Times New Roman" panose="02020603050405020304" pitchFamily="18" charset="0"/>
                <a:cs typeface="Times New Roman" panose="02020603050405020304" pitchFamily="18" charset="0"/>
              </a:rPr>
              <a:t>The monitoring activity involves monitoring the progress of the project. Control activities are  initiated to minimize any significant variation in the plan,</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81991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A2F92B-B626-5772-0D3A-3F5300196272}"/>
              </a:ext>
            </a:extLst>
          </p:cNvPr>
          <p:cNvSpPr>
            <a:spLocks noGrp="1"/>
          </p:cNvSpPr>
          <p:nvPr>
            <p:ph idx="1"/>
          </p:nvPr>
        </p:nvSpPr>
        <p:spPr>
          <a:xfrm>
            <a:off x="0" y="0"/>
            <a:ext cx="12191999" cy="6858000"/>
          </a:xfrm>
        </p:spPr>
        <p:txBody>
          <a:bodyPr>
            <a:normAutofit lnSpcReduction="10000"/>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Project Planning is an important responsibility of the project Manager. During project planning, the project manger needs to perform a few well-defined activities that have been outlined below/ Several best practices have been proposed for software project planning activities, PRINCE2 is  used extensively in UK and Europe . In USA Project management Institute’s ‘PMBOK’ which  refers to their publication “A Gude to the Project Management Body of knowledge, is used. </a:t>
            </a:r>
          </a:p>
          <a:p>
            <a:pPr algn="just">
              <a:lnSpc>
                <a:spcPct val="150000"/>
              </a:lnSpc>
            </a:pPr>
            <a:r>
              <a:rPr lang="en-US" b="1" dirty="0">
                <a:latin typeface="Times New Roman" panose="02020603050405020304" pitchFamily="18" charset="0"/>
                <a:cs typeface="Times New Roman" panose="02020603050405020304" pitchFamily="18" charset="0"/>
              </a:rPr>
              <a:t>Estimation:</a:t>
            </a:r>
            <a:r>
              <a:rPr lang="en-US" dirty="0">
                <a:latin typeface="Times New Roman" panose="02020603050405020304" pitchFamily="18" charset="0"/>
                <a:cs typeface="Times New Roman" panose="02020603050405020304" pitchFamily="18" charset="0"/>
              </a:rPr>
              <a:t> The following project attributes are estimated. </a:t>
            </a:r>
          </a:p>
          <a:p>
            <a:pPr algn="just">
              <a:lnSpc>
                <a:spcPct val="150000"/>
              </a:lnSpc>
            </a:pPr>
            <a:r>
              <a:rPr lang="en-US" b="1" dirty="0">
                <a:latin typeface="Times New Roman" panose="02020603050405020304" pitchFamily="18" charset="0"/>
                <a:cs typeface="Times New Roman" panose="02020603050405020304" pitchFamily="18" charset="0"/>
              </a:rPr>
              <a:t>Cost:</a:t>
            </a:r>
            <a:r>
              <a:rPr lang="en-US" dirty="0">
                <a:latin typeface="Times New Roman" panose="02020603050405020304" pitchFamily="18" charset="0"/>
                <a:cs typeface="Times New Roman" panose="02020603050405020304" pitchFamily="18" charset="0"/>
              </a:rPr>
              <a:t> How much is it going to cost to complete the project. </a:t>
            </a:r>
          </a:p>
          <a:p>
            <a:pPr algn="just">
              <a:lnSpc>
                <a:spcPct val="150000"/>
              </a:lnSpc>
            </a:pPr>
            <a:r>
              <a:rPr lang="en-US" b="1" dirty="0">
                <a:latin typeface="Times New Roman" panose="02020603050405020304" pitchFamily="18" charset="0"/>
                <a:cs typeface="Times New Roman" panose="02020603050405020304" pitchFamily="18" charset="0"/>
              </a:rPr>
              <a:t>Duration:</a:t>
            </a:r>
            <a:r>
              <a:rPr lang="en-US" dirty="0">
                <a:latin typeface="Times New Roman" panose="02020603050405020304" pitchFamily="18" charset="0"/>
                <a:cs typeface="Times New Roman" panose="02020603050405020304" pitchFamily="18" charset="0"/>
              </a:rPr>
              <a:t> How long is it going to take to complete the project. </a:t>
            </a:r>
          </a:p>
          <a:p>
            <a:pPr algn="just">
              <a:lnSpc>
                <a:spcPct val="150000"/>
              </a:lnSpc>
            </a:pPr>
            <a:r>
              <a:rPr lang="en-US" b="1" dirty="0">
                <a:latin typeface="Times New Roman" panose="02020603050405020304" pitchFamily="18" charset="0"/>
                <a:cs typeface="Times New Roman" panose="02020603050405020304" pitchFamily="18" charset="0"/>
              </a:rPr>
              <a:t>Effort:</a:t>
            </a:r>
            <a:r>
              <a:rPr lang="en-US" dirty="0">
                <a:latin typeface="Times New Roman" panose="02020603050405020304" pitchFamily="18" charset="0"/>
                <a:cs typeface="Times New Roman" panose="02020603050405020304" pitchFamily="18" charset="0"/>
              </a:rPr>
              <a:t> How much effort would be necessary for completing the project?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52006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DFC4B1-7E9B-388C-81F3-CEF08F09AA9B}"/>
              </a:ext>
            </a:extLst>
          </p:cNvPr>
          <p:cNvSpPr>
            <a:spLocks noGrp="1"/>
          </p:cNvSpPr>
          <p:nvPr>
            <p:ph idx="1"/>
          </p:nvPr>
        </p:nvSpPr>
        <p:spPr>
          <a:xfrm>
            <a:off x="119743" y="108857"/>
            <a:ext cx="11996057" cy="6574972"/>
          </a:xfrm>
        </p:spPr>
        <p:txBody>
          <a:bodyPr>
            <a:normAutofit fontScale="77500" lnSpcReduction="20000"/>
          </a:bodyPr>
          <a:lstStyle/>
          <a:p>
            <a:pPr algn="just">
              <a:lnSpc>
                <a:spcPct val="170000"/>
              </a:lnSpc>
            </a:pPr>
            <a:r>
              <a:rPr lang="en-US" dirty="0">
                <a:latin typeface="Times New Roman" panose="02020603050405020304" pitchFamily="18" charset="0"/>
                <a:cs typeface="Times New Roman" panose="02020603050405020304" pitchFamily="18" charset="0"/>
              </a:rPr>
              <a:t>The effectiveness of all activities such as scheduling and staffing are planned at later stage. </a:t>
            </a:r>
          </a:p>
          <a:p>
            <a:pPr algn="just">
              <a:lnSpc>
                <a:spcPct val="170000"/>
              </a:lnSpc>
            </a:pPr>
            <a:r>
              <a:rPr lang="en-US" b="1" dirty="0">
                <a:latin typeface="Times New Roman" panose="02020603050405020304" pitchFamily="18" charset="0"/>
                <a:cs typeface="Times New Roman" panose="02020603050405020304" pitchFamily="18" charset="0"/>
              </a:rPr>
              <a:t>Scheduling:</a:t>
            </a:r>
            <a:r>
              <a:rPr lang="en-US" dirty="0">
                <a:latin typeface="Times New Roman" panose="02020603050405020304" pitchFamily="18" charset="0"/>
                <a:cs typeface="Times New Roman" panose="02020603050405020304" pitchFamily="18" charset="0"/>
              </a:rPr>
              <a:t> Based on estimations of effort and duration, the schedules for manpower  and other resources are developed. </a:t>
            </a:r>
          </a:p>
          <a:p>
            <a:pPr algn="just">
              <a:lnSpc>
                <a:spcPct val="170000"/>
              </a:lnSpc>
            </a:pPr>
            <a:r>
              <a:rPr lang="en-US" b="1" dirty="0">
                <a:latin typeface="Times New Roman" panose="02020603050405020304" pitchFamily="18" charset="0"/>
                <a:cs typeface="Times New Roman" panose="02020603050405020304" pitchFamily="18" charset="0"/>
              </a:rPr>
              <a:t>Staffing:</a:t>
            </a:r>
            <a:r>
              <a:rPr lang="en-US" dirty="0">
                <a:latin typeface="Times New Roman" panose="02020603050405020304" pitchFamily="18" charset="0"/>
                <a:cs typeface="Times New Roman" panose="02020603050405020304" pitchFamily="18" charset="0"/>
              </a:rPr>
              <a:t> Staff organization and staffing plans are made. </a:t>
            </a:r>
          </a:p>
          <a:p>
            <a:pPr algn="just">
              <a:lnSpc>
                <a:spcPct val="170000"/>
              </a:lnSpc>
            </a:pPr>
            <a:r>
              <a:rPr lang="en-US" b="1" dirty="0">
                <a:latin typeface="Times New Roman" panose="02020603050405020304" pitchFamily="18" charset="0"/>
                <a:cs typeface="Times New Roman" panose="02020603050405020304" pitchFamily="18" charset="0"/>
              </a:rPr>
              <a:t>Risk Management: </a:t>
            </a:r>
            <a:r>
              <a:rPr lang="en-US" dirty="0">
                <a:latin typeface="Times New Roman" panose="02020603050405020304" pitchFamily="18" charset="0"/>
                <a:cs typeface="Times New Roman" panose="02020603050405020304" pitchFamily="18" charset="0"/>
              </a:rPr>
              <a:t>This activity includes risk identification, analysis, and abatement  planning. </a:t>
            </a:r>
          </a:p>
          <a:p>
            <a:pPr algn="just">
              <a:lnSpc>
                <a:spcPct val="170000"/>
              </a:lnSpc>
            </a:pPr>
            <a:r>
              <a:rPr lang="en-US" b="1" dirty="0">
                <a:latin typeface="Times New Roman" panose="02020603050405020304" pitchFamily="18" charset="0"/>
                <a:cs typeface="Times New Roman" panose="02020603050405020304" pitchFamily="18" charset="0"/>
              </a:rPr>
              <a:t>Miscellaneous Plans: </a:t>
            </a:r>
            <a:r>
              <a:rPr lang="en-US" dirty="0">
                <a:latin typeface="Times New Roman" panose="02020603050405020304" pitchFamily="18" charset="0"/>
                <a:cs typeface="Times New Roman" panose="02020603050405020304" pitchFamily="18" charset="0"/>
              </a:rPr>
              <a:t>This includes making several other plans such as quality  assurance plan, configuration management plan etc. </a:t>
            </a:r>
          </a:p>
          <a:p>
            <a:pPr algn="just">
              <a:lnSpc>
                <a:spcPct val="170000"/>
              </a:lnSpc>
            </a:pPr>
            <a:r>
              <a:rPr lang="en-US" dirty="0">
                <a:latin typeface="Times New Roman" panose="02020603050405020304" pitchFamily="18" charset="0"/>
                <a:cs typeface="Times New Roman" panose="02020603050405020304" pitchFamily="18" charset="0"/>
              </a:rPr>
              <a:t>While carrying out project monitoring and control activities, a project manager may sometimes find it necessary to change the plan to cope with specific situations and make the plan more accurate as more project data becomes available.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51873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CE6B9-C955-23FC-75ED-4AF22A0DBEFC}"/>
              </a:ext>
            </a:extLst>
          </p:cNvPr>
          <p:cNvSpPr>
            <a:spLocks noGrp="1"/>
          </p:cNvSpPr>
          <p:nvPr>
            <p:ph type="title"/>
          </p:nvPr>
        </p:nvSpPr>
        <p:spPr>
          <a:xfrm>
            <a:off x="838200" y="1"/>
            <a:ext cx="10515600" cy="681036"/>
          </a:xfrm>
        </p:spPr>
        <p:txBody>
          <a:bodyPr>
            <a:normAutofit fontScale="90000"/>
          </a:bodyPr>
          <a:lstStyle/>
          <a:p>
            <a:r>
              <a:rPr lang="en-IN" b="1" dirty="0">
                <a:latin typeface="Times New Roman" panose="02020603050405020304" pitchFamily="18" charset="0"/>
                <a:cs typeface="Times New Roman" panose="02020603050405020304" pitchFamily="18" charset="0"/>
              </a:rPr>
              <a:t>MANAGEMENT CONTROL</a:t>
            </a:r>
          </a:p>
        </p:txBody>
      </p:sp>
      <p:sp>
        <p:nvSpPr>
          <p:cNvPr id="3" name="Content Placeholder 2">
            <a:extLst>
              <a:ext uri="{FF2B5EF4-FFF2-40B4-BE49-F238E27FC236}">
                <a16:creationId xmlns:a16="http://schemas.microsoft.com/office/drawing/2014/main" id="{4E9E3A7A-9F33-1C43-72FD-C2EA2C54E1B1}"/>
              </a:ext>
            </a:extLst>
          </p:cNvPr>
          <p:cNvSpPr>
            <a:spLocks noGrp="1"/>
          </p:cNvSpPr>
          <p:nvPr>
            <p:ph idx="1"/>
          </p:nvPr>
        </p:nvSpPr>
        <p:spPr>
          <a:xfrm>
            <a:off x="838200" y="903514"/>
            <a:ext cx="10515600" cy="5273449"/>
          </a:xfrm>
        </p:spPr>
        <p:txBody>
          <a:bodyPr>
            <a:normAutofit/>
          </a:bodyPr>
          <a:lstStyle/>
          <a:p>
            <a:pPr>
              <a:lnSpc>
                <a:spcPct val="150000"/>
              </a:lnSpc>
            </a:pPr>
            <a:r>
              <a:rPr lang="en-US" sz="2000" dirty="0">
                <a:latin typeface="Times New Roman" panose="02020603050405020304" pitchFamily="18" charset="0"/>
                <a:cs typeface="Times New Roman" panose="02020603050405020304" pitchFamily="18" charset="0"/>
              </a:rPr>
              <a:t>Management involves setting objectives for a system and monitoring the performance of the system.</a:t>
            </a:r>
          </a:p>
          <a:p>
            <a:pPr>
              <a:lnSpc>
                <a:spcPct val="150000"/>
              </a:lnSpc>
            </a:pP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FA89CC8-982F-A354-2126-4519DC8ABA62}"/>
              </a:ext>
            </a:extLst>
          </p:cNvPr>
          <p:cNvPicPr>
            <a:picLocks noChangeAspect="1"/>
          </p:cNvPicPr>
          <p:nvPr/>
        </p:nvPicPr>
        <p:blipFill>
          <a:blip r:embed="rId2"/>
          <a:stretch>
            <a:fillRect/>
          </a:stretch>
        </p:blipFill>
        <p:spPr>
          <a:xfrm>
            <a:off x="3080657" y="1444522"/>
            <a:ext cx="5508171" cy="5273449"/>
          </a:xfrm>
          <a:prstGeom prst="rect">
            <a:avLst/>
          </a:prstGeom>
        </p:spPr>
      </p:pic>
    </p:spTree>
    <p:extLst>
      <p:ext uri="{BB962C8B-B14F-4D97-AF65-F5344CB8AC3E}">
        <p14:creationId xmlns:p14="http://schemas.microsoft.com/office/powerpoint/2010/main" val="40747626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46F94D-5136-C022-5B1C-99E31AA192EE}"/>
              </a:ext>
            </a:extLst>
          </p:cNvPr>
          <p:cNvSpPr>
            <a:spLocks noGrp="1"/>
          </p:cNvSpPr>
          <p:nvPr>
            <p:ph idx="1"/>
          </p:nvPr>
        </p:nvSpPr>
        <p:spPr>
          <a:xfrm>
            <a:off x="838200" y="76200"/>
            <a:ext cx="10515600" cy="6781800"/>
          </a:xfrm>
        </p:spPr>
        <p:txBody>
          <a:bodyPr>
            <a:normAutofit fontScale="77500" lnSpcReduction="20000"/>
          </a:bodyPr>
          <a:lstStyle/>
          <a:p>
            <a:pPr algn="just">
              <a:lnSpc>
                <a:spcPct val="160000"/>
              </a:lnSpc>
            </a:pPr>
            <a:r>
              <a:rPr lang="en-US" dirty="0">
                <a:latin typeface="Times New Roman" panose="02020603050405020304" pitchFamily="18" charset="0"/>
                <a:cs typeface="Times New Roman" panose="02020603050405020304" pitchFamily="18" charset="0"/>
              </a:rPr>
              <a:t>In the above Fig, local mangers involve in data collection. Bare details such as “location X has  processed 2000 documents” may not be useful to higher management. </a:t>
            </a:r>
          </a:p>
          <a:p>
            <a:pPr algn="just">
              <a:lnSpc>
                <a:spcPct val="160000"/>
              </a:lnSpc>
            </a:pPr>
            <a:r>
              <a:rPr lang="en-US" dirty="0">
                <a:latin typeface="Times New Roman" panose="02020603050405020304" pitchFamily="18" charset="0"/>
                <a:cs typeface="Times New Roman" panose="02020603050405020304" pitchFamily="18" charset="0"/>
              </a:rPr>
              <a:t>Data processing is required to transform this raw data into useful information. This might be  in such forms as “Percentage of records Processed”, average documents per day per person”,  and estimated completion date”. </a:t>
            </a:r>
          </a:p>
          <a:p>
            <a:pPr algn="just">
              <a:lnSpc>
                <a:spcPct val="160000"/>
              </a:lnSpc>
            </a:pPr>
            <a:r>
              <a:rPr lang="en-US" dirty="0">
                <a:latin typeface="Times New Roman" panose="02020603050405020304" pitchFamily="18" charset="0"/>
                <a:cs typeface="Times New Roman" panose="02020603050405020304" pitchFamily="18" charset="0"/>
              </a:rPr>
              <a:t>In this example , the project management might examine the “estimated completion date” for  completing data transfer for each branch. They are comparing actual performance with overall  project objectives. </a:t>
            </a:r>
          </a:p>
          <a:p>
            <a:pPr algn="just">
              <a:lnSpc>
                <a:spcPct val="160000"/>
              </a:lnSpc>
            </a:pPr>
            <a:r>
              <a:rPr lang="en-US" dirty="0">
                <a:latin typeface="Times New Roman" panose="02020603050405020304" pitchFamily="18" charset="0"/>
                <a:cs typeface="Times New Roman" panose="02020603050405020304" pitchFamily="18" charset="0"/>
              </a:rPr>
              <a:t>They might find that one or two branches will fail to complete the transfer of details in time. </a:t>
            </a:r>
          </a:p>
          <a:p>
            <a:pPr algn="just">
              <a:lnSpc>
                <a:spcPct val="160000"/>
              </a:lnSpc>
            </a:pPr>
            <a:r>
              <a:rPr lang="en-US" dirty="0">
                <a:latin typeface="Times New Roman" panose="02020603050405020304" pitchFamily="18" charset="0"/>
                <a:cs typeface="Times New Roman" panose="02020603050405020304" pitchFamily="18" charset="0"/>
              </a:rPr>
              <a:t>It can be seen that a project plan is dynamic and will need constant adjustment during the  execution of the project. A good plan provides a foundation for a good project, but is nothing without intelligent execution.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85171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1A8EC-95F7-CC9C-0EF8-403E7F5D679B}"/>
              </a:ext>
            </a:extLst>
          </p:cNvPr>
          <p:cNvSpPr>
            <a:spLocks noGrp="1"/>
          </p:cNvSpPr>
          <p:nvPr>
            <p:ph type="title"/>
          </p:nvPr>
        </p:nvSpPr>
        <p:spPr>
          <a:xfrm>
            <a:off x="838200" y="365125"/>
            <a:ext cx="10515600" cy="636361"/>
          </a:xfrm>
        </p:spPr>
        <p:txBody>
          <a:bodyPr>
            <a:normAutofit/>
          </a:bodyPr>
          <a:lstStyle/>
          <a:p>
            <a:r>
              <a:rPr lang="en-IN" sz="3200" b="1" dirty="0">
                <a:latin typeface="Times New Roman" panose="02020603050405020304" pitchFamily="18" charset="0"/>
                <a:cs typeface="Times New Roman" panose="02020603050405020304" pitchFamily="18" charset="0"/>
              </a:rPr>
              <a:t>1.14 PROJECT MANAGEMENT LIFE CYCLE</a:t>
            </a:r>
          </a:p>
        </p:txBody>
      </p:sp>
      <p:sp>
        <p:nvSpPr>
          <p:cNvPr id="3" name="Content Placeholder 2">
            <a:extLst>
              <a:ext uri="{FF2B5EF4-FFF2-40B4-BE49-F238E27FC236}">
                <a16:creationId xmlns:a16="http://schemas.microsoft.com/office/drawing/2014/main" id="{E932E392-EE4D-4FEA-EF0E-B43A0964FFE6}"/>
              </a:ext>
            </a:extLst>
          </p:cNvPr>
          <p:cNvSpPr>
            <a:spLocks noGrp="1"/>
          </p:cNvSpPr>
          <p:nvPr>
            <p:ph idx="1"/>
          </p:nvPr>
        </p:nvSpPr>
        <p:spPr>
          <a:xfrm>
            <a:off x="838200" y="1001486"/>
            <a:ext cx="10515600" cy="5175477"/>
          </a:xfrm>
        </p:spPr>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Software development life cycle denotes (SDLC) the stages through which a software is  developed. In contrast to SDLC, the project management life cycle typically starts well before the  software development activities start and continues for the entire duration of SDLC. (Fig 1.7) </a:t>
            </a:r>
          </a:p>
          <a:p>
            <a:pPr algn="just">
              <a:lnSpc>
                <a:spcPct val="150000"/>
              </a:lnSpc>
            </a:pPr>
            <a:r>
              <a:rPr lang="en-US" sz="2000" dirty="0">
                <a:latin typeface="Times New Roman" panose="02020603050405020304" pitchFamily="18" charset="0"/>
                <a:cs typeface="Times New Roman" panose="02020603050405020304" pitchFamily="18" charset="0"/>
              </a:rPr>
              <a:t>In Project Management process, the project manager carries out project initiation, planning,  execution, monitoring, controlling and closing. </a:t>
            </a: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141C4EF-8FDB-756D-FE84-B5A34983BF7C}"/>
              </a:ext>
            </a:extLst>
          </p:cNvPr>
          <p:cNvPicPr>
            <a:picLocks noChangeAspect="1"/>
          </p:cNvPicPr>
          <p:nvPr/>
        </p:nvPicPr>
        <p:blipFill>
          <a:blip r:embed="rId2"/>
          <a:stretch>
            <a:fillRect/>
          </a:stretch>
        </p:blipFill>
        <p:spPr>
          <a:xfrm>
            <a:off x="1317171" y="3614057"/>
            <a:ext cx="9590315" cy="3080657"/>
          </a:xfrm>
          <a:prstGeom prst="rect">
            <a:avLst/>
          </a:prstGeom>
        </p:spPr>
      </p:pic>
    </p:spTree>
    <p:extLst>
      <p:ext uri="{BB962C8B-B14F-4D97-AF65-F5344CB8AC3E}">
        <p14:creationId xmlns:p14="http://schemas.microsoft.com/office/powerpoint/2010/main" val="1609966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230A6-2886-5B97-5417-5372342052B4}"/>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546C24A7-C353-E42C-0370-B20726BBB5DA}"/>
              </a:ext>
            </a:extLst>
          </p:cNvPr>
          <p:cNvPicPr>
            <a:picLocks noGrp="1" noChangeAspect="1"/>
          </p:cNvPicPr>
          <p:nvPr>
            <p:ph idx="1"/>
          </p:nvPr>
        </p:nvPicPr>
        <p:blipFill>
          <a:blip r:embed="rId2"/>
          <a:stretch>
            <a:fillRect/>
          </a:stretch>
        </p:blipFill>
        <p:spPr>
          <a:xfrm>
            <a:off x="522515" y="250371"/>
            <a:ext cx="10624456" cy="2786743"/>
          </a:xfrm>
          <a:prstGeom prst="rect">
            <a:avLst/>
          </a:prstGeom>
        </p:spPr>
      </p:pic>
      <p:sp>
        <p:nvSpPr>
          <p:cNvPr id="9" name="TextBox 8">
            <a:extLst>
              <a:ext uri="{FF2B5EF4-FFF2-40B4-BE49-F238E27FC236}">
                <a16:creationId xmlns:a16="http://schemas.microsoft.com/office/drawing/2014/main" id="{4205850B-FD01-E33A-6FB8-C0503A0AC325}"/>
              </a:ext>
            </a:extLst>
          </p:cNvPr>
          <p:cNvSpPr txBox="1"/>
          <p:nvPr/>
        </p:nvSpPr>
        <p:spPr>
          <a:xfrm>
            <a:off x="348343" y="2958130"/>
            <a:ext cx="11734799" cy="3730317"/>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Project Initiation: </a:t>
            </a:r>
            <a:r>
              <a:rPr lang="en-US" sz="2000" dirty="0">
                <a:latin typeface="Times New Roman" panose="02020603050405020304" pitchFamily="18" charset="0"/>
                <a:cs typeface="Times New Roman" panose="02020603050405020304" pitchFamily="18" charset="0"/>
              </a:rPr>
              <a:t>The project initiation phase starts with project concept development. During concept development the different characteristics of the software to be developed  are thoroughly understood, which includes, the scope of the project, the project constraints,  the cost that would be incurred and the benefits that would accrue. Based on this  understanding, a feasibility study is undertaken to determine the project would be  financially and technically feasible. </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Based on feasibility study, the business case is developed. Once the top management  agrees to the business case, the project manager is appointed, the project charter is  written and finally project team is formed. This sets the ground for the manager to start  the project planning phase.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54761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5467F1-206E-7CCE-157F-EE06D60EB0B2}"/>
              </a:ext>
            </a:extLst>
          </p:cNvPr>
          <p:cNvSpPr>
            <a:spLocks noGrp="1"/>
          </p:cNvSpPr>
          <p:nvPr>
            <p:ph idx="1"/>
          </p:nvPr>
        </p:nvSpPr>
        <p:spPr>
          <a:xfrm>
            <a:off x="838200" y="413657"/>
            <a:ext cx="10515600" cy="5763306"/>
          </a:xfrm>
        </p:spPr>
        <p:txBody>
          <a:bodyPr>
            <a:normAutofit fontScale="77500" lnSpcReduction="20000"/>
          </a:bodyPr>
          <a:lstStyle/>
          <a:p>
            <a:pPr algn="just">
              <a:lnSpc>
                <a:spcPct val="170000"/>
              </a:lnSpc>
            </a:pPr>
            <a:r>
              <a:rPr lang="en-US" dirty="0"/>
              <a:t> </a:t>
            </a:r>
            <a:r>
              <a:rPr lang="en-US" dirty="0">
                <a:latin typeface="Times New Roman" panose="02020603050405020304" pitchFamily="18" charset="0"/>
                <a:cs typeface="Times New Roman" panose="02020603050405020304" pitchFamily="18" charset="0"/>
              </a:rPr>
              <a:t>W5HH Principle: Barry Boehm, summarized the questions that need to be asked and  answered in order to have an understanding of these project characteristics. </a:t>
            </a:r>
          </a:p>
          <a:p>
            <a:pPr algn="just">
              <a:lnSpc>
                <a:spcPct val="170000"/>
              </a:lnSpc>
            </a:pPr>
            <a:r>
              <a:rPr lang="en-US" dirty="0">
                <a:latin typeface="Times New Roman" panose="02020603050405020304" pitchFamily="18" charset="0"/>
                <a:cs typeface="Times New Roman" panose="02020603050405020304" pitchFamily="18" charset="0"/>
              </a:rPr>
              <a:t>Why is the software being built? </a:t>
            </a:r>
          </a:p>
          <a:p>
            <a:pPr algn="just">
              <a:lnSpc>
                <a:spcPct val="170000"/>
              </a:lnSpc>
            </a:pPr>
            <a:r>
              <a:rPr lang="en-US" dirty="0">
                <a:latin typeface="Times New Roman" panose="02020603050405020304" pitchFamily="18" charset="0"/>
                <a:cs typeface="Times New Roman" panose="02020603050405020304" pitchFamily="18" charset="0"/>
              </a:rPr>
              <a:t>What will be done? </a:t>
            </a:r>
          </a:p>
          <a:p>
            <a:pPr algn="just">
              <a:lnSpc>
                <a:spcPct val="170000"/>
              </a:lnSpc>
            </a:pPr>
            <a:r>
              <a:rPr lang="en-US" dirty="0">
                <a:latin typeface="Times New Roman" panose="02020603050405020304" pitchFamily="18" charset="0"/>
                <a:cs typeface="Times New Roman" panose="02020603050405020304" pitchFamily="18" charset="0"/>
              </a:rPr>
              <a:t>When will it be done? </a:t>
            </a:r>
          </a:p>
          <a:p>
            <a:pPr algn="just">
              <a:lnSpc>
                <a:spcPct val="170000"/>
              </a:lnSpc>
            </a:pPr>
            <a:r>
              <a:rPr lang="en-US" dirty="0">
                <a:latin typeface="Times New Roman" panose="02020603050405020304" pitchFamily="18" charset="0"/>
                <a:cs typeface="Times New Roman" panose="02020603050405020304" pitchFamily="18" charset="0"/>
              </a:rPr>
              <a:t>Who is responsible for a function?</a:t>
            </a:r>
          </a:p>
          <a:p>
            <a:pPr algn="just">
              <a:lnSpc>
                <a:spcPct val="170000"/>
              </a:lnSpc>
            </a:pPr>
            <a:r>
              <a:rPr lang="en-US" dirty="0">
                <a:latin typeface="Times New Roman" panose="02020603050405020304" pitchFamily="18" charset="0"/>
                <a:cs typeface="Times New Roman" panose="02020603050405020304" pitchFamily="18" charset="0"/>
              </a:rPr>
              <a:t>Where are they organizationally located? </a:t>
            </a:r>
          </a:p>
          <a:p>
            <a:pPr algn="just">
              <a:lnSpc>
                <a:spcPct val="170000"/>
              </a:lnSpc>
            </a:pPr>
            <a:r>
              <a:rPr lang="en-US" dirty="0">
                <a:latin typeface="Times New Roman" panose="02020603050405020304" pitchFamily="18" charset="0"/>
                <a:cs typeface="Times New Roman" panose="02020603050405020304" pitchFamily="18" charset="0"/>
              </a:rPr>
              <a:t>How will the job be done technically and managerially? </a:t>
            </a:r>
          </a:p>
          <a:p>
            <a:pPr algn="just">
              <a:lnSpc>
                <a:spcPct val="170000"/>
              </a:lnSpc>
            </a:pPr>
            <a:r>
              <a:rPr lang="en-US" dirty="0">
                <a:latin typeface="Times New Roman" panose="02020603050405020304" pitchFamily="18" charset="0"/>
                <a:cs typeface="Times New Roman" panose="02020603050405020304" pitchFamily="18" charset="0"/>
              </a:rPr>
              <a:t>How much of these each resource is needed.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3171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61E1A4-BCA0-090B-FFEB-CF68CDEB3665}"/>
              </a:ext>
            </a:extLst>
          </p:cNvPr>
          <p:cNvSpPr>
            <a:spLocks noGrp="1"/>
          </p:cNvSpPr>
          <p:nvPr>
            <p:ph idx="1"/>
          </p:nvPr>
        </p:nvSpPr>
        <p:spPr>
          <a:xfrm>
            <a:off x="206829" y="0"/>
            <a:ext cx="11800114" cy="6705600"/>
          </a:xfrm>
        </p:spPr>
        <p:txBody>
          <a:bodyPr>
            <a:normAutofit/>
          </a:bodyPr>
          <a:lstStyle/>
          <a:p>
            <a:pPr algn="just">
              <a:lnSpc>
                <a:spcPct val="170000"/>
              </a:lnSpc>
            </a:pPr>
            <a:r>
              <a:rPr lang="en-US" sz="1800" b="1" dirty="0">
                <a:latin typeface="Times New Roman" panose="02020603050405020304" pitchFamily="18" charset="0"/>
                <a:cs typeface="Times New Roman" panose="02020603050405020304" pitchFamily="18" charset="0"/>
              </a:rPr>
              <a:t>Project Bidding: </a:t>
            </a:r>
            <a:r>
              <a:rPr lang="en-US" sz="1800" dirty="0">
                <a:latin typeface="Times New Roman" panose="02020603050405020304" pitchFamily="18" charset="0"/>
                <a:cs typeface="Times New Roman" panose="02020603050405020304" pitchFamily="18" charset="0"/>
              </a:rPr>
              <a:t>Once the top management is convinced by the business case, the project  charter is developed. For some categories of projects, it may be necessary to have formal  bidding process to select suitable vendor based on some cost-performance criteria. The  different types of bidding techniques are: </a:t>
            </a:r>
          </a:p>
          <a:p>
            <a:pPr algn="just">
              <a:lnSpc>
                <a:spcPct val="170000"/>
              </a:lnSpc>
            </a:pPr>
            <a:r>
              <a:rPr lang="en-US" sz="1800" b="1" dirty="0">
                <a:latin typeface="Times New Roman" panose="02020603050405020304" pitchFamily="18" charset="0"/>
                <a:cs typeface="Times New Roman" panose="02020603050405020304" pitchFamily="18" charset="0"/>
              </a:rPr>
              <a:t>Request for quotation(RFQ): </a:t>
            </a:r>
            <a:r>
              <a:rPr lang="en-US" sz="1800" dirty="0">
                <a:latin typeface="Times New Roman" panose="02020603050405020304" pitchFamily="18" charset="0"/>
                <a:cs typeface="Times New Roman" panose="02020603050405020304" pitchFamily="18" charset="0"/>
              </a:rPr>
              <a:t>An organization advertises an RFQ if it has good  understanding of the project and the possible solutions. </a:t>
            </a:r>
          </a:p>
          <a:p>
            <a:pPr algn="just">
              <a:lnSpc>
                <a:spcPct val="170000"/>
              </a:lnSpc>
            </a:pPr>
            <a:r>
              <a:rPr lang="en-US" sz="1800" b="1" dirty="0">
                <a:latin typeface="Times New Roman" panose="02020603050405020304" pitchFamily="18" charset="0"/>
                <a:cs typeface="Times New Roman" panose="02020603050405020304" pitchFamily="18" charset="0"/>
              </a:rPr>
              <a:t>Request for Proposal(RFP): </a:t>
            </a:r>
            <a:r>
              <a:rPr lang="en-US" sz="1800" dirty="0">
                <a:latin typeface="Times New Roman" panose="02020603050405020304" pitchFamily="18" charset="0"/>
                <a:cs typeface="Times New Roman" panose="02020603050405020304" pitchFamily="18" charset="0"/>
              </a:rPr>
              <a:t>An organization had reasonable understanding of  the problem to be solved, however, it does not have good grasp of the solution  aspects. i.e. may not have sufficient knowledge about different features to be  implemented. The purpose of RFP is to get an understanding of the alternative  solutions possible that can be deployed and not vendor selection. Based on the RFP  process, the requesting organization can form a clear idea of the project solutions  required, based on which it can form a statement work (SOW) for requesting RFQ  for the vendors. </a:t>
            </a:r>
          </a:p>
          <a:p>
            <a:pPr algn="just">
              <a:lnSpc>
                <a:spcPct val="170000"/>
              </a:lnSpc>
            </a:pPr>
            <a:r>
              <a:rPr lang="en-US" sz="1800" b="1" dirty="0">
                <a:latin typeface="Times New Roman" panose="02020603050405020304" pitchFamily="18" charset="0"/>
                <a:cs typeface="Times New Roman" panose="02020603050405020304" pitchFamily="18" charset="0"/>
              </a:rPr>
              <a:t>Request for Information (RFI):</a:t>
            </a:r>
            <a:r>
              <a:rPr lang="en-US" sz="1800" dirty="0">
                <a:latin typeface="Times New Roman" panose="02020603050405020304" pitchFamily="18" charset="0"/>
                <a:cs typeface="Times New Roman" panose="02020603050405020304" pitchFamily="18" charset="0"/>
              </a:rPr>
              <a:t> An organization soliciting bids may publish an  RFI. Based on the vendor response to the RFI, the organization can assess the  competencies of the vendors and shortlist the vendors who can bid for the work. </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27694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FA33D5-4D27-79CC-D09B-6122E949A24F}"/>
              </a:ext>
            </a:extLst>
          </p:cNvPr>
          <p:cNvSpPr>
            <a:spLocks noGrp="1"/>
          </p:cNvSpPr>
          <p:nvPr>
            <p:ph idx="1"/>
          </p:nvPr>
        </p:nvSpPr>
        <p:spPr>
          <a:xfrm>
            <a:off x="163286" y="206830"/>
            <a:ext cx="11800114" cy="6368142"/>
          </a:xfrm>
        </p:spPr>
        <p:txBody>
          <a:bodyPr>
            <a:normAutofit fontScale="85000" lnSpcReduction="20000"/>
          </a:bodyPr>
          <a:lstStyle/>
          <a:p>
            <a:pPr marL="0" indent="0" algn="just">
              <a:lnSpc>
                <a:spcPct val="160000"/>
              </a:lnSpc>
              <a:buNone/>
            </a:pPr>
            <a:r>
              <a:rPr lang="en-US" b="1" dirty="0">
                <a:latin typeface="Times New Roman" panose="02020603050405020304" pitchFamily="18" charset="0"/>
                <a:cs typeface="Times New Roman" panose="02020603050405020304" pitchFamily="18" charset="0"/>
              </a:rPr>
              <a:t>Project Planning: </a:t>
            </a:r>
            <a:r>
              <a:rPr lang="en-US" dirty="0">
                <a:latin typeface="Times New Roman" panose="02020603050405020304" pitchFamily="18" charset="0"/>
                <a:cs typeface="Times New Roman" panose="02020603050405020304" pitchFamily="18" charset="0"/>
              </a:rPr>
              <a:t>An importance of the project initiation phase is the project charter.  During the project planning the project manger carries out several processes and creates the  following documents: </a:t>
            </a:r>
          </a:p>
          <a:p>
            <a:pPr algn="just">
              <a:lnSpc>
                <a:spcPct val="160000"/>
              </a:lnSpc>
            </a:pPr>
            <a:r>
              <a:rPr lang="en-US" b="1" dirty="0">
                <a:latin typeface="Times New Roman" panose="02020603050405020304" pitchFamily="18" charset="0"/>
                <a:cs typeface="Times New Roman" panose="02020603050405020304" pitchFamily="18" charset="0"/>
              </a:rPr>
              <a:t>Project plan: </a:t>
            </a:r>
            <a:r>
              <a:rPr lang="en-US" dirty="0">
                <a:latin typeface="Times New Roman" panose="02020603050405020304" pitchFamily="18" charset="0"/>
                <a:cs typeface="Times New Roman" panose="02020603050405020304" pitchFamily="18" charset="0"/>
              </a:rPr>
              <a:t>This document identifies the project the project tasks and a schedule  for the project tasks that assigns project resources and time frames to the tasks. </a:t>
            </a:r>
          </a:p>
          <a:p>
            <a:pPr algn="just">
              <a:lnSpc>
                <a:spcPct val="160000"/>
              </a:lnSpc>
            </a:pPr>
            <a:r>
              <a:rPr lang="en-US" b="1" dirty="0">
                <a:latin typeface="Times New Roman" panose="02020603050405020304" pitchFamily="18" charset="0"/>
                <a:cs typeface="Times New Roman" panose="02020603050405020304" pitchFamily="18" charset="0"/>
              </a:rPr>
              <a:t>Resource Plan: </a:t>
            </a:r>
            <a:r>
              <a:rPr lang="en-US" dirty="0">
                <a:latin typeface="Times New Roman" panose="02020603050405020304" pitchFamily="18" charset="0"/>
                <a:cs typeface="Times New Roman" panose="02020603050405020304" pitchFamily="18" charset="0"/>
              </a:rPr>
              <a:t>It lists the resources , manpower and equipment that would be  required to execute the project. </a:t>
            </a:r>
          </a:p>
          <a:p>
            <a:pPr algn="just">
              <a:lnSpc>
                <a:spcPct val="160000"/>
              </a:lnSpc>
            </a:pPr>
            <a:r>
              <a:rPr lang="en-US" b="1" dirty="0">
                <a:latin typeface="Times New Roman" panose="02020603050405020304" pitchFamily="18" charset="0"/>
                <a:cs typeface="Times New Roman" panose="02020603050405020304" pitchFamily="18" charset="0"/>
              </a:rPr>
              <a:t>Functional Plan: </a:t>
            </a:r>
            <a:r>
              <a:rPr lang="en-US" dirty="0">
                <a:latin typeface="Times New Roman" panose="02020603050405020304" pitchFamily="18" charset="0"/>
                <a:cs typeface="Times New Roman" panose="02020603050405020304" pitchFamily="18" charset="0"/>
              </a:rPr>
              <a:t>It documents the plan for manpower, equipment and other costs. </a:t>
            </a:r>
          </a:p>
          <a:p>
            <a:pPr algn="just">
              <a:lnSpc>
                <a:spcPct val="160000"/>
              </a:lnSpc>
            </a:pPr>
            <a:r>
              <a:rPr lang="en-US" b="1" dirty="0">
                <a:latin typeface="Times New Roman" panose="02020603050405020304" pitchFamily="18" charset="0"/>
                <a:cs typeface="Times New Roman" panose="02020603050405020304" pitchFamily="18" charset="0"/>
              </a:rPr>
              <a:t>Quality Plan: </a:t>
            </a:r>
            <a:r>
              <a:rPr lang="en-US" dirty="0">
                <a:latin typeface="Times New Roman" panose="02020603050405020304" pitchFamily="18" charset="0"/>
                <a:cs typeface="Times New Roman" panose="02020603050405020304" pitchFamily="18" charset="0"/>
              </a:rPr>
              <a:t>Plan of quality targets and control plans are included in this  document. </a:t>
            </a:r>
          </a:p>
          <a:p>
            <a:pPr algn="just">
              <a:lnSpc>
                <a:spcPct val="160000"/>
              </a:lnSpc>
            </a:pPr>
            <a:r>
              <a:rPr lang="en-US" b="1" dirty="0">
                <a:latin typeface="Times New Roman" panose="02020603050405020304" pitchFamily="18" charset="0"/>
                <a:cs typeface="Times New Roman" panose="02020603050405020304" pitchFamily="18" charset="0"/>
              </a:rPr>
              <a:t>Risk Plan: </a:t>
            </a:r>
            <a:r>
              <a:rPr lang="en-US" dirty="0">
                <a:latin typeface="Times New Roman" panose="02020603050405020304" pitchFamily="18" charset="0"/>
                <a:cs typeface="Times New Roman" panose="02020603050405020304" pitchFamily="18" charset="0"/>
              </a:rPr>
              <a:t>This document lists the identification of the potential risks, their  prioritization and a plan for the actions that would be taken to contain the different  risks.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03443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05AC1B-AC57-325A-0490-916632B8B7F3}"/>
              </a:ext>
            </a:extLst>
          </p:cNvPr>
          <p:cNvSpPr>
            <a:spLocks noGrp="1"/>
          </p:cNvSpPr>
          <p:nvPr>
            <p:ph idx="1"/>
          </p:nvPr>
        </p:nvSpPr>
        <p:spPr>
          <a:xfrm>
            <a:off x="337457" y="370114"/>
            <a:ext cx="11538857" cy="6172200"/>
          </a:xfrm>
        </p:spPr>
        <p:txBody>
          <a:bodyPr>
            <a:normAutofit fontScale="77500" lnSpcReduction="20000"/>
          </a:bodyPr>
          <a:lstStyle/>
          <a:p>
            <a:pPr algn="just">
              <a:lnSpc>
                <a:spcPct val="220000"/>
              </a:lnSpc>
            </a:pPr>
            <a:r>
              <a:rPr lang="en-US" b="1" dirty="0">
                <a:latin typeface="Times New Roman" panose="02020603050405020304" pitchFamily="18" charset="0"/>
                <a:cs typeface="Times New Roman" panose="02020603050405020304" pitchFamily="18" charset="0"/>
              </a:rPr>
              <a:t>Project Execution: </a:t>
            </a:r>
            <a:r>
              <a:rPr lang="en-US" dirty="0">
                <a:latin typeface="Times New Roman" panose="02020603050405020304" pitchFamily="18" charset="0"/>
                <a:cs typeface="Times New Roman" panose="02020603050405020304" pitchFamily="18" charset="0"/>
              </a:rPr>
              <a:t>In this phase the tasks are executed as per the project plan developed during the planning phase. Quality of the deliverables is ensured through execution of proper processes. Once all the deliverables are produced and accepted by the customer, the project execution phase completes and the project closure phase starts. </a:t>
            </a:r>
          </a:p>
          <a:p>
            <a:pPr algn="just">
              <a:lnSpc>
                <a:spcPct val="220000"/>
              </a:lnSpc>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Project Closure: </a:t>
            </a:r>
            <a:r>
              <a:rPr lang="en-US" dirty="0">
                <a:latin typeface="Times New Roman" panose="02020603050405020304" pitchFamily="18" charset="0"/>
                <a:cs typeface="Times New Roman" panose="02020603050405020304" pitchFamily="18" charset="0"/>
              </a:rPr>
              <a:t>Project closure involves completing the release of all the required deliverables to the customer along with the necessary documentation. All the Project resources are released and supply agreements with the vendors are terminated and all the pending payments are completed. Finally, a postimplementation review is undertaken to analyze the project performance and to list the lessons for use in future projects.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63419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7350</TotalTime>
  <Words>5680</Words>
  <Application>Microsoft Office PowerPoint</Application>
  <PresentationFormat>Widescreen</PresentationFormat>
  <Paragraphs>218</Paragraphs>
  <Slides>50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Aptos</vt:lpstr>
      <vt:lpstr>Aptos Display</vt:lpstr>
      <vt:lpstr>Arial</vt:lpstr>
      <vt:lpstr>Times New Roman</vt:lpstr>
      <vt:lpstr>Wingdings</vt:lpstr>
      <vt:lpstr>Office Theme</vt:lpstr>
      <vt:lpstr>MODULE 4 </vt:lpstr>
      <vt:lpstr>1.1 INTRODUCTION TO SOFTWARE PROJECT MANAGEMENT </vt:lpstr>
      <vt:lpstr>PowerPoint Presentation</vt:lpstr>
      <vt:lpstr>PowerPoint Presentation</vt:lpstr>
      <vt:lpstr>1.3 WHAT IS A PROJECT ?</vt:lpstr>
      <vt:lpstr>PowerPoint Presentation</vt:lpstr>
      <vt:lpstr>1.3.1 CHARACTERISTICS OF PROJECT: </vt:lpstr>
      <vt:lpstr>PowerPoint Presentation</vt:lpstr>
      <vt:lpstr>1.4 SOFTWARE PROJECTS VERSUS OTHER TYPES OF PROJECT:</vt:lpstr>
      <vt:lpstr>PowerPoint Presentation</vt:lpstr>
      <vt:lpstr>1.5 CONTRACT MANAGEMENT </vt:lpstr>
      <vt:lpstr>1.6 ACTIVITIES COVERED BY SOFTWARE PROJECT MANAGEMENT: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1.7 PLANS, METHODS AND METHODOLOGIES </vt:lpstr>
      <vt:lpstr>1.8 SOME WAYS OF CATEGORIZING SOFTWARE PROJECTS </vt:lpstr>
      <vt:lpstr>PowerPoint Presentation</vt:lpstr>
      <vt:lpstr>PowerPoint Presentation</vt:lpstr>
      <vt:lpstr>INFORMATION SYSTEMS VERSUS EMBEDDED SYSTEMS</vt:lpstr>
      <vt:lpstr>SOFTWARE PRODUCTS VERSES SERVICES </vt:lpstr>
      <vt:lpstr>PowerPoint Presentation</vt:lpstr>
      <vt:lpstr>PowerPoint Presentation</vt:lpstr>
      <vt:lpstr>1.9 STAKEHOLDERS</vt:lpstr>
      <vt:lpstr>PowerPoint Presentation</vt:lpstr>
      <vt:lpstr>PowerPoint Presentation</vt:lpstr>
      <vt:lpstr>1.10 SETTING OBJECTIVES </vt:lpstr>
      <vt:lpstr>PowerPoint Presentation</vt:lpstr>
      <vt:lpstr>PowerPoint Presentation</vt:lpstr>
      <vt:lpstr>PowerPoint Presentation</vt:lpstr>
      <vt:lpstr>1.11 THE BUSINESS CASE</vt:lpstr>
      <vt:lpstr>1.12 PROJECT SUCCESS AND FAILURE</vt:lpstr>
      <vt:lpstr>PowerPoint Presentation</vt:lpstr>
      <vt:lpstr>1.13 MANAGEMENT AND MANAGEMENT CONTROL</vt:lpstr>
      <vt:lpstr>PowerPoint Presentation</vt:lpstr>
      <vt:lpstr>PowerPoint Presentation</vt:lpstr>
      <vt:lpstr>PowerPoint Presentation</vt:lpstr>
      <vt:lpstr>PowerPoint Presentation</vt:lpstr>
      <vt:lpstr>MANAGEMENT CONTROL</vt:lpstr>
      <vt:lpstr>PowerPoint Presentation</vt:lpstr>
      <vt:lpstr>1.14 PROJECT MANAGEMENT LIFE CYCLE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Suprith DA CSE</dc:creator>
  <cp:lastModifiedBy>shivani T J</cp:lastModifiedBy>
  <cp:revision>65</cp:revision>
  <dcterms:created xsi:type="dcterms:W3CDTF">2026-05-12T11:35:02Z</dcterms:created>
  <dcterms:modified xsi:type="dcterms:W3CDTF">2026-05-30T04:44:02Z</dcterms:modified>
</cp:coreProperties>
</file>